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63" r:id="rId3"/>
  </p:sldMasterIdLst>
  <p:notesMasterIdLst>
    <p:notesMasterId r:id="rId37"/>
  </p:notesMasterIdLst>
  <p:sldIdLst>
    <p:sldId id="256" r:id="rId4"/>
    <p:sldId id="290" r:id="rId5"/>
    <p:sldId id="291" r:id="rId6"/>
    <p:sldId id="292" r:id="rId7"/>
    <p:sldId id="293" r:id="rId8"/>
    <p:sldId id="294" r:id="rId9"/>
    <p:sldId id="295" r:id="rId10"/>
    <p:sldId id="296" r:id="rId11"/>
    <p:sldId id="297" r:id="rId12"/>
    <p:sldId id="298" r:id="rId13"/>
    <p:sldId id="266" r:id="rId14"/>
    <p:sldId id="299" r:id="rId15"/>
    <p:sldId id="300" r:id="rId16"/>
    <p:sldId id="269" r:id="rId17"/>
    <p:sldId id="301" r:id="rId18"/>
    <p:sldId id="302" r:id="rId19"/>
    <p:sldId id="303" r:id="rId20"/>
    <p:sldId id="304" r:id="rId21"/>
    <p:sldId id="274" r:id="rId22"/>
    <p:sldId id="305" r:id="rId23"/>
    <p:sldId id="30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94F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660"/>
  </p:normalViewPr>
  <p:slideViewPr>
    <p:cSldViewPr snapToGrid="0">
      <p:cViewPr varScale="1">
        <p:scale>
          <a:sx n="96" d="100"/>
          <a:sy n="96" d="100"/>
        </p:scale>
        <p:origin x="82" y="1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viewProps" Target="viewProps.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D371F4-B49E-4375-B4EB-31B3EAF04CFE}" type="datetimeFigureOut">
              <a:rPr lang="zh-CN" altLang="en-US"/>
              <a:t>2024/5/14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6B9276-3D5B-46B9-8FB9-3C5C11460D11}" type="slidenum">
              <a:r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幻灯片图像占位符 1"/>
          <p:cNvSpPr>
            <a:spLocks noGrp="1" noRot="1" noChangeAspect="1"/>
          </p:cNvSpPr>
          <p:nvPr>
            <p:ph type="sldImg"/>
          </p:nvPr>
        </p:nvSpPr>
        <p:spPr/>
      </p:sp>
      <p:sp>
        <p:nvSpPr>
          <p:cNvPr id="35" name="备注占位符 2"/>
          <p:cNvSpPr>
            <a:spLocks noGrp="1"/>
          </p:cNvSpPr>
          <p:nvPr>
            <p:ph type="body" idx="1"/>
          </p:nvPr>
        </p:nvSpPr>
        <p:spPr/>
        <p:txBody>
          <a:bodyPr/>
          <a:lstStyle/>
          <a:p>
            <a:endParaRPr lang="zh-CN" altLang="en-US"/>
          </a:p>
        </p:txBody>
      </p:sp>
      <p:sp>
        <p:nvSpPr>
          <p:cNvPr id="36" name="灯片编号占位符 3"/>
          <p:cNvSpPr>
            <a:spLocks noGrp="1"/>
          </p:cNvSpPr>
          <p:nvPr>
            <p:ph type="sldNum" sz="quarter" idx="10"/>
          </p:nvPr>
        </p:nvSpPr>
        <p:spPr/>
        <p:txBody>
          <a:bodyPr/>
          <a:lstStyle/>
          <a:p>
            <a:fld id="{FD6B9276-3D5B-46B9-8FB9-3C5C11460D11}" type="slidenum">
              <a:r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6B9276-3D5B-46B9-8FB9-3C5C11460D1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5288423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6B9276-3D5B-46B9-8FB9-3C5C11460D1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4035037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6B9276-3D5B-46B9-8FB9-3C5C11460D1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527752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6B9276-3D5B-46B9-8FB9-3C5C11460D1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811889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6B9276-3D5B-46B9-8FB9-3C5C11460D1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61886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6B9276-3D5B-46B9-8FB9-3C5C11460D1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6123623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6B9276-3D5B-46B9-8FB9-3C5C11460D1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7032594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6B9276-3D5B-46B9-8FB9-3C5C11460D1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1051271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6B9276-3D5B-46B9-8FB9-3C5C11460D1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1642792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D6B9276-3D5B-46B9-8FB9-3C5C11460D11}" type="slidenum">
              <a:rPr/>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6B9276-3D5B-46B9-8FB9-3C5C11460D1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5480283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6B9276-3D5B-46B9-8FB9-3C5C11460D1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6947640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幻灯片图像占位符 1"/>
          <p:cNvSpPr>
            <a:spLocks noGrp="1" noRot="1" noChangeAspect="1"/>
          </p:cNvSpPr>
          <p:nvPr>
            <p:ph type="sldImg"/>
          </p:nvPr>
        </p:nvSpPr>
        <p:spPr/>
      </p:sp>
      <p:sp>
        <p:nvSpPr>
          <p:cNvPr id="15" name="备注占位符 2"/>
          <p:cNvSpPr>
            <a:spLocks noGrp="1"/>
          </p:cNvSpPr>
          <p:nvPr>
            <p:ph type="body" idx="1"/>
          </p:nvPr>
        </p:nvSpPr>
        <p:spPr/>
        <p:txBody>
          <a:bodyPr/>
          <a:lstStyle/>
          <a:p>
            <a:endParaRPr lang="zh-CN" altLang="en-US"/>
          </a:p>
        </p:txBody>
      </p:sp>
      <p:sp>
        <p:nvSpPr>
          <p:cNvPr id="16" name="灯片编号占位符 3"/>
          <p:cNvSpPr>
            <a:spLocks noGrp="1"/>
          </p:cNvSpPr>
          <p:nvPr>
            <p:ph type="sldNum" sz="quarter" idx="10"/>
          </p:nvPr>
        </p:nvSpPr>
        <p:spPr/>
        <p:txBody>
          <a:bodyPr/>
          <a:lstStyle/>
          <a:p>
            <a:fld id="{FD6B9276-3D5B-46B9-8FB9-3C5C11460D11}" type="slidenum">
              <a:rPr/>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6B9276-3D5B-46B9-8FB9-3C5C11460D1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8676393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6B9276-3D5B-46B9-8FB9-3C5C11460D1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5286690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6B9276-3D5B-46B9-8FB9-3C5C11460D1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5775399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6B9276-3D5B-46B9-8FB9-3C5C11460D1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3964494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幻灯片图像占位符 1"/>
          <p:cNvSpPr>
            <a:spLocks noGrp="1" noRot="1" noChangeAspect="1"/>
          </p:cNvSpPr>
          <p:nvPr>
            <p:ph type="sldImg"/>
          </p:nvPr>
        </p:nvSpPr>
        <p:spPr/>
      </p:sp>
      <p:sp>
        <p:nvSpPr>
          <p:cNvPr id="39" name="备注占位符 2"/>
          <p:cNvSpPr>
            <a:spLocks noGrp="1"/>
          </p:cNvSpPr>
          <p:nvPr>
            <p:ph type="body" idx="1"/>
          </p:nvPr>
        </p:nvSpPr>
        <p:spPr/>
        <p:txBody>
          <a:bodyPr/>
          <a:lstStyle/>
          <a:p>
            <a:endParaRPr lang="zh-CN" altLang="en-US"/>
          </a:p>
        </p:txBody>
      </p:sp>
      <p:sp>
        <p:nvSpPr>
          <p:cNvPr id="40" name="灯片编号占位符 3"/>
          <p:cNvSpPr>
            <a:spLocks noGrp="1"/>
          </p:cNvSpPr>
          <p:nvPr>
            <p:ph type="sldNum" sz="quarter" idx="10"/>
          </p:nvPr>
        </p:nvSpPr>
        <p:spPr/>
        <p:txBody>
          <a:bodyPr/>
          <a:lstStyle/>
          <a:p>
            <a:fld id="{FD6B9276-3D5B-46B9-8FB9-3C5C11460D11}" type="slidenum">
              <a:rPr/>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6B9276-3D5B-46B9-8FB9-3C5C11460D1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2588116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6B9276-3D5B-46B9-8FB9-3C5C11460D1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0909311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幻灯片图像占位符 1"/>
          <p:cNvSpPr>
            <a:spLocks noGrp="1" noRot="1" noChangeAspect="1"/>
          </p:cNvSpPr>
          <p:nvPr>
            <p:ph type="sldImg"/>
          </p:nvPr>
        </p:nvSpPr>
        <p:spPr/>
      </p:sp>
      <p:sp>
        <p:nvSpPr>
          <p:cNvPr id="51" name="备注占位符 2"/>
          <p:cNvSpPr>
            <a:spLocks noGrp="1"/>
          </p:cNvSpPr>
          <p:nvPr>
            <p:ph type="body" idx="1"/>
          </p:nvPr>
        </p:nvSpPr>
        <p:spPr/>
        <p:txBody>
          <a:bodyPr/>
          <a:lstStyle/>
          <a:p>
            <a:endParaRPr lang="zh-CN" altLang="en-US"/>
          </a:p>
        </p:txBody>
      </p:sp>
      <p:sp>
        <p:nvSpPr>
          <p:cNvPr id="52" name="灯片编号占位符 3"/>
          <p:cNvSpPr>
            <a:spLocks noGrp="1"/>
          </p:cNvSpPr>
          <p:nvPr>
            <p:ph type="sldNum" sz="quarter" idx="10"/>
          </p:nvPr>
        </p:nvSpPr>
        <p:spPr/>
        <p:txBody>
          <a:bodyPr/>
          <a:lstStyle/>
          <a:p>
            <a:fld id="{FD6B9276-3D5B-46B9-8FB9-3C5C11460D11}" type="slidenum">
              <a:rPr/>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幻灯片图像占位符 1"/>
          <p:cNvSpPr>
            <a:spLocks noGrp="1" noRot="1" noChangeAspect="1"/>
          </p:cNvSpPr>
          <p:nvPr>
            <p:ph type="sldImg"/>
          </p:nvPr>
        </p:nvSpPr>
        <p:spPr/>
      </p:sp>
      <p:sp>
        <p:nvSpPr>
          <p:cNvPr id="55" name="备注占位符 2"/>
          <p:cNvSpPr>
            <a:spLocks noGrp="1"/>
          </p:cNvSpPr>
          <p:nvPr>
            <p:ph type="body" idx="1"/>
          </p:nvPr>
        </p:nvSpPr>
        <p:spPr/>
        <p:txBody>
          <a:bodyPr/>
          <a:lstStyle/>
          <a:p>
            <a:endParaRPr lang="zh-CN" altLang="en-US"/>
          </a:p>
        </p:txBody>
      </p:sp>
      <p:sp>
        <p:nvSpPr>
          <p:cNvPr id="56" name="灯片编号占位符 3"/>
          <p:cNvSpPr>
            <a:spLocks noGrp="1"/>
          </p:cNvSpPr>
          <p:nvPr>
            <p:ph type="sldNum" sz="quarter" idx="10"/>
          </p:nvPr>
        </p:nvSpPr>
        <p:spPr/>
        <p:txBody>
          <a:bodyPr/>
          <a:lstStyle/>
          <a:p>
            <a:fld id="{FD6B9276-3D5B-46B9-8FB9-3C5C11460D11}" type="slidenum">
              <a:rPr/>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幻灯片图像占位符 1"/>
          <p:cNvSpPr>
            <a:spLocks noGrp="1" noRot="1" noChangeAspect="1"/>
          </p:cNvSpPr>
          <p:nvPr>
            <p:ph type="sldImg"/>
          </p:nvPr>
        </p:nvSpPr>
        <p:spPr/>
      </p:sp>
      <p:sp>
        <p:nvSpPr>
          <p:cNvPr id="59" name="备注占位符 2"/>
          <p:cNvSpPr>
            <a:spLocks noGrp="1"/>
          </p:cNvSpPr>
          <p:nvPr>
            <p:ph type="body" idx="1"/>
          </p:nvPr>
        </p:nvSpPr>
        <p:spPr/>
        <p:txBody>
          <a:bodyPr/>
          <a:lstStyle/>
          <a:p>
            <a:endParaRPr lang="zh-CN" altLang="en-US"/>
          </a:p>
        </p:txBody>
      </p:sp>
      <p:sp>
        <p:nvSpPr>
          <p:cNvPr id="60" name="灯片编号占位符 3"/>
          <p:cNvSpPr>
            <a:spLocks noGrp="1"/>
          </p:cNvSpPr>
          <p:nvPr>
            <p:ph type="sldNum" sz="quarter" idx="10"/>
          </p:nvPr>
        </p:nvSpPr>
        <p:spPr/>
        <p:txBody>
          <a:bodyPr/>
          <a:lstStyle/>
          <a:p>
            <a:fld id="{FD6B9276-3D5B-46B9-8FB9-3C5C11460D11}" type="slidenum">
              <a:rPr/>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幻灯片图像占位符 1"/>
          <p:cNvSpPr>
            <a:spLocks noGrp="1" noRot="1" noChangeAspect="1"/>
          </p:cNvSpPr>
          <p:nvPr>
            <p:ph type="sldImg"/>
          </p:nvPr>
        </p:nvSpPr>
        <p:spPr/>
      </p:sp>
      <p:sp>
        <p:nvSpPr>
          <p:cNvPr id="63" name="备注占位符 2"/>
          <p:cNvSpPr>
            <a:spLocks noGrp="1"/>
          </p:cNvSpPr>
          <p:nvPr>
            <p:ph type="body" idx="1"/>
          </p:nvPr>
        </p:nvSpPr>
        <p:spPr/>
        <p:txBody>
          <a:bodyPr/>
          <a:lstStyle/>
          <a:p>
            <a:endParaRPr lang="zh-CN" altLang="en-US"/>
          </a:p>
        </p:txBody>
      </p:sp>
      <p:sp>
        <p:nvSpPr>
          <p:cNvPr id="64" name="灯片编号占位符 3"/>
          <p:cNvSpPr>
            <a:spLocks noGrp="1"/>
          </p:cNvSpPr>
          <p:nvPr>
            <p:ph type="sldNum" sz="quarter" idx="10"/>
          </p:nvPr>
        </p:nvSpPr>
        <p:spPr/>
        <p:txBody>
          <a:bodyPr/>
          <a:lstStyle/>
          <a:p>
            <a:fld id="{FD6B9276-3D5B-46B9-8FB9-3C5C11460D11}" type="slidenum">
              <a:rPr/>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幻灯片图像占位符 1"/>
          <p:cNvSpPr>
            <a:spLocks noGrp="1" noRot="1" noChangeAspect="1"/>
          </p:cNvSpPr>
          <p:nvPr>
            <p:ph type="sldImg"/>
          </p:nvPr>
        </p:nvSpPr>
        <p:spPr/>
      </p:sp>
      <p:sp>
        <p:nvSpPr>
          <p:cNvPr id="67" name="备注占位符 2"/>
          <p:cNvSpPr>
            <a:spLocks noGrp="1"/>
          </p:cNvSpPr>
          <p:nvPr>
            <p:ph type="body" idx="1"/>
          </p:nvPr>
        </p:nvSpPr>
        <p:spPr/>
        <p:txBody>
          <a:bodyPr/>
          <a:lstStyle/>
          <a:p>
            <a:endParaRPr lang="zh-CN" altLang="en-US"/>
          </a:p>
        </p:txBody>
      </p:sp>
      <p:sp>
        <p:nvSpPr>
          <p:cNvPr id="68" name="灯片编号占位符 3"/>
          <p:cNvSpPr>
            <a:spLocks noGrp="1"/>
          </p:cNvSpPr>
          <p:nvPr>
            <p:ph type="sldNum" sz="quarter" idx="10"/>
          </p:nvPr>
        </p:nvSpPr>
        <p:spPr/>
        <p:txBody>
          <a:bodyPr/>
          <a:lstStyle/>
          <a:p>
            <a:fld id="{FD6B9276-3D5B-46B9-8FB9-3C5C11460D11}" type="slidenum">
              <a:rPr/>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幻灯片图像占位符 1"/>
          <p:cNvSpPr>
            <a:spLocks noGrp="1" noRot="1" noChangeAspect="1"/>
          </p:cNvSpPr>
          <p:nvPr>
            <p:ph type="sldImg"/>
          </p:nvPr>
        </p:nvSpPr>
        <p:spPr/>
      </p:sp>
      <p:sp>
        <p:nvSpPr>
          <p:cNvPr id="71" name="备注占位符 2"/>
          <p:cNvSpPr>
            <a:spLocks noGrp="1"/>
          </p:cNvSpPr>
          <p:nvPr>
            <p:ph type="body" idx="1"/>
          </p:nvPr>
        </p:nvSpPr>
        <p:spPr/>
        <p:txBody>
          <a:bodyPr/>
          <a:lstStyle/>
          <a:p>
            <a:endParaRPr lang="zh-CN" altLang="en-US"/>
          </a:p>
        </p:txBody>
      </p:sp>
      <p:sp>
        <p:nvSpPr>
          <p:cNvPr id="72" name="灯片编号占位符 3"/>
          <p:cNvSpPr>
            <a:spLocks noGrp="1"/>
          </p:cNvSpPr>
          <p:nvPr>
            <p:ph type="sldNum" sz="quarter" idx="10"/>
          </p:nvPr>
        </p:nvSpPr>
        <p:spPr/>
        <p:txBody>
          <a:bodyPr/>
          <a:lstStyle/>
          <a:p>
            <a:fld id="{FD6B9276-3D5B-46B9-8FB9-3C5C11460D11}" type="slidenum">
              <a:rPr/>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幻灯片图像占位符 1"/>
          <p:cNvSpPr>
            <a:spLocks noGrp="1" noRot="1" noChangeAspect="1"/>
          </p:cNvSpPr>
          <p:nvPr>
            <p:ph type="sldImg"/>
          </p:nvPr>
        </p:nvSpPr>
        <p:spPr/>
      </p:sp>
      <p:sp>
        <p:nvSpPr>
          <p:cNvPr id="75" name="备注占位符 2"/>
          <p:cNvSpPr>
            <a:spLocks noGrp="1"/>
          </p:cNvSpPr>
          <p:nvPr>
            <p:ph type="body" idx="1"/>
          </p:nvPr>
        </p:nvSpPr>
        <p:spPr/>
        <p:txBody>
          <a:bodyPr/>
          <a:lstStyle/>
          <a:p>
            <a:endParaRPr lang="zh-CN" altLang="en-US"/>
          </a:p>
        </p:txBody>
      </p:sp>
      <p:sp>
        <p:nvSpPr>
          <p:cNvPr id="76" name="灯片编号占位符 3"/>
          <p:cNvSpPr>
            <a:spLocks noGrp="1"/>
          </p:cNvSpPr>
          <p:nvPr>
            <p:ph type="sldNum" sz="quarter" idx="10"/>
          </p:nvPr>
        </p:nvSpPr>
        <p:spPr/>
        <p:txBody>
          <a:bodyPr/>
          <a:lstStyle/>
          <a:p>
            <a:fld id="{FD6B9276-3D5B-46B9-8FB9-3C5C11460D11}" type="slidenum">
              <a:rPr/>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图像占位符 1"/>
          <p:cNvSpPr>
            <a:spLocks noGrp="1" noRot="1" noChangeAspect="1"/>
          </p:cNvSpPr>
          <p:nvPr>
            <p:ph type="sldImg"/>
          </p:nvPr>
        </p:nvSpPr>
        <p:spPr/>
      </p:sp>
      <p:sp>
        <p:nvSpPr>
          <p:cNvPr id="83" name="备注占位符 2"/>
          <p:cNvSpPr>
            <a:spLocks noGrp="1"/>
          </p:cNvSpPr>
          <p:nvPr>
            <p:ph type="body" idx="1"/>
          </p:nvPr>
        </p:nvSpPr>
        <p:spPr/>
        <p:txBody>
          <a:bodyPr/>
          <a:lstStyle/>
          <a:p>
            <a:endParaRPr lang="zh-CN" altLang="en-US"/>
          </a:p>
        </p:txBody>
      </p:sp>
      <p:sp>
        <p:nvSpPr>
          <p:cNvPr id="84" name="灯片编号占位符 3"/>
          <p:cNvSpPr>
            <a:spLocks noGrp="1"/>
          </p:cNvSpPr>
          <p:nvPr>
            <p:ph type="sldNum" sz="quarter" idx="10"/>
          </p:nvPr>
        </p:nvSpPr>
        <p:spPr/>
        <p:txBody>
          <a:bodyPr/>
          <a:lstStyle/>
          <a:p>
            <a:fld id="{FD6B9276-3D5B-46B9-8FB9-3C5C11460D11}" type="slidenum">
              <a:rPr/>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幻灯片图像占位符 1"/>
          <p:cNvSpPr>
            <a:spLocks noGrp="1" noRot="1" noChangeAspect="1"/>
          </p:cNvSpPr>
          <p:nvPr>
            <p:ph type="sldImg"/>
          </p:nvPr>
        </p:nvSpPr>
        <p:spPr/>
      </p:sp>
      <p:sp>
        <p:nvSpPr>
          <p:cNvPr id="87" name="备注占位符 2"/>
          <p:cNvSpPr>
            <a:spLocks noGrp="1"/>
          </p:cNvSpPr>
          <p:nvPr>
            <p:ph type="body" idx="1"/>
          </p:nvPr>
        </p:nvSpPr>
        <p:spPr/>
        <p:txBody>
          <a:bodyPr/>
          <a:lstStyle/>
          <a:p>
            <a:endParaRPr lang="zh-CN" altLang="en-US"/>
          </a:p>
        </p:txBody>
      </p:sp>
      <p:sp>
        <p:nvSpPr>
          <p:cNvPr id="88" name="灯片编号占位符 3"/>
          <p:cNvSpPr>
            <a:spLocks noGrp="1"/>
          </p:cNvSpPr>
          <p:nvPr>
            <p:ph type="sldNum" sz="quarter" idx="10"/>
          </p:nvPr>
        </p:nvSpPr>
        <p:spPr/>
        <p:txBody>
          <a:bodyPr/>
          <a:lstStyle/>
          <a:p>
            <a:fld id="{FD6B9276-3D5B-46B9-8FB9-3C5C11460D11}" type="slidenum">
              <a:rPr/>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幻灯片图像占位符 1"/>
          <p:cNvSpPr>
            <a:spLocks noGrp="1" noRot="1" noChangeAspect="1"/>
          </p:cNvSpPr>
          <p:nvPr>
            <p:ph type="sldImg"/>
          </p:nvPr>
        </p:nvSpPr>
        <p:spPr/>
      </p:sp>
      <p:sp>
        <p:nvSpPr>
          <p:cNvPr id="91" name="备注占位符 2"/>
          <p:cNvSpPr>
            <a:spLocks noGrp="1"/>
          </p:cNvSpPr>
          <p:nvPr>
            <p:ph type="body" idx="1"/>
          </p:nvPr>
        </p:nvSpPr>
        <p:spPr/>
        <p:txBody>
          <a:bodyPr/>
          <a:lstStyle/>
          <a:p>
            <a:endParaRPr lang="zh-CN" altLang="en-US"/>
          </a:p>
        </p:txBody>
      </p:sp>
      <p:sp>
        <p:nvSpPr>
          <p:cNvPr id="92" name="灯片编号占位符 3"/>
          <p:cNvSpPr>
            <a:spLocks noGrp="1"/>
          </p:cNvSpPr>
          <p:nvPr>
            <p:ph type="sldNum" sz="quarter" idx="10"/>
          </p:nvPr>
        </p:nvSpPr>
        <p:spPr/>
        <p:txBody>
          <a:bodyPr/>
          <a:lstStyle/>
          <a:p>
            <a:fld id="{FD6B9276-3D5B-46B9-8FB9-3C5C11460D11}" type="slidenum">
              <a:rPr/>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幻灯片图像占位符 1"/>
          <p:cNvSpPr>
            <a:spLocks noGrp="1" noRot="1" noChangeAspect="1"/>
          </p:cNvSpPr>
          <p:nvPr>
            <p:ph type="sldImg"/>
          </p:nvPr>
        </p:nvSpPr>
        <p:spPr/>
      </p:sp>
      <p:sp>
        <p:nvSpPr>
          <p:cNvPr id="95" name="备注占位符 2"/>
          <p:cNvSpPr>
            <a:spLocks noGrp="1"/>
          </p:cNvSpPr>
          <p:nvPr>
            <p:ph type="body" idx="1"/>
          </p:nvPr>
        </p:nvSpPr>
        <p:spPr/>
        <p:txBody>
          <a:bodyPr/>
          <a:lstStyle/>
          <a:p>
            <a:endParaRPr lang="zh-CN" altLang="en-US"/>
          </a:p>
        </p:txBody>
      </p:sp>
      <p:sp>
        <p:nvSpPr>
          <p:cNvPr id="96" name="灯片编号占位符 3"/>
          <p:cNvSpPr>
            <a:spLocks noGrp="1"/>
          </p:cNvSpPr>
          <p:nvPr>
            <p:ph type="sldNum" sz="quarter" idx="10"/>
          </p:nvPr>
        </p:nvSpPr>
        <p:spPr/>
        <p:txBody>
          <a:bodyPr/>
          <a:lstStyle/>
          <a:p>
            <a:fld id="{FD6B9276-3D5B-46B9-8FB9-3C5C11460D11}" type="slidenum">
              <a:rPr/>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幻灯片图像占位符 1"/>
          <p:cNvSpPr>
            <a:spLocks noGrp="1" noRot="1" noChangeAspect="1"/>
          </p:cNvSpPr>
          <p:nvPr>
            <p:ph type="sldImg"/>
          </p:nvPr>
        </p:nvSpPr>
        <p:spPr/>
      </p:sp>
      <p:sp>
        <p:nvSpPr>
          <p:cNvPr id="99" name="备注占位符 2"/>
          <p:cNvSpPr>
            <a:spLocks noGrp="1"/>
          </p:cNvSpPr>
          <p:nvPr>
            <p:ph type="body" idx="1"/>
          </p:nvPr>
        </p:nvSpPr>
        <p:spPr/>
        <p:txBody>
          <a:bodyPr/>
          <a:lstStyle/>
          <a:p>
            <a:endParaRPr lang="zh-CN" altLang="en-US"/>
          </a:p>
        </p:txBody>
      </p:sp>
      <p:sp>
        <p:nvSpPr>
          <p:cNvPr id="100" name="灯片编号占位符 3"/>
          <p:cNvSpPr>
            <a:spLocks noGrp="1"/>
          </p:cNvSpPr>
          <p:nvPr>
            <p:ph type="sldNum" sz="quarter" idx="10"/>
          </p:nvPr>
        </p:nvSpPr>
        <p:spPr/>
        <p:txBody>
          <a:bodyPr/>
          <a:lstStyle/>
          <a:p>
            <a:fld id="{FD6B9276-3D5B-46B9-8FB9-3C5C11460D11}" type="slidenum">
              <a:rPr/>
              <a:t>33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pic>
        <p:nvPicPr>
          <p:cNvPr id="2" name="图片 6"/>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4" name="标题 1"/>
          <p:cNvSpPr>
            <a:spLocks noGrp="1"/>
          </p:cNvSpPr>
          <p:nvPr>
            <p:ph type="title"/>
          </p:nvPr>
        </p:nvSpPr>
        <p:spPr/>
        <p:txBody>
          <a:bodyPr/>
          <a:lstStyle/>
          <a:p>
            <a:r>
              <a:rPr lang="zh-CN" altLang="en-US"/>
              <a:t>单击此处编辑母版标题样式</a:t>
            </a:r>
            <a:endParaRPr/>
          </a:p>
        </p:txBody>
      </p:sp>
      <p:sp>
        <p:nvSpPr>
          <p:cNvPr id="5" name="内容占位符 2"/>
          <p:cNvSpPr>
            <a:spLocks noGrp="1"/>
          </p:cNvSpPr>
          <p:nvPr>
            <p:ph idx="1"/>
          </p:nvPr>
        </p:nvSpPr>
        <p:spPr/>
        <p:txBody>
          <a:bodyPr/>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6" name="日期占位符 3"/>
          <p:cNvSpPr>
            <a:spLocks noGrp="1"/>
          </p:cNvSpPr>
          <p:nvPr>
            <p:ph type="dt" sz="half" idx="10"/>
          </p:nvPr>
        </p:nvSpPr>
        <p:spPr/>
        <p:txBody>
          <a:bodyPr/>
          <a:lstStyle/>
          <a:p>
            <a:fld id="{C944953B-A6FC-4252-9D65-5D435A04F887}" type="datetimeFigureOut">
              <a:rPr lang="zh-CN" altLang="en-US"/>
              <a:t>2024/5/14</a:t>
            </a:fld>
            <a:endParaRPr lang="zh-CN" altLang="en-US"/>
          </a:p>
        </p:txBody>
      </p:sp>
      <p:sp>
        <p:nvSpPr>
          <p:cNvPr id="7" name="页脚占位符 4"/>
          <p:cNvSpPr>
            <a:spLocks noGrp="1"/>
          </p:cNvSpPr>
          <p:nvPr>
            <p:ph type="ftr" sz="quarter" idx="11"/>
          </p:nvPr>
        </p:nvSpPr>
        <p:spPr/>
        <p:txBody>
          <a:bodyPr/>
          <a:lstStyle/>
          <a:p>
            <a:endParaRPr lang="zh-CN" altLang="en-US"/>
          </a:p>
        </p:txBody>
      </p:sp>
      <p:sp>
        <p:nvSpPr>
          <p:cNvPr id="8" name="灯片编号占位符 5"/>
          <p:cNvSpPr>
            <a:spLocks noGrp="1"/>
          </p:cNvSpPr>
          <p:nvPr>
            <p:ph type="sldNum" sz="quarter" idx="12"/>
          </p:nvPr>
        </p:nvSpPr>
        <p:spPr/>
        <p:txBody>
          <a:bodyPr/>
          <a:lstStyle/>
          <a:p>
            <a:fld id="{5A21AFEC-E1CC-4854-BB4C-25D74493A892}" type="slidenum">
              <a:r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节标题">
    <p:spTree>
      <p:nvGrpSpPr>
        <p:cNvPr id="1" name=""/>
        <p:cNvGrpSpPr/>
        <p:nvPr/>
      </p:nvGrpSpPr>
      <p:grpSpPr>
        <a:xfrm>
          <a:off x="0" y="0"/>
          <a:ext cx="0" cy="0"/>
          <a:chOff x="0" y="0"/>
          <a:chExt cx="0" cy="0"/>
        </a:xfrm>
      </p:grpSpPr>
      <p:sp>
        <p:nvSpPr>
          <p:cNvPr id="18"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a:p>
        </p:txBody>
      </p:sp>
      <p:sp>
        <p:nvSpPr>
          <p:cNvPr id="19"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a:p>
        </p:txBody>
      </p:sp>
      <p:sp>
        <p:nvSpPr>
          <p:cNvPr id="20" name="日期占位符 3"/>
          <p:cNvSpPr>
            <a:spLocks noGrp="1"/>
          </p:cNvSpPr>
          <p:nvPr>
            <p:ph type="dt" sz="half" idx="10"/>
          </p:nvPr>
        </p:nvSpPr>
        <p:spPr/>
        <p:txBody>
          <a:bodyPr/>
          <a:lstStyle/>
          <a:p>
            <a:fld id="{C944953B-A6FC-4252-9D65-5D435A04F887}" type="datetimeFigureOut">
              <a:rPr lang="zh-CN" altLang="en-US"/>
              <a:t>2024/5/14</a:t>
            </a:fld>
            <a:endParaRPr lang="zh-CN" altLang="en-US"/>
          </a:p>
        </p:txBody>
      </p:sp>
      <p:sp>
        <p:nvSpPr>
          <p:cNvPr id="21" name="页脚占位符 4"/>
          <p:cNvSpPr>
            <a:spLocks noGrp="1"/>
          </p:cNvSpPr>
          <p:nvPr>
            <p:ph type="ftr" sz="quarter" idx="11"/>
          </p:nvPr>
        </p:nvSpPr>
        <p:spPr/>
        <p:txBody>
          <a:bodyPr/>
          <a:lstStyle/>
          <a:p>
            <a:endParaRPr lang="zh-CN" altLang="en-US"/>
          </a:p>
        </p:txBody>
      </p:sp>
      <p:sp>
        <p:nvSpPr>
          <p:cNvPr id="22" name="灯片编号占位符 5"/>
          <p:cNvSpPr>
            <a:spLocks noGrp="1"/>
          </p:cNvSpPr>
          <p:nvPr>
            <p:ph type="sldNum" sz="quarter" idx="12"/>
          </p:nvPr>
        </p:nvSpPr>
        <p:spPr/>
        <p:txBody>
          <a:bodyPr/>
          <a:lstStyle/>
          <a:p>
            <a:fld id="{5A21AFEC-E1CC-4854-BB4C-25D74493A892}" type="slidenum">
              <a:r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4" name="标题 1"/>
          <p:cNvSpPr>
            <a:spLocks noGrp="1"/>
          </p:cNvSpPr>
          <p:nvPr>
            <p:ph type="title"/>
          </p:nvPr>
        </p:nvSpPr>
        <p:spPr/>
        <p:txBody>
          <a:bodyPr/>
          <a:lstStyle/>
          <a:p>
            <a:r>
              <a:rPr lang="zh-CN" altLang="en-US"/>
              <a:t>单击此处编辑母版标题样式</a:t>
            </a:r>
            <a:endParaRPr/>
          </a:p>
        </p:txBody>
      </p:sp>
      <p:sp>
        <p:nvSpPr>
          <p:cNvPr id="25"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26"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27" name="日期占位符 4"/>
          <p:cNvSpPr>
            <a:spLocks noGrp="1"/>
          </p:cNvSpPr>
          <p:nvPr>
            <p:ph type="dt" sz="half" idx="10"/>
          </p:nvPr>
        </p:nvSpPr>
        <p:spPr/>
        <p:txBody>
          <a:bodyPr/>
          <a:lstStyle/>
          <a:p>
            <a:fld id="{C944953B-A6FC-4252-9D65-5D435A04F887}" type="datetimeFigureOut">
              <a:rPr lang="zh-CN" altLang="en-US"/>
              <a:t>2024/5/14</a:t>
            </a:fld>
            <a:endParaRPr lang="zh-CN" altLang="en-US"/>
          </a:p>
        </p:txBody>
      </p:sp>
      <p:sp>
        <p:nvSpPr>
          <p:cNvPr id="28" name="页脚占位符 5"/>
          <p:cNvSpPr>
            <a:spLocks noGrp="1"/>
          </p:cNvSpPr>
          <p:nvPr>
            <p:ph type="ftr" sz="quarter" idx="11"/>
          </p:nvPr>
        </p:nvSpPr>
        <p:spPr/>
        <p:txBody>
          <a:bodyPr/>
          <a:lstStyle/>
          <a:p>
            <a:endParaRPr lang="zh-CN" altLang="en-US"/>
          </a:p>
        </p:txBody>
      </p:sp>
      <p:sp>
        <p:nvSpPr>
          <p:cNvPr id="29" name="灯片编号占位符 6"/>
          <p:cNvSpPr>
            <a:spLocks noGrp="1"/>
          </p:cNvSpPr>
          <p:nvPr>
            <p:ph type="sldNum" sz="quarter" idx="12"/>
          </p:nvPr>
        </p:nvSpPr>
        <p:spPr/>
        <p:txBody>
          <a:bodyPr/>
          <a:lstStyle/>
          <a:p>
            <a:fld id="{5A21AFEC-E1CC-4854-BB4C-25D74493A892}" type="slidenum">
              <a:r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比较">
    <p:spTree>
      <p:nvGrpSpPr>
        <p:cNvPr id="1" name=""/>
        <p:cNvGrpSpPr/>
        <p:nvPr/>
      </p:nvGrpSpPr>
      <p:grpSpPr>
        <a:xfrm>
          <a:off x="0" y="0"/>
          <a:ext cx="0" cy="0"/>
          <a:chOff x="0" y="0"/>
          <a:chExt cx="0" cy="0"/>
        </a:xfrm>
      </p:grpSpPr>
      <p:sp>
        <p:nvSpPr>
          <p:cNvPr id="31" name="标题 1"/>
          <p:cNvSpPr>
            <a:spLocks noGrp="1"/>
          </p:cNvSpPr>
          <p:nvPr>
            <p:ph type="title"/>
          </p:nvPr>
        </p:nvSpPr>
        <p:spPr>
          <a:xfrm>
            <a:off x="839788" y="365125"/>
            <a:ext cx="10515600" cy="1325563"/>
          </a:xfrm>
        </p:spPr>
        <p:txBody>
          <a:bodyPr/>
          <a:lstStyle/>
          <a:p>
            <a:r>
              <a:rPr lang="zh-CN" altLang="en-US"/>
              <a:t>单击此处编辑母版标题样式</a:t>
            </a:r>
            <a:endParaRPr/>
          </a:p>
        </p:txBody>
      </p:sp>
      <p:sp>
        <p:nvSpPr>
          <p:cNvPr id="32"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a:p>
        </p:txBody>
      </p:sp>
      <p:sp>
        <p:nvSpPr>
          <p:cNvPr id="33"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34"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a:p>
        </p:txBody>
      </p:sp>
      <p:sp>
        <p:nvSpPr>
          <p:cNvPr id="35"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36" name="日期占位符 6"/>
          <p:cNvSpPr>
            <a:spLocks noGrp="1"/>
          </p:cNvSpPr>
          <p:nvPr>
            <p:ph type="dt" sz="half" idx="10"/>
          </p:nvPr>
        </p:nvSpPr>
        <p:spPr/>
        <p:txBody>
          <a:bodyPr/>
          <a:lstStyle/>
          <a:p>
            <a:fld id="{C944953B-A6FC-4252-9D65-5D435A04F887}" type="datetimeFigureOut">
              <a:rPr lang="zh-CN" altLang="en-US"/>
              <a:t>2024/5/14</a:t>
            </a:fld>
            <a:endParaRPr lang="zh-CN" altLang="en-US"/>
          </a:p>
        </p:txBody>
      </p:sp>
      <p:sp>
        <p:nvSpPr>
          <p:cNvPr id="37" name="页脚占位符 7"/>
          <p:cNvSpPr>
            <a:spLocks noGrp="1"/>
          </p:cNvSpPr>
          <p:nvPr>
            <p:ph type="ftr" sz="quarter" idx="11"/>
          </p:nvPr>
        </p:nvSpPr>
        <p:spPr/>
        <p:txBody>
          <a:bodyPr/>
          <a:lstStyle/>
          <a:p>
            <a:endParaRPr lang="zh-CN" altLang="en-US"/>
          </a:p>
        </p:txBody>
      </p:sp>
      <p:sp>
        <p:nvSpPr>
          <p:cNvPr id="38" name="灯片编号占位符 8"/>
          <p:cNvSpPr>
            <a:spLocks noGrp="1"/>
          </p:cNvSpPr>
          <p:nvPr>
            <p:ph type="sldNum" sz="quarter" idx="12"/>
          </p:nvPr>
        </p:nvSpPr>
        <p:spPr/>
        <p:txBody>
          <a:bodyPr/>
          <a:lstStyle/>
          <a:p>
            <a:fld id="{5A21AFEC-E1CC-4854-BB4C-25D74493A892}" type="slidenum">
              <a:r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40" name="标题 1"/>
          <p:cNvSpPr>
            <a:spLocks noGrp="1"/>
          </p:cNvSpPr>
          <p:nvPr>
            <p:ph type="title"/>
          </p:nvPr>
        </p:nvSpPr>
        <p:spPr/>
        <p:txBody>
          <a:bodyPr/>
          <a:lstStyle/>
          <a:p>
            <a:r>
              <a:rPr lang="zh-CN" altLang="en-US"/>
              <a:t>单击此处编辑母版标题样式</a:t>
            </a:r>
            <a:endParaRPr/>
          </a:p>
        </p:txBody>
      </p:sp>
      <p:sp>
        <p:nvSpPr>
          <p:cNvPr id="41" name="日期占位符 2"/>
          <p:cNvSpPr>
            <a:spLocks noGrp="1"/>
          </p:cNvSpPr>
          <p:nvPr>
            <p:ph type="dt" sz="half" idx="10"/>
          </p:nvPr>
        </p:nvSpPr>
        <p:spPr/>
        <p:txBody>
          <a:bodyPr/>
          <a:lstStyle/>
          <a:p>
            <a:fld id="{C944953B-A6FC-4252-9D65-5D435A04F887}" type="datetimeFigureOut">
              <a:rPr lang="zh-CN" altLang="en-US"/>
              <a:t>2024/5/14</a:t>
            </a:fld>
            <a:endParaRPr lang="zh-CN" altLang="en-US"/>
          </a:p>
        </p:txBody>
      </p:sp>
      <p:sp>
        <p:nvSpPr>
          <p:cNvPr id="42" name="页脚占位符 3"/>
          <p:cNvSpPr>
            <a:spLocks noGrp="1"/>
          </p:cNvSpPr>
          <p:nvPr>
            <p:ph type="ftr" sz="quarter" idx="11"/>
          </p:nvPr>
        </p:nvSpPr>
        <p:spPr/>
        <p:txBody>
          <a:bodyPr/>
          <a:lstStyle/>
          <a:p>
            <a:endParaRPr lang="zh-CN" altLang="en-US"/>
          </a:p>
        </p:txBody>
      </p:sp>
      <p:sp>
        <p:nvSpPr>
          <p:cNvPr id="43" name="灯片编号占位符 4"/>
          <p:cNvSpPr>
            <a:spLocks noGrp="1"/>
          </p:cNvSpPr>
          <p:nvPr>
            <p:ph type="sldNum" sz="quarter" idx="12"/>
          </p:nvPr>
        </p:nvSpPr>
        <p:spPr/>
        <p:txBody>
          <a:bodyPr/>
          <a:lstStyle/>
          <a:p>
            <a:fld id="{5A21AFEC-E1CC-4854-BB4C-25D74493A892}" type="slidenum">
              <a:r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45" name="日期占位符 1"/>
          <p:cNvSpPr>
            <a:spLocks noGrp="1"/>
          </p:cNvSpPr>
          <p:nvPr>
            <p:ph type="dt" sz="half" idx="10"/>
          </p:nvPr>
        </p:nvSpPr>
        <p:spPr/>
        <p:txBody>
          <a:bodyPr/>
          <a:lstStyle/>
          <a:p>
            <a:fld id="{C944953B-A6FC-4252-9D65-5D435A04F887}" type="datetimeFigureOut">
              <a:rPr lang="zh-CN" altLang="en-US"/>
              <a:t>2024/5/14</a:t>
            </a:fld>
            <a:endParaRPr lang="zh-CN" altLang="en-US"/>
          </a:p>
        </p:txBody>
      </p:sp>
      <p:sp>
        <p:nvSpPr>
          <p:cNvPr id="46" name="页脚占位符 2"/>
          <p:cNvSpPr>
            <a:spLocks noGrp="1"/>
          </p:cNvSpPr>
          <p:nvPr>
            <p:ph type="ftr" sz="quarter" idx="11"/>
          </p:nvPr>
        </p:nvSpPr>
        <p:spPr/>
        <p:txBody>
          <a:bodyPr/>
          <a:lstStyle/>
          <a:p>
            <a:endParaRPr lang="zh-CN" altLang="en-US"/>
          </a:p>
        </p:txBody>
      </p:sp>
      <p:sp>
        <p:nvSpPr>
          <p:cNvPr id="47" name="灯片编号占位符 3"/>
          <p:cNvSpPr>
            <a:spLocks noGrp="1"/>
          </p:cNvSpPr>
          <p:nvPr>
            <p:ph type="sldNum" sz="quarter" idx="12"/>
          </p:nvPr>
        </p:nvSpPr>
        <p:spPr/>
        <p:txBody>
          <a:bodyPr/>
          <a:lstStyle/>
          <a:p>
            <a:fld id="{5A21AFEC-E1CC-4854-BB4C-25D74493A892}" type="slidenum">
              <a:r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内容与标题">
    <p:spTree>
      <p:nvGrpSpPr>
        <p:cNvPr id="1" name=""/>
        <p:cNvGrpSpPr/>
        <p:nvPr/>
      </p:nvGrpSpPr>
      <p:grpSpPr>
        <a:xfrm>
          <a:off x="0" y="0"/>
          <a:ext cx="0" cy="0"/>
          <a:chOff x="0" y="0"/>
          <a:chExt cx="0" cy="0"/>
        </a:xfrm>
      </p:grpSpPr>
      <p:sp>
        <p:nvSpPr>
          <p:cNvPr id="49"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a:p>
        </p:txBody>
      </p:sp>
      <p:sp>
        <p:nvSpPr>
          <p:cNvPr id="50"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51"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a:p>
        </p:txBody>
      </p:sp>
      <p:sp>
        <p:nvSpPr>
          <p:cNvPr id="52" name="日期占位符 4"/>
          <p:cNvSpPr>
            <a:spLocks noGrp="1"/>
          </p:cNvSpPr>
          <p:nvPr>
            <p:ph type="dt" sz="half" idx="10"/>
          </p:nvPr>
        </p:nvSpPr>
        <p:spPr/>
        <p:txBody>
          <a:bodyPr/>
          <a:lstStyle/>
          <a:p>
            <a:fld id="{C944953B-A6FC-4252-9D65-5D435A04F887}" type="datetimeFigureOut">
              <a:rPr lang="zh-CN" altLang="en-US"/>
              <a:t>2024/5/14</a:t>
            </a:fld>
            <a:endParaRPr lang="zh-CN" altLang="en-US"/>
          </a:p>
        </p:txBody>
      </p:sp>
      <p:sp>
        <p:nvSpPr>
          <p:cNvPr id="53" name="页脚占位符 5"/>
          <p:cNvSpPr>
            <a:spLocks noGrp="1"/>
          </p:cNvSpPr>
          <p:nvPr>
            <p:ph type="ftr" sz="quarter" idx="11"/>
          </p:nvPr>
        </p:nvSpPr>
        <p:spPr/>
        <p:txBody>
          <a:bodyPr/>
          <a:lstStyle/>
          <a:p>
            <a:endParaRPr lang="zh-CN" altLang="en-US"/>
          </a:p>
        </p:txBody>
      </p:sp>
      <p:sp>
        <p:nvSpPr>
          <p:cNvPr id="54" name="灯片编号占位符 6"/>
          <p:cNvSpPr>
            <a:spLocks noGrp="1"/>
          </p:cNvSpPr>
          <p:nvPr>
            <p:ph type="sldNum" sz="quarter" idx="12"/>
          </p:nvPr>
        </p:nvSpPr>
        <p:spPr/>
        <p:txBody>
          <a:bodyPr/>
          <a:lstStyle/>
          <a:p>
            <a:fld id="{5A21AFEC-E1CC-4854-BB4C-25D74493A892}" type="slidenum">
              <a:r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图片与标题">
    <p:spTree>
      <p:nvGrpSpPr>
        <p:cNvPr id="1" name=""/>
        <p:cNvGrpSpPr/>
        <p:nvPr/>
      </p:nvGrpSpPr>
      <p:grpSpPr>
        <a:xfrm>
          <a:off x="0" y="0"/>
          <a:ext cx="0" cy="0"/>
          <a:chOff x="0" y="0"/>
          <a:chExt cx="0" cy="0"/>
        </a:xfrm>
      </p:grpSpPr>
      <p:sp>
        <p:nvSpPr>
          <p:cNvPr id="56"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a:p>
        </p:txBody>
      </p:sp>
      <p:sp>
        <p:nvSpPr>
          <p:cNvPr id="57"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58"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a:p>
        </p:txBody>
      </p:sp>
      <p:sp>
        <p:nvSpPr>
          <p:cNvPr id="59" name="日期占位符 4"/>
          <p:cNvSpPr>
            <a:spLocks noGrp="1"/>
          </p:cNvSpPr>
          <p:nvPr>
            <p:ph type="dt" sz="half" idx="10"/>
          </p:nvPr>
        </p:nvSpPr>
        <p:spPr/>
        <p:txBody>
          <a:bodyPr/>
          <a:lstStyle/>
          <a:p>
            <a:fld id="{C944953B-A6FC-4252-9D65-5D435A04F887}" type="datetimeFigureOut">
              <a:rPr lang="zh-CN" altLang="en-US"/>
              <a:t>2024/5/14</a:t>
            </a:fld>
            <a:endParaRPr lang="zh-CN" altLang="en-US"/>
          </a:p>
        </p:txBody>
      </p:sp>
      <p:sp>
        <p:nvSpPr>
          <p:cNvPr id="60" name="页脚占位符 5"/>
          <p:cNvSpPr>
            <a:spLocks noGrp="1"/>
          </p:cNvSpPr>
          <p:nvPr>
            <p:ph type="ftr" sz="quarter" idx="11"/>
          </p:nvPr>
        </p:nvSpPr>
        <p:spPr/>
        <p:txBody>
          <a:bodyPr/>
          <a:lstStyle/>
          <a:p>
            <a:endParaRPr lang="zh-CN" altLang="en-US"/>
          </a:p>
        </p:txBody>
      </p:sp>
      <p:sp>
        <p:nvSpPr>
          <p:cNvPr id="61" name="灯片编号占位符 6"/>
          <p:cNvSpPr>
            <a:spLocks noGrp="1"/>
          </p:cNvSpPr>
          <p:nvPr>
            <p:ph type="sldNum" sz="quarter" idx="12"/>
          </p:nvPr>
        </p:nvSpPr>
        <p:spPr/>
        <p:txBody>
          <a:bodyPr/>
          <a:lstStyle/>
          <a:p>
            <a:fld id="{5A21AFEC-E1CC-4854-BB4C-25D74493A892}" type="slidenum">
              <a:r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标题和竖排文字">
    <p:spTree>
      <p:nvGrpSpPr>
        <p:cNvPr id="1" name=""/>
        <p:cNvGrpSpPr/>
        <p:nvPr/>
      </p:nvGrpSpPr>
      <p:grpSpPr>
        <a:xfrm>
          <a:off x="0" y="0"/>
          <a:ext cx="0" cy="0"/>
          <a:chOff x="0" y="0"/>
          <a:chExt cx="0" cy="0"/>
        </a:xfrm>
      </p:grpSpPr>
      <p:sp>
        <p:nvSpPr>
          <p:cNvPr id="63" name="标题 1"/>
          <p:cNvSpPr>
            <a:spLocks noGrp="1"/>
          </p:cNvSpPr>
          <p:nvPr>
            <p:ph type="title"/>
          </p:nvPr>
        </p:nvSpPr>
        <p:spPr/>
        <p:txBody>
          <a:bodyPr/>
          <a:lstStyle/>
          <a:p>
            <a:r>
              <a:rPr lang="zh-CN" altLang="en-US"/>
              <a:t>单击此处编辑母版标题样式</a:t>
            </a:r>
            <a:endParaRPr/>
          </a:p>
        </p:txBody>
      </p:sp>
      <p:sp>
        <p:nvSpPr>
          <p:cNvPr id="64" name="竖排文字占位符 2"/>
          <p:cNvSpPr>
            <a:spLocks noGrp="1"/>
          </p:cNvSpPr>
          <p:nvPr>
            <p:ph type="body" orient="vert" idx="1"/>
          </p:nvPr>
        </p:nvSpPr>
        <p:spPr/>
        <p:txBody>
          <a:bodyPr vert="eaVert"/>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65" name="日期占位符 3"/>
          <p:cNvSpPr>
            <a:spLocks noGrp="1"/>
          </p:cNvSpPr>
          <p:nvPr>
            <p:ph type="dt" sz="half" idx="10"/>
          </p:nvPr>
        </p:nvSpPr>
        <p:spPr/>
        <p:txBody>
          <a:bodyPr/>
          <a:lstStyle/>
          <a:p>
            <a:fld id="{C944953B-A6FC-4252-9D65-5D435A04F887}" type="datetimeFigureOut">
              <a:rPr lang="zh-CN" altLang="en-US"/>
              <a:t>2024/5/14</a:t>
            </a:fld>
            <a:endParaRPr lang="zh-CN" altLang="en-US"/>
          </a:p>
        </p:txBody>
      </p:sp>
      <p:sp>
        <p:nvSpPr>
          <p:cNvPr id="66" name="页脚占位符 4"/>
          <p:cNvSpPr>
            <a:spLocks noGrp="1"/>
          </p:cNvSpPr>
          <p:nvPr>
            <p:ph type="ftr" sz="quarter" idx="11"/>
          </p:nvPr>
        </p:nvSpPr>
        <p:spPr/>
        <p:txBody>
          <a:bodyPr/>
          <a:lstStyle/>
          <a:p>
            <a:endParaRPr lang="zh-CN" altLang="en-US"/>
          </a:p>
        </p:txBody>
      </p:sp>
      <p:sp>
        <p:nvSpPr>
          <p:cNvPr id="67" name="灯片编号占位符 5"/>
          <p:cNvSpPr>
            <a:spLocks noGrp="1"/>
          </p:cNvSpPr>
          <p:nvPr>
            <p:ph type="sldNum" sz="quarter" idx="12"/>
          </p:nvPr>
        </p:nvSpPr>
        <p:spPr/>
        <p:txBody>
          <a:bodyPr/>
          <a:lstStyle/>
          <a:p>
            <a:fld id="{5A21AFEC-E1CC-4854-BB4C-25D74493A892}" type="slidenum">
              <a:r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垂直排列标题与 文本">
    <p:spTree>
      <p:nvGrpSpPr>
        <p:cNvPr id="1" name=""/>
        <p:cNvGrpSpPr/>
        <p:nvPr/>
      </p:nvGrpSpPr>
      <p:grpSpPr>
        <a:xfrm>
          <a:off x="0" y="0"/>
          <a:ext cx="0" cy="0"/>
          <a:chOff x="0" y="0"/>
          <a:chExt cx="0" cy="0"/>
        </a:xfrm>
      </p:grpSpPr>
      <p:sp>
        <p:nvSpPr>
          <p:cNvPr id="10"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a:p>
        </p:txBody>
      </p:sp>
      <p:sp>
        <p:nvSpPr>
          <p:cNvPr id="11"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12" name="日期占位符 3"/>
          <p:cNvSpPr>
            <a:spLocks noGrp="1"/>
          </p:cNvSpPr>
          <p:nvPr>
            <p:ph type="dt" sz="half" idx="10"/>
          </p:nvPr>
        </p:nvSpPr>
        <p:spPr/>
        <p:txBody>
          <a:bodyPr/>
          <a:lstStyle/>
          <a:p>
            <a:fld id="{C944953B-A6FC-4252-9D65-5D435A04F887}" type="datetimeFigureOut">
              <a:rPr lang="zh-CN" altLang="en-US"/>
              <a:t>2024/5/14</a:t>
            </a:fld>
            <a:endParaRPr lang="zh-CN" altLang="en-US"/>
          </a:p>
        </p:txBody>
      </p:sp>
      <p:sp>
        <p:nvSpPr>
          <p:cNvPr id="13" name="页脚占位符 4"/>
          <p:cNvSpPr>
            <a:spLocks noGrp="1"/>
          </p:cNvSpPr>
          <p:nvPr>
            <p:ph type="ftr" sz="quarter" idx="11"/>
          </p:nvPr>
        </p:nvSpPr>
        <p:spPr/>
        <p:txBody>
          <a:bodyPr/>
          <a:lstStyle/>
          <a:p>
            <a:endParaRPr lang="zh-CN" altLang="en-US"/>
          </a:p>
        </p:txBody>
      </p:sp>
      <p:sp>
        <p:nvSpPr>
          <p:cNvPr id="14" name="灯片编号占位符 5"/>
          <p:cNvSpPr>
            <a:spLocks noGrp="1"/>
          </p:cNvSpPr>
          <p:nvPr>
            <p:ph type="sldNum" sz="quarter" idx="12"/>
          </p:nvPr>
        </p:nvSpPr>
        <p:spPr/>
        <p:txBody>
          <a:bodyPr/>
          <a:lstStyle/>
          <a:p>
            <a:fld id="{5A21AFEC-E1CC-4854-BB4C-25D74493A892}" type="slidenum">
              <a:r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pic>
        <p:nvPicPr>
          <p:cNvPr id="16" name="图片 6"/>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69" name="标题 1"/>
          <p:cNvSpPr>
            <a:spLocks noGrp="1"/>
          </p:cNvSpPr>
          <p:nvPr>
            <p:ph type="ctrTitle"/>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70" name="副标题 2"/>
          <p:cNvSpPr>
            <a:spLocks noGrp="1"/>
          </p:cNvSpPr>
          <p:nvPr>
            <p:ph type="subTitle" idx="1"/>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71" name="日期占位符 15"/>
          <p:cNvSpPr>
            <a:spLocks noGrp="1"/>
          </p:cNvSpPr>
          <p:nvPr>
            <p:ph type="dt" sz="half" idx="10"/>
          </p:nvPr>
        </p:nvSpPr>
        <p:spPr/>
        <p:txBody>
          <a:bodyPr/>
          <a:lstStyle/>
          <a:p>
            <a:fld id="{760FBDFE-C587-4B4C-A407-44438C67B59E}" type="datetimeFigureOut">
              <a:rPr lang="zh-CN" altLang="en-US"/>
              <a:t>2024/5/14</a:t>
            </a:fld>
            <a:endParaRPr lang="zh-CN" altLang="en-US"/>
          </a:p>
        </p:txBody>
      </p:sp>
      <p:sp>
        <p:nvSpPr>
          <p:cNvPr id="72" name="页脚占位符 16"/>
          <p:cNvSpPr>
            <a:spLocks noGrp="1"/>
          </p:cNvSpPr>
          <p:nvPr>
            <p:ph type="ftr" sz="quarter" idx="11"/>
          </p:nvPr>
        </p:nvSpPr>
        <p:spPr/>
        <p:txBody>
          <a:bodyPr/>
          <a:lstStyle/>
          <a:p>
            <a:endParaRPr lang="zh-CN" altLang="en-US" dirty="0"/>
          </a:p>
        </p:txBody>
      </p:sp>
      <p:sp>
        <p:nvSpPr>
          <p:cNvPr id="73" name="灯片编号占位符 17"/>
          <p:cNvSpPr>
            <a:spLocks noGrp="1"/>
          </p:cNvSpPr>
          <p:nvPr>
            <p:ph type="sldNum" sz="quarter" idx="12"/>
          </p:nvPr>
        </p:nvSpPr>
        <p:spPr/>
        <p:txBody>
          <a:bodyPr/>
          <a:lstStyle/>
          <a:p>
            <a:fld id="{49AE70B2-8BF9-45C0-BB95-33D1B9D3A854}" type="slidenum">
              <a:rPr/>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pic>
        <p:nvPicPr>
          <p:cNvPr id="2" name="图片 6"/>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0706993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0054454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944953B-A6FC-4252-9D65-5D435A04F887}" type="datetimeFigureOut">
              <a:rPr lang="zh-CN" altLang="en-US" smtClean="0"/>
              <a:t>2024/5/14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A21AFEC-E1CC-4854-BB4C-25D74493A892}" type="slidenum">
              <a:rPr lang="zh-CN" altLang="en-US" smtClean="0"/>
              <a:t>‹#›</a:t>
            </a:fld>
            <a:endParaRPr lang="zh-CN" altLang="en-US"/>
          </a:p>
        </p:txBody>
      </p:sp>
    </p:spTree>
    <p:extLst>
      <p:ext uri="{BB962C8B-B14F-4D97-AF65-F5344CB8AC3E}">
        <p14:creationId xmlns:p14="http://schemas.microsoft.com/office/powerpoint/2010/main" val="3782430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C944953B-A6FC-4252-9D65-5D435A04F887}" type="datetimeFigureOut">
              <a:rPr lang="zh-CN" altLang="en-US" smtClean="0"/>
              <a:t>2024/5/14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A21AFEC-E1CC-4854-BB4C-25D74493A892}" type="slidenum">
              <a:rPr lang="zh-CN" altLang="en-US" smtClean="0"/>
              <a:t>‹#›</a:t>
            </a:fld>
            <a:endParaRPr lang="zh-CN" altLang="en-US"/>
          </a:p>
        </p:txBody>
      </p:sp>
    </p:spTree>
    <p:extLst>
      <p:ext uri="{BB962C8B-B14F-4D97-AF65-F5344CB8AC3E}">
        <p14:creationId xmlns:p14="http://schemas.microsoft.com/office/powerpoint/2010/main" val="41640041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C944953B-A6FC-4252-9D65-5D435A04F887}" type="datetimeFigureOut">
              <a:rPr lang="zh-CN" altLang="en-US" smtClean="0"/>
              <a:t>2024/5/14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A21AFEC-E1CC-4854-BB4C-25D74493A892}" type="slidenum">
              <a:rPr lang="zh-CN" altLang="en-US" smtClean="0"/>
              <a:t>‹#›</a:t>
            </a:fld>
            <a:endParaRPr lang="zh-CN" altLang="en-US"/>
          </a:p>
        </p:txBody>
      </p:sp>
    </p:spTree>
    <p:extLst>
      <p:ext uri="{BB962C8B-B14F-4D97-AF65-F5344CB8AC3E}">
        <p14:creationId xmlns:p14="http://schemas.microsoft.com/office/powerpoint/2010/main" val="42008882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C944953B-A6FC-4252-9D65-5D435A04F887}" type="datetimeFigureOut">
              <a:rPr lang="zh-CN" altLang="en-US" smtClean="0"/>
              <a:t>2024/5/14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A21AFEC-E1CC-4854-BB4C-25D74493A892}" type="slidenum">
              <a:rPr lang="zh-CN" altLang="en-US" smtClean="0"/>
              <a:t>‹#›</a:t>
            </a:fld>
            <a:endParaRPr lang="zh-CN" altLang="en-US"/>
          </a:p>
        </p:txBody>
      </p:sp>
    </p:spTree>
    <p:extLst>
      <p:ext uri="{BB962C8B-B14F-4D97-AF65-F5344CB8AC3E}">
        <p14:creationId xmlns:p14="http://schemas.microsoft.com/office/powerpoint/2010/main" val="33837048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944953B-A6FC-4252-9D65-5D435A04F887}" type="datetimeFigureOut">
              <a:rPr lang="zh-CN" altLang="en-US" smtClean="0"/>
              <a:t>2024/5/14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A21AFEC-E1CC-4854-BB4C-25D74493A892}" type="slidenum">
              <a:rPr lang="zh-CN" altLang="en-US" smtClean="0"/>
              <a:t>‹#›</a:t>
            </a:fld>
            <a:endParaRPr lang="zh-CN" altLang="en-US"/>
          </a:p>
        </p:txBody>
      </p:sp>
    </p:spTree>
    <p:extLst>
      <p:ext uri="{BB962C8B-B14F-4D97-AF65-F5344CB8AC3E}">
        <p14:creationId xmlns:p14="http://schemas.microsoft.com/office/powerpoint/2010/main" val="37510777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944953B-A6FC-4252-9D65-5D435A04F887}" type="datetimeFigureOut">
              <a:rPr lang="zh-CN" altLang="en-US" smtClean="0"/>
              <a:t>2024/5/14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A21AFEC-E1CC-4854-BB4C-25D74493A892}" type="slidenum">
              <a:rPr lang="zh-CN" altLang="en-US" smtClean="0"/>
              <a:t>‹#›</a:t>
            </a:fld>
            <a:endParaRPr lang="zh-CN" altLang="en-US"/>
          </a:p>
        </p:txBody>
      </p:sp>
    </p:spTree>
    <p:extLst>
      <p:ext uri="{BB962C8B-B14F-4D97-AF65-F5344CB8AC3E}">
        <p14:creationId xmlns:p14="http://schemas.microsoft.com/office/powerpoint/2010/main" val="39050304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944953B-A6FC-4252-9D65-5D435A04F887}" type="datetimeFigureOut">
              <a:rPr lang="zh-CN" altLang="en-US" smtClean="0"/>
              <a:t>2024/5/14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A21AFEC-E1CC-4854-BB4C-25D74493A892}" type="slidenum">
              <a:rPr lang="zh-CN" altLang="en-US" smtClean="0"/>
              <a:t>‹#›</a:t>
            </a:fld>
            <a:endParaRPr lang="zh-CN" altLang="en-US"/>
          </a:p>
        </p:txBody>
      </p:sp>
    </p:spTree>
    <p:extLst>
      <p:ext uri="{BB962C8B-B14F-4D97-AF65-F5344CB8AC3E}">
        <p14:creationId xmlns:p14="http://schemas.microsoft.com/office/powerpoint/2010/main" val="35426775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944953B-A6FC-4252-9D65-5D435A04F887}" type="datetimeFigureOut">
              <a:rPr lang="zh-CN" altLang="en-US" smtClean="0"/>
              <a:t>2024/5/14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A21AFEC-E1CC-4854-BB4C-25D74493A892}" type="slidenum">
              <a:rPr lang="zh-CN" altLang="en-US" smtClean="0"/>
              <a:t>‹#›</a:t>
            </a:fld>
            <a:endParaRPr lang="zh-CN" altLang="en-US"/>
          </a:p>
        </p:txBody>
      </p:sp>
    </p:spTree>
    <p:extLst>
      <p:ext uri="{BB962C8B-B14F-4D97-AF65-F5344CB8AC3E}">
        <p14:creationId xmlns:p14="http://schemas.microsoft.com/office/powerpoint/2010/main" val="17592074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944953B-A6FC-4252-9D65-5D435A04F887}" type="datetimeFigureOut">
              <a:rPr lang="zh-CN" altLang="en-US" smtClean="0"/>
              <a:t>2024/5/14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A21AFEC-E1CC-4854-BB4C-25D74493A892}" type="slidenum">
              <a:rPr lang="zh-CN" altLang="en-US" smtClean="0"/>
              <a:t>‹#›</a:t>
            </a:fld>
            <a:endParaRPr lang="zh-CN" altLang="en-US"/>
          </a:p>
        </p:txBody>
      </p:sp>
    </p:spTree>
    <p:extLst>
      <p:ext uri="{BB962C8B-B14F-4D97-AF65-F5344CB8AC3E}">
        <p14:creationId xmlns:p14="http://schemas.microsoft.com/office/powerpoint/2010/main" val="19478329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944953B-A6FC-4252-9D65-5D435A04F887}" type="datetimeFigureOut">
              <a:rPr lang="zh-CN" altLang="en-US" smtClean="0"/>
              <a:t>2024/5/14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A21AFEC-E1CC-4854-BB4C-25D74493A892}" type="slidenum">
              <a:rPr lang="zh-CN" altLang="en-US" smtClean="0"/>
              <a:t>‹#›</a:t>
            </a:fld>
            <a:endParaRPr lang="zh-CN" altLang="en-US"/>
          </a:p>
        </p:txBody>
      </p:sp>
    </p:spTree>
    <p:extLst>
      <p:ext uri="{BB962C8B-B14F-4D97-AF65-F5344CB8AC3E}">
        <p14:creationId xmlns:p14="http://schemas.microsoft.com/office/powerpoint/2010/main" val="2030228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44953B-A6FC-4252-9D65-5D435A04F887}" type="datetimeFigureOut">
              <a:rPr lang="zh-CN" altLang="en-US"/>
              <a:t>2024/5/14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21AFEC-E1CC-4854-BB4C-25D74493A892}" type="slidenum">
              <a:r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1"/>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标题占位符 1"/>
          <p:cNvSpPr>
            <a:spLocks noGrp="1"/>
          </p:cNvSpPr>
          <p:nvPr>
            <p:ph type="title"/>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9" name="文本占位符 2"/>
          <p:cNvSpPr>
            <a:spLocks noGrp="1"/>
          </p:cNvSpPr>
          <p:nvPr>
            <p:ph type="body" idx="1"/>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日期占位符 3"/>
          <p:cNvSpPr>
            <a:spLocks noGrp="1"/>
          </p:cNvSpPr>
          <p:nvPr>
            <p:ph type="dt" sz="half" idx="2"/>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a:t>2024/5/14</a:t>
            </a:fld>
            <a:endParaRPr lang="zh-CN" altLang="en-US"/>
          </a:p>
        </p:txBody>
      </p:sp>
      <p:sp>
        <p:nvSpPr>
          <p:cNvPr id="11" name="页脚占位符 4"/>
          <p:cNvSpPr>
            <a:spLocks noGrp="1"/>
          </p:cNvSpPr>
          <p:nvPr>
            <p:ph type="ftr" sz="quarter" idx="3"/>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2" name="灯片编号占位符 5"/>
          <p:cNvSpPr>
            <a:spLocks noGrp="1"/>
          </p:cNvSpPr>
          <p:nvPr>
            <p:ph type="sldNum" sz="quarter" idx="4"/>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a:t>‹#›</a:t>
            </a:fld>
            <a:endParaRPr lang="zh-CN" altLang="en-US" dirty="0"/>
          </a:p>
        </p:txBody>
      </p:sp>
    </p:spTree>
  </p:cSld>
  <p:clrMap bg1="lt1" tx1="dk1" bg2="lt2" tx2="dk2" accent1="accent1" accent2="accent2" accent3="accent3" accent4="accent4" accent5="accent5" accent6="accent6" hlink="hlink" folHlink="folHlink"/>
  <p:sldLayoutIdLst>
    <p:sldLayoutId id="2147483662" r:id="rId1"/>
    <p:sldLayoutId id="2147483675" r:id="rId2"/>
  </p:sldLayoutIdLst>
  <p:txStyles>
    <p:titleStyle>
      <a:lvl1pPr algn="l" defTabSz="914400" rtl="0" eaLnBrk="1" fontAlgn="auto" latinLnBrk="0" hangingPunct="1">
        <a:lnSpc>
          <a:spcPct val="100000"/>
        </a:lnSpc>
        <a:spcBef>
          <a:spcPct val="1"/>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44953B-A6FC-4252-9D65-5D435A04F887}" type="datetimeFigureOut">
              <a:rPr lang="zh-CN" altLang="en-US" smtClean="0"/>
              <a:t>2024/5/14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21AFEC-E1CC-4854-BB4C-25D74493A892}" type="slidenum">
              <a:rPr lang="zh-CN" altLang="en-US" smtClean="0"/>
              <a:t>‹#›</a:t>
            </a:fld>
            <a:endParaRPr lang="zh-CN" altLang="en-US"/>
          </a:p>
        </p:txBody>
      </p:sp>
    </p:spTree>
    <p:extLst>
      <p:ext uri="{BB962C8B-B14F-4D97-AF65-F5344CB8AC3E}">
        <p14:creationId xmlns:p14="http://schemas.microsoft.com/office/powerpoint/2010/main" val="3262769742"/>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hyperlink" Target="https://arxiv.org/abs/2401.08565" TargetMode="External"/><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 name="图片 3"/>
          <p:cNvPicPr>
            <a:picLocks noChangeAspect="1"/>
          </p:cNvPicPr>
          <p:nvPr/>
        </p:nvPicPr>
        <p:blipFill>
          <a:blip r:embed="rId3"/>
          <a:stretch>
            <a:fillRect/>
          </a:stretch>
        </p:blipFill>
        <p:spPr>
          <a:xfrm>
            <a:off x="0" y="0"/>
            <a:ext cx="12192000" cy="6858000"/>
          </a:xfrm>
          <a:prstGeom prst="rect">
            <a:avLst/>
          </a:prstGeom>
        </p:spPr>
      </p:pic>
      <p:sp>
        <p:nvSpPr>
          <p:cNvPr id="68" name="文本框 4"/>
          <p:cNvSpPr txBox="1"/>
          <p:nvPr/>
        </p:nvSpPr>
        <p:spPr>
          <a:xfrm>
            <a:off x="4687858" y="2400192"/>
            <a:ext cx="7255470" cy="1546577"/>
          </a:xfrm>
          <a:prstGeom prst="rect">
            <a:avLst/>
          </a:prstGeom>
          <a:noFill/>
        </p:spPr>
        <p:txBody>
          <a:bodyPr wrap="square" lIns="68580" tIns="34290" rIns="68580" bIns="34290" rtlCol="0">
            <a:spAutoFit/>
          </a:bodyPr>
          <a:lstStyle/>
          <a:p>
            <a:pPr defTabSz="685800"/>
            <a:r>
              <a:rPr lang="en-US" altLang="zh-CN" sz="4800" b="1" dirty="0">
                <a:latin typeface="Times New Roman" panose="02020603050405020304" pitchFamily="18" charset="0"/>
                <a:cs typeface="Times New Roman" panose="02020603050405020304" pitchFamily="18" charset="0"/>
              </a:rPr>
              <a:t>Automated Essay Scoring</a:t>
            </a:r>
            <a:endParaRPr/>
          </a:p>
          <a:p>
            <a:pPr defTabSz="685800"/>
            <a:endParaRPr lang="zh-CN" altLang="en-US" sz="4800" b="1" dirty="0">
              <a:latin typeface="微软雅黑"/>
              <a:ea typeface="微软雅黑"/>
              <a:cs typeface="+mn-ea"/>
              <a:sym typeface="+mn-lt"/>
            </a:endParaRPr>
          </a:p>
        </p:txBody>
      </p:sp>
      <p:sp>
        <p:nvSpPr>
          <p:cNvPr id="69" name="文本框 6"/>
          <p:cNvSpPr txBox="1"/>
          <p:nvPr/>
        </p:nvSpPr>
        <p:spPr>
          <a:xfrm>
            <a:off x="4747399" y="3173481"/>
            <a:ext cx="7280706" cy="315471"/>
          </a:xfrm>
          <a:prstGeom prst="rect">
            <a:avLst/>
          </a:prstGeom>
          <a:noFill/>
        </p:spPr>
        <p:txBody>
          <a:bodyPr wrap="square" lIns="68580" tIns="34290" rIns="68580" bIns="34290" rtlCol="0">
            <a:spAutoFit/>
          </a:bodyPr>
          <a:lstStyle/>
          <a:p>
            <a:pPr defTabSz="685800" eaLnBrk="0" hangingPunct="0"/>
            <a:r>
              <a:rPr lang="en-US" altLang="zh-CN" sz="1600" dirty="0">
                <a:latin typeface="Times New Roman" panose="02020603050405020304" pitchFamily="18" charset="0"/>
                <a:cs typeface="Times New Roman" panose="02020603050405020304" pitchFamily="18" charset="0"/>
                <a:sym typeface="+mn-lt"/>
              </a:rPr>
              <a:t>Kaggle Competition AES 2.0: </a:t>
            </a:r>
            <a:r>
              <a:rPr lang="en-US" altLang="zh-CN" sz="1600" dirty="0">
                <a:latin typeface="Times New Roman" panose="02020603050405020304" pitchFamily="18" charset="0"/>
                <a:cs typeface="Times New Roman" panose="02020603050405020304" pitchFamily="18" charset="0"/>
              </a:rPr>
              <a:t>Technology empowers education industry</a:t>
            </a:r>
            <a:endParaRPr lang="en-US" altLang="zh-CN" sz="1600" dirty="0">
              <a:latin typeface="Times New Roman" panose="02020603050405020304" pitchFamily="18" charset="0"/>
              <a:ea typeface="微软雅黑"/>
              <a:cs typeface="Times New Roman" panose="02020603050405020304" pitchFamily="18" charset="0"/>
              <a:sym typeface="+mn-lt"/>
            </a:endParaRPr>
          </a:p>
        </p:txBody>
      </p:sp>
      <p:sp>
        <p:nvSpPr>
          <p:cNvPr id="70" name="TextBox 120"/>
          <p:cNvSpPr txBox="1"/>
          <p:nvPr/>
        </p:nvSpPr>
        <p:spPr>
          <a:xfrm>
            <a:off x="4747399" y="3616085"/>
            <a:ext cx="5114151" cy="374571"/>
          </a:xfrm>
          <a:prstGeom prst="roundRect">
            <a:avLst/>
          </a:prstGeom>
          <a:solidFill>
            <a:schemeClr val="tx1">
              <a:lumMod val="85000"/>
              <a:lumOff val="15000"/>
            </a:schemeClr>
          </a:solidFill>
        </p:spPr>
        <p:txBody>
          <a:bodyPr wrap="square" rtlCol="0">
            <a:spAutoFit/>
          </a:bodyPr>
          <a:lstStyle/>
          <a:p>
            <a:pPr defTabSz="685800"/>
            <a:r>
              <a:rPr lang="en-US" altLang="zh-CN" sz="1600" dirty="0">
                <a:solidFill>
                  <a:prstClr val="white"/>
                </a:solidFill>
                <a:latin typeface="微软雅黑"/>
                <a:ea typeface="微软雅黑"/>
                <a:cs typeface="+mn-ea"/>
                <a:sym typeface="+mn-lt"/>
              </a:rPr>
              <a:t>Group members : </a:t>
            </a:r>
            <a:r>
              <a:rPr lang="zh-CN" altLang="en-US" sz="1600" dirty="0">
                <a:solidFill>
                  <a:prstClr val="white"/>
                </a:solidFill>
                <a:latin typeface="微软雅黑"/>
                <a:ea typeface="微软雅黑"/>
                <a:cs typeface="+mn-ea"/>
                <a:sym typeface="+mn-lt"/>
              </a:rPr>
              <a:t>李波 马骎 周语诠（按首字母排名）</a:t>
            </a:r>
            <a:endParaRPr/>
          </a:p>
        </p:txBody>
      </p:sp>
      <p:grpSp>
        <p:nvGrpSpPr>
          <p:cNvPr id="71" name="组合 12"/>
          <p:cNvGrpSpPr/>
          <p:nvPr/>
        </p:nvGrpSpPr>
        <p:grpSpPr>
          <a:xfrm>
            <a:off x="4391230" y="2391860"/>
            <a:ext cx="132770" cy="1724700"/>
            <a:chOff x="995161" y="2391860"/>
            <a:chExt cx="135370" cy="1758474"/>
          </a:xfrm>
        </p:grpSpPr>
        <p:cxnSp>
          <p:nvCxnSpPr>
            <p:cNvPr id="72" name="直接连接符 9"/>
            <p:cNvCxnSpPr/>
            <p:nvPr/>
          </p:nvCxnSpPr>
          <p:spPr>
            <a:xfrm>
              <a:off x="1130530" y="2391860"/>
              <a:ext cx="0" cy="1758474"/>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73" name="等腰三角形 11"/>
            <p:cNvSpPr/>
            <p:nvPr/>
          </p:nvSpPr>
          <p:spPr>
            <a:xfrm rot="16200000">
              <a:off x="984331" y="3203412"/>
              <a:ext cx="157029" cy="135370"/>
            </a:xfrm>
            <a:prstGeom prst="triangle">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74" name="图片 2" descr="图片包含 户外, 标牌  自动生成的说明"/>
          <p:cNvPicPr>
            <a:picLocks noChangeAspect="1"/>
          </p:cNvPicPr>
          <p:nvPr/>
        </p:nvPicPr>
        <p:blipFill rotWithShape="1">
          <a:blip r:embed="rId4" cstate="print">
            <a:duotone>
              <a:schemeClr val="bg2">
                <a:shade val="45000"/>
                <a:satMod val="135000"/>
              </a:schemeClr>
              <a:prstClr val="white"/>
            </a:duotone>
          </a:blip>
          <a:srcRect l="47865"/>
          <a:stretch/>
        </p:blipFill>
        <p:spPr>
          <a:xfrm>
            <a:off x="-1" y="12185"/>
            <a:ext cx="3569051" cy="68336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additive="base">
                                        <p:cTn id="7" dur="500" fill="hold"/>
                                        <p:tgtEl>
                                          <p:spTgt spid="68"/>
                                        </p:tgtEl>
                                        <p:attrNameLst>
                                          <p:attrName>ppt_x</p:attrName>
                                        </p:attrNameLst>
                                      </p:cBhvr>
                                      <p:tavLst>
                                        <p:tav tm="0">
                                          <p:val>
                                            <p:strVal val="#ppt_x"/>
                                          </p:val>
                                        </p:tav>
                                        <p:tav tm="100000">
                                          <p:val>
                                            <p:strVal val="#ppt_x"/>
                                          </p:val>
                                        </p:tav>
                                      </p:tavLst>
                                    </p:anim>
                                    <p:anim calcmode="lin" valueType="num">
                                      <p:cBhvr additive="base">
                                        <p:cTn id="8"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9"/>
                                        </p:tgtEl>
                                        <p:attrNameLst>
                                          <p:attrName>style.visibility</p:attrName>
                                        </p:attrNameLst>
                                      </p:cBhvr>
                                      <p:to>
                                        <p:strVal val="visible"/>
                                      </p:to>
                                    </p:set>
                                    <p:anim calcmode="lin" valueType="num">
                                      <p:cBhvr additive="base">
                                        <p:cTn id="13" dur="500" fill="hold"/>
                                        <p:tgtEl>
                                          <p:spTgt spid="69"/>
                                        </p:tgtEl>
                                        <p:attrNameLst>
                                          <p:attrName>ppt_x</p:attrName>
                                        </p:attrNameLst>
                                      </p:cBhvr>
                                      <p:tavLst>
                                        <p:tav tm="0">
                                          <p:val>
                                            <p:strVal val="#ppt_x"/>
                                          </p:val>
                                        </p:tav>
                                        <p:tav tm="100000">
                                          <p:val>
                                            <p:strVal val="#ppt_x"/>
                                          </p:val>
                                        </p:tav>
                                      </p:tavLst>
                                    </p:anim>
                                    <p:anim calcmode="lin" valueType="num">
                                      <p:cBhvr additive="base">
                                        <p:cTn id="14"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70"/>
                                        </p:tgtEl>
                                        <p:attrNameLst>
                                          <p:attrName>style.visibility</p:attrName>
                                        </p:attrNameLst>
                                      </p:cBhvr>
                                      <p:to>
                                        <p:strVal val="visible"/>
                                      </p:to>
                                    </p:set>
                                    <p:animEffect transition="in" filter="fade">
                                      <p:cBhvr>
                                        <p:cTn id="19" dur="500"/>
                                        <p:tgtEl>
                                          <p:spTgt spid="7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1"/>
                                        </p:tgtEl>
                                        <p:attrNameLst>
                                          <p:attrName>style.visibility</p:attrName>
                                        </p:attrNameLst>
                                      </p:cBhvr>
                                      <p:to>
                                        <p:strVal val="visible"/>
                                      </p:to>
                                    </p:set>
                                    <p:animEffect transition="in" filter="fade">
                                      <p:cBhvr>
                                        <p:cTn id="24" dur="500"/>
                                        <p:tgtEl>
                                          <p:spTgt spid="71"/>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2185"/>
            <a:ext cx="12192000" cy="6858000"/>
          </a:xfrm>
          <a:prstGeom prst="rect">
            <a:avLst/>
          </a:prstGeom>
        </p:spPr>
      </p:pic>
      <p:sp>
        <p:nvSpPr>
          <p:cNvPr id="3" name="文本框 13"/>
          <p:cNvSpPr txBox="1">
            <a:spLocks noChangeArrowheads="1"/>
          </p:cNvSpPr>
          <p:nvPr/>
        </p:nvSpPr>
        <p:spPr bwMode="auto">
          <a:xfrm>
            <a:off x="3845284" y="2716922"/>
            <a:ext cx="384156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eaLnBrk="1" fontAlgn="auto" hangingPunct="1">
              <a:spcBef>
                <a:spcPts val="0"/>
              </a:spcBef>
              <a:spcAft>
                <a:spcPts val="0"/>
              </a:spcAft>
              <a:defRPr sz="700">
                <a:latin typeface="Helvetica" panose="020B0604020202020204" pitchFamily="34" charset="0"/>
                <a:cs typeface="Arial" panose="020B0604020202020204" pitchFamily="34" charset="0"/>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Arial" panose="020B0604020202020204" pitchFamily="34" charset="0"/>
              </a:rPr>
              <a:t>CONTENT</a:t>
            </a:r>
            <a:endParaRPr kumimoji="0" lang="zh-CN" altLang="en-US" sz="60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Arial" panose="020B0604020202020204" pitchFamily="34" charset="0"/>
            </a:endParaRPr>
          </a:p>
        </p:txBody>
      </p:sp>
      <p:grpSp>
        <p:nvGrpSpPr>
          <p:cNvPr id="5" name="组合 4"/>
          <p:cNvGrpSpPr/>
          <p:nvPr/>
        </p:nvGrpSpPr>
        <p:grpSpPr>
          <a:xfrm>
            <a:off x="8204869" y="970953"/>
            <a:ext cx="2009333" cy="929401"/>
            <a:chOff x="7779199" y="970953"/>
            <a:chExt cx="2009333" cy="929401"/>
          </a:xfrm>
        </p:grpSpPr>
        <p:sp>
          <p:nvSpPr>
            <p:cNvPr id="13" name="矩形 12"/>
            <p:cNvSpPr/>
            <p:nvPr/>
          </p:nvSpPr>
          <p:spPr>
            <a:xfrm>
              <a:off x="7779199" y="1438689"/>
              <a:ext cx="2009333"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mn-cs"/>
                </a:rPr>
                <a:t>Introduction</a:t>
              </a:r>
              <a:endParaRPr kumimoji="0" lang="zh-CN" altLang="en-US" sz="24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mn-cs"/>
              </a:endParaRPr>
            </a:p>
          </p:txBody>
        </p:sp>
        <p:grpSp>
          <p:nvGrpSpPr>
            <p:cNvPr id="7" name="组合 6"/>
            <p:cNvGrpSpPr/>
            <p:nvPr/>
          </p:nvGrpSpPr>
          <p:grpSpPr>
            <a:xfrm>
              <a:off x="7789473" y="970953"/>
              <a:ext cx="942975" cy="523220"/>
              <a:chOff x="6095999" y="654444"/>
              <a:chExt cx="942975" cy="523220"/>
            </a:xfrm>
          </p:grpSpPr>
          <p:sp>
            <p:nvSpPr>
              <p:cNvPr id="8" name="矩形: 圆角 31"/>
              <p:cNvSpPr/>
              <p:nvPr/>
            </p:nvSpPr>
            <p:spPr>
              <a:xfrm>
                <a:off x="6095999" y="752475"/>
                <a:ext cx="942975" cy="352425"/>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cs typeface="+mn-cs"/>
                </a:endParaRPr>
              </a:p>
            </p:txBody>
          </p:sp>
          <p:grpSp>
            <p:nvGrpSpPr>
              <p:cNvPr id="9" name="组合 8"/>
              <p:cNvGrpSpPr/>
              <p:nvPr/>
            </p:nvGrpSpPr>
            <p:grpSpPr>
              <a:xfrm>
                <a:off x="6107209" y="654444"/>
                <a:ext cx="729943" cy="523220"/>
                <a:chOff x="943942" y="2688081"/>
                <a:chExt cx="729943" cy="523220"/>
              </a:xfrm>
            </p:grpSpPr>
            <p:sp>
              <p:nvSpPr>
                <p:cNvPr id="10" name="文本框 9"/>
                <p:cNvSpPr txBox="1"/>
                <p:nvPr/>
              </p:nvSpPr>
              <p:spPr>
                <a:xfrm>
                  <a:off x="943942" y="2688081"/>
                  <a:ext cx="607859"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20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mn-cs"/>
                    </a:rPr>
                    <a:t>01</a:t>
                  </a:r>
                  <a:endParaRPr kumimoji="0" lang="zh-CN" altLang="en-US" sz="2800" b="1" i="0" u="none" strike="noStrike" kern="20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cxnSp>
              <p:nvCxnSpPr>
                <p:cNvPr id="11" name="直接连接符 10"/>
                <p:cNvCxnSpPr>
                  <a:cxnSpLocks/>
                </p:cNvCxnSpPr>
                <p:nvPr/>
              </p:nvCxnSpPr>
              <p:spPr>
                <a:xfrm flipH="1">
                  <a:off x="1533600" y="2844000"/>
                  <a:ext cx="140285" cy="2232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grpSp>
      <p:grpSp>
        <p:nvGrpSpPr>
          <p:cNvPr id="14" name="组合 13"/>
          <p:cNvGrpSpPr/>
          <p:nvPr/>
        </p:nvGrpSpPr>
        <p:grpSpPr>
          <a:xfrm>
            <a:off x="8204869" y="2222427"/>
            <a:ext cx="2163797" cy="923256"/>
            <a:chOff x="7779199" y="2222427"/>
            <a:chExt cx="2163797" cy="923256"/>
          </a:xfrm>
        </p:grpSpPr>
        <p:grpSp>
          <p:nvGrpSpPr>
            <p:cNvPr id="15" name="组合 14"/>
            <p:cNvGrpSpPr/>
            <p:nvPr/>
          </p:nvGrpSpPr>
          <p:grpSpPr>
            <a:xfrm>
              <a:off x="7789473" y="2222427"/>
              <a:ext cx="942975" cy="523220"/>
              <a:chOff x="6095999" y="2071235"/>
              <a:chExt cx="942975" cy="523220"/>
            </a:xfrm>
          </p:grpSpPr>
          <p:sp>
            <p:nvSpPr>
              <p:cNvPr id="19" name="矩形: 圆角 39"/>
              <p:cNvSpPr/>
              <p:nvPr/>
            </p:nvSpPr>
            <p:spPr>
              <a:xfrm>
                <a:off x="6095999" y="2162175"/>
                <a:ext cx="942975" cy="352425"/>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cs typeface="+mn-cs"/>
                </a:endParaRPr>
              </a:p>
            </p:txBody>
          </p:sp>
          <p:grpSp>
            <p:nvGrpSpPr>
              <p:cNvPr id="20" name="组合 19"/>
              <p:cNvGrpSpPr/>
              <p:nvPr/>
            </p:nvGrpSpPr>
            <p:grpSpPr>
              <a:xfrm>
                <a:off x="6107209" y="2071235"/>
                <a:ext cx="765564" cy="523220"/>
                <a:chOff x="3673121" y="2688081"/>
                <a:chExt cx="765564" cy="523220"/>
              </a:xfrm>
            </p:grpSpPr>
            <p:sp>
              <p:nvSpPr>
                <p:cNvPr id="21" name="文本框 20"/>
                <p:cNvSpPr txBox="1"/>
                <p:nvPr/>
              </p:nvSpPr>
              <p:spPr>
                <a:xfrm>
                  <a:off x="3673121" y="2688081"/>
                  <a:ext cx="607859" cy="523220"/>
                </a:xfrm>
                <a:prstGeom prst="rect">
                  <a:avLst/>
                </a:prstGeom>
                <a:noFill/>
              </p:spPr>
              <p:txBody>
                <a:bodyPr wrap="none" rtlCol="0">
                  <a:spAutoFit/>
                </a:bodyPr>
                <a:lstStyle>
                  <a:defPPr>
                    <a:defRPr lang="zh-CN"/>
                  </a:defPPr>
                  <a:lvl1pPr>
                    <a:defRPr sz="2800" b="1" kern="2000">
                      <a:solidFill>
                        <a:schemeClr val="tx2"/>
                      </a:solidFill>
                      <a:latin typeface="Helvetica"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20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mn-cs"/>
                    </a:rPr>
                    <a:t>02</a:t>
                  </a:r>
                  <a:endParaRPr kumimoji="0" lang="zh-CN" altLang="en-US" sz="2800" b="1" i="0" u="none" strike="noStrike" kern="20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cxnSp>
              <p:nvCxnSpPr>
                <p:cNvPr id="22" name="直接连接符 21"/>
                <p:cNvCxnSpPr>
                  <a:cxnSpLocks/>
                </p:cNvCxnSpPr>
                <p:nvPr/>
              </p:nvCxnSpPr>
              <p:spPr>
                <a:xfrm flipH="1">
                  <a:off x="4298400" y="2844000"/>
                  <a:ext cx="140285" cy="2232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18" name="矩形 17"/>
            <p:cNvSpPr/>
            <p:nvPr/>
          </p:nvSpPr>
          <p:spPr>
            <a:xfrm>
              <a:off x="7779199" y="2684018"/>
              <a:ext cx="2163797"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mn-cs"/>
                </a:rPr>
                <a:t>Related Work</a:t>
              </a:r>
              <a:endParaRPr kumimoji="0" lang="zh-CN" altLang="en-US" sz="24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mn-cs"/>
              </a:endParaRPr>
            </a:p>
          </p:txBody>
        </p:sp>
      </p:grpSp>
      <p:grpSp>
        <p:nvGrpSpPr>
          <p:cNvPr id="23" name="组合 22"/>
          <p:cNvGrpSpPr/>
          <p:nvPr/>
        </p:nvGrpSpPr>
        <p:grpSpPr>
          <a:xfrm>
            <a:off x="8204869" y="3473901"/>
            <a:ext cx="2661434" cy="901696"/>
            <a:chOff x="7779199" y="3473901"/>
            <a:chExt cx="2661434" cy="901696"/>
          </a:xfrm>
        </p:grpSpPr>
        <p:grpSp>
          <p:nvGrpSpPr>
            <p:cNvPr id="24" name="组合 23"/>
            <p:cNvGrpSpPr/>
            <p:nvPr/>
          </p:nvGrpSpPr>
          <p:grpSpPr>
            <a:xfrm>
              <a:off x="7789473" y="3473901"/>
              <a:ext cx="942975" cy="523220"/>
              <a:chOff x="6095999" y="3498928"/>
              <a:chExt cx="942975" cy="523220"/>
            </a:xfrm>
          </p:grpSpPr>
          <p:sp>
            <p:nvSpPr>
              <p:cNvPr id="28" name="矩形: 圆角 41"/>
              <p:cNvSpPr/>
              <p:nvPr/>
            </p:nvSpPr>
            <p:spPr>
              <a:xfrm>
                <a:off x="6095999" y="3581400"/>
                <a:ext cx="942975" cy="352425"/>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cs typeface="+mn-cs"/>
                </a:endParaRPr>
              </a:p>
            </p:txBody>
          </p:sp>
          <p:grpSp>
            <p:nvGrpSpPr>
              <p:cNvPr id="29" name="组合 28"/>
              <p:cNvGrpSpPr/>
              <p:nvPr/>
            </p:nvGrpSpPr>
            <p:grpSpPr>
              <a:xfrm>
                <a:off x="6107209" y="3498928"/>
                <a:ext cx="721873" cy="523220"/>
                <a:chOff x="6380812" y="2688081"/>
                <a:chExt cx="721873" cy="523220"/>
              </a:xfrm>
            </p:grpSpPr>
            <p:sp>
              <p:nvSpPr>
                <p:cNvPr id="30" name="文本框 29"/>
                <p:cNvSpPr txBox="1"/>
                <p:nvPr/>
              </p:nvSpPr>
              <p:spPr>
                <a:xfrm>
                  <a:off x="6380812" y="2688081"/>
                  <a:ext cx="607859" cy="523220"/>
                </a:xfrm>
                <a:prstGeom prst="rect">
                  <a:avLst/>
                </a:prstGeom>
                <a:noFill/>
              </p:spPr>
              <p:txBody>
                <a:bodyPr wrap="none" rtlCol="0">
                  <a:spAutoFit/>
                </a:bodyPr>
                <a:lstStyle>
                  <a:defPPr>
                    <a:defRPr lang="zh-CN"/>
                  </a:defPPr>
                  <a:lvl1pPr>
                    <a:defRPr sz="2800" b="1" kern="2000">
                      <a:solidFill>
                        <a:schemeClr val="tx2"/>
                      </a:solidFill>
                      <a:latin typeface="Helvetica"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20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mn-cs"/>
                    </a:rPr>
                    <a:t>03</a:t>
                  </a:r>
                  <a:endParaRPr kumimoji="0" lang="zh-CN" altLang="en-US" sz="2800" b="1" i="0" u="none" strike="noStrike" kern="20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cxnSp>
              <p:nvCxnSpPr>
                <p:cNvPr id="31" name="直接连接符 30"/>
                <p:cNvCxnSpPr>
                  <a:cxnSpLocks/>
                </p:cNvCxnSpPr>
                <p:nvPr/>
              </p:nvCxnSpPr>
              <p:spPr>
                <a:xfrm flipH="1">
                  <a:off x="6962400" y="2844000"/>
                  <a:ext cx="140285" cy="2232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27" name="矩形 26"/>
            <p:cNvSpPr/>
            <p:nvPr/>
          </p:nvSpPr>
          <p:spPr>
            <a:xfrm>
              <a:off x="7779199" y="3913932"/>
              <a:ext cx="2661434"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mn-cs"/>
                </a:rPr>
                <a:t>Preliminary work</a:t>
              </a:r>
              <a:endParaRPr kumimoji="0" lang="zh-CN" altLang="en-US" sz="24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mn-cs"/>
              </a:endParaRPr>
            </a:p>
          </p:txBody>
        </p:sp>
      </p:grpSp>
      <p:grpSp>
        <p:nvGrpSpPr>
          <p:cNvPr id="32" name="组合 31"/>
          <p:cNvGrpSpPr/>
          <p:nvPr/>
        </p:nvGrpSpPr>
        <p:grpSpPr>
          <a:xfrm>
            <a:off x="8204869" y="4725375"/>
            <a:ext cx="1858650" cy="925246"/>
            <a:chOff x="7779199" y="4725375"/>
            <a:chExt cx="1858650" cy="925246"/>
          </a:xfrm>
        </p:grpSpPr>
        <p:grpSp>
          <p:nvGrpSpPr>
            <p:cNvPr id="33" name="组合 32"/>
            <p:cNvGrpSpPr/>
            <p:nvPr/>
          </p:nvGrpSpPr>
          <p:grpSpPr>
            <a:xfrm>
              <a:off x="7789473" y="4725375"/>
              <a:ext cx="942975" cy="523220"/>
              <a:chOff x="6095999" y="3498928"/>
              <a:chExt cx="942975" cy="523220"/>
            </a:xfrm>
          </p:grpSpPr>
          <p:sp>
            <p:nvSpPr>
              <p:cNvPr id="37" name="矩形: 圆角 41"/>
              <p:cNvSpPr/>
              <p:nvPr/>
            </p:nvSpPr>
            <p:spPr>
              <a:xfrm>
                <a:off x="6095999" y="3581400"/>
                <a:ext cx="942975" cy="352425"/>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cs typeface="+mn-cs"/>
                </a:endParaRPr>
              </a:p>
            </p:txBody>
          </p:sp>
          <p:grpSp>
            <p:nvGrpSpPr>
              <p:cNvPr id="38" name="组合 37"/>
              <p:cNvGrpSpPr/>
              <p:nvPr/>
            </p:nvGrpSpPr>
            <p:grpSpPr>
              <a:xfrm>
                <a:off x="6107209" y="3498928"/>
                <a:ext cx="721873" cy="523220"/>
                <a:chOff x="6380812" y="2688081"/>
                <a:chExt cx="721873" cy="523220"/>
              </a:xfrm>
            </p:grpSpPr>
            <p:sp>
              <p:nvSpPr>
                <p:cNvPr id="39" name="文本框 38"/>
                <p:cNvSpPr txBox="1"/>
                <p:nvPr/>
              </p:nvSpPr>
              <p:spPr>
                <a:xfrm>
                  <a:off x="6380812" y="2688081"/>
                  <a:ext cx="607859" cy="523220"/>
                </a:xfrm>
                <a:prstGeom prst="rect">
                  <a:avLst/>
                </a:prstGeom>
                <a:noFill/>
              </p:spPr>
              <p:txBody>
                <a:bodyPr wrap="none" rtlCol="0">
                  <a:spAutoFit/>
                </a:bodyPr>
                <a:lstStyle>
                  <a:defPPr>
                    <a:defRPr lang="zh-CN"/>
                  </a:defPPr>
                  <a:lvl1pPr>
                    <a:defRPr sz="2800" b="1" kern="2000">
                      <a:solidFill>
                        <a:schemeClr val="tx2"/>
                      </a:solidFill>
                      <a:latin typeface="Helvetica"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20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mn-cs"/>
                    </a:rPr>
                    <a:t>04</a:t>
                  </a:r>
                  <a:endParaRPr kumimoji="0" lang="zh-CN" altLang="en-US" sz="2800" b="1" i="0" u="none" strike="noStrike" kern="20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mn-cs"/>
                  </a:endParaRPr>
                </a:p>
              </p:txBody>
            </p:sp>
            <p:cxnSp>
              <p:nvCxnSpPr>
                <p:cNvPr id="40" name="直接连接符 39"/>
                <p:cNvCxnSpPr>
                  <a:cxnSpLocks/>
                </p:cNvCxnSpPr>
                <p:nvPr/>
              </p:nvCxnSpPr>
              <p:spPr>
                <a:xfrm flipH="1">
                  <a:off x="6962400" y="2844000"/>
                  <a:ext cx="140285" cy="2232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36" name="矩形 35"/>
            <p:cNvSpPr/>
            <p:nvPr/>
          </p:nvSpPr>
          <p:spPr>
            <a:xfrm>
              <a:off x="7779199" y="5188956"/>
              <a:ext cx="1858650"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mn-cs"/>
                </a:rPr>
                <a:t>Future plan</a:t>
              </a:r>
              <a:endParaRPr kumimoji="0" lang="zh-CN" altLang="en-US" sz="2400" b="0" i="0" u="none" strike="noStrike" kern="1200" cap="none" spc="0" normalizeH="0" baseline="0" noProof="0" dirty="0">
                <a:ln>
                  <a:noFill/>
                </a:ln>
                <a:solidFill>
                  <a:prstClr val="black"/>
                </a:solidFill>
                <a:effectLst/>
                <a:uLnTx/>
                <a:uFillTx/>
                <a:latin typeface="思源黑体 CN Bold" panose="020B0800000000000000" pitchFamily="34" charset="-122"/>
                <a:ea typeface="思源黑体 CN Bold" panose="020B0800000000000000" pitchFamily="34" charset="-122"/>
                <a:cs typeface="+mn-cs"/>
              </a:endParaRPr>
            </a:p>
          </p:txBody>
        </p:sp>
      </p:grpSp>
      <p:sp>
        <p:nvSpPr>
          <p:cNvPr id="2" name="文本框 1"/>
          <p:cNvSpPr txBox="1"/>
          <p:nvPr/>
        </p:nvSpPr>
        <p:spPr>
          <a:xfrm>
            <a:off x="5693144" y="3529854"/>
            <a:ext cx="1757212"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0" i="0" u="none" strike="noStrike" kern="1200" cap="none" spc="0" normalizeH="0" baseline="0" noProof="0" dirty="0">
                <a:ln>
                  <a:noFill/>
                </a:ln>
                <a:solidFill>
                  <a:prstClr val="black">
                    <a:lumMod val="85000"/>
                    <a:lumOff val="15000"/>
                  </a:prstClr>
                </a:solidFill>
                <a:effectLst/>
                <a:uLnTx/>
                <a:uFillTx/>
                <a:latin typeface="思源黑体 CN Bold" panose="020B0800000000000000" pitchFamily="34" charset="-122"/>
                <a:ea typeface="思源黑体 CN Bold" panose="020B0800000000000000" pitchFamily="34" charset="-122"/>
                <a:cs typeface="+mn-cs"/>
              </a:rPr>
              <a:t>目录 </a:t>
            </a:r>
            <a:r>
              <a:rPr kumimoji="0" lang="en-US" altLang="zh-CN" sz="3600" b="0" i="0" u="none" strike="noStrike" kern="1200" cap="none" spc="0" normalizeH="0" baseline="0" noProof="0" dirty="0">
                <a:ln>
                  <a:noFill/>
                </a:ln>
                <a:solidFill>
                  <a:prstClr val="black">
                    <a:lumMod val="85000"/>
                    <a:lumOff val="15000"/>
                  </a:prstClr>
                </a:solidFill>
                <a:effectLst/>
                <a:uLnTx/>
                <a:uFillTx/>
                <a:latin typeface="思源黑体 CN Bold" panose="020B0800000000000000" pitchFamily="34" charset="-122"/>
                <a:ea typeface="思源黑体 CN Bold" panose="020B0800000000000000" pitchFamily="34" charset="-122"/>
                <a:cs typeface="+mn-cs"/>
              </a:rPr>
              <a:t>&gt;&gt;</a:t>
            </a:r>
            <a:endParaRPr kumimoji="0" lang="zh-CN" altLang="en-US" sz="3600" b="0" i="0" u="none" strike="noStrike" kern="1200" cap="none" spc="0" normalizeH="0" baseline="0" noProof="0" dirty="0">
              <a:ln>
                <a:noFill/>
              </a:ln>
              <a:solidFill>
                <a:prstClr val="black">
                  <a:lumMod val="85000"/>
                  <a:lumOff val="15000"/>
                </a:prstClr>
              </a:solidFill>
              <a:effectLst/>
              <a:uLnTx/>
              <a:uFillTx/>
              <a:latin typeface="思源黑体 CN Bold" panose="020B0800000000000000" pitchFamily="34" charset="-122"/>
              <a:ea typeface="思源黑体 CN Bold" panose="020B0800000000000000" pitchFamily="34" charset="-122"/>
              <a:cs typeface="+mn-cs"/>
            </a:endParaRPr>
          </a:p>
        </p:txBody>
      </p:sp>
      <p:pic>
        <p:nvPicPr>
          <p:cNvPr id="41" name="图片 40" descr="图片包含 户外, 标牌&#10;&#10;自动生成的说明">
            <a:extLst>
              <a:ext uri="{FF2B5EF4-FFF2-40B4-BE49-F238E27FC236}">
                <a16:creationId xmlns:a16="http://schemas.microsoft.com/office/drawing/2014/main" id="{C69ED4A8-AF1F-4045-A2F7-4C13B123AA8A}"/>
              </a:ext>
            </a:extLst>
          </p:cNvPr>
          <p:cNvPicPr>
            <a:picLocks noChangeAspect="1"/>
          </p:cNvPicPr>
          <p:nvPr/>
        </p:nvPicPr>
        <p:blipFill rotWithShape="1">
          <a:blip r:embed="rId4" cstate="print">
            <a:duotone>
              <a:schemeClr val="bg2">
                <a:shade val="45000"/>
                <a:satMod val="135000"/>
              </a:schemeClr>
              <a:prstClr val="white"/>
            </a:duotone>
            <a:extLst>
              <a:ext uri="{28A0092B-C50C-407E-A947-70E740481C1C}">
                <a14:useLocalDpi xmlns:a14="http://schemas.microsoft.com/office/drawing/2010/main" val="0"/>
              </a:ext>
            </a:extLst>
          </a:blip>
          <a:srcRect l="47865"/>
          <a:stretch/>
        </p:blipFill>
        <p:spPr>
          <a:xfrm>
            <a:off x="-1" y="12185"/>
            <a:ext cx="3569051" cy="6833630"/>
          </a:xfrm>
          <a:prstGeom prst="rect">
            <a:avLst/>
          </a:prstGeom>
        </p:spPr>
      </p:pic>
    </p:spTree>
    <p:extLst>
      <p:ext uri="{BB962C8B-B14F-4D97-AF65-F5344CB8AC3E}">
        <p14:creationId xmlns:p14="http://schemas.microsoft.com/office/powerpoint/2010/main" val="1945395972"/>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1+#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additive="base">
                                        <p:cTn id="24" dur="500" fill="hold"/>
                                        <p:tgtEl>
                                          <p:spTgt spid="14"/>
                                        </p:tgtEl>
                                        <p:attrNameLst>
                                          <p:attrName>ppt_x</p:attrName>
                                        </p:attrNameLst>
                                      </p:cBhvr>
                                      <p:tavLst>
                                        <p:tav tm="0">
                                          <p:val>
                                            <p:strVal val="#ppt_x"/>
                                          </p:val>
                                        </p:tav>
                                        <p:tav tm="100000">
                                          <p:val>
                                            <p:strVal val="#ppt_x"/>
                                          </p:val>
                                        </p:tav>
                                      </p:tavLst>
                                    </p:anim>
                                    <p:anim calcmode="lin" valueType="num">
                                      <p:cBhvr additive="base">
                                        <p:cTn id="25"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anim calcmode="lin" valueType="num">
                                      <p:cBhvr additive="base">
                                        <p:cTn id="35" dur="500" fill="hold"/>
                                        <p:tgtEl>
                                          <p:spTgt spid="32"/>
                                        </p:tgtEl>
                                        <p:attrNameLst>
                                          <p:attrName>ppt_x</p:attrName>
                                        </p:attrNameLst>
                                      </p:cBhvr>
                                      <p:tavLst>
                                        <p:tav tm="0">
                                          <p:val>
                                            <p:strVal val="#ppt_x"/>
                                          </p:val>
                                        </p:tav>
                                        <p:tav tm="100000">
                                          <p:val>
                                            <p:strVal val="#ppt_x"/>
                                          </p:val>
                                        </p:tav>
                                      </p:tavLst>
                                    </p:anim>
                                    <p:anim calcmode="lin" valueType="num">
                                      <p:cBhvr additive="base">
                                        <p:cTn id="36"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3" name="组合 2"/>
          <p:cNvGrpSpPr>
            <a:grpSpLocks noChangeAspect="1"/>
          </p:cNvGrpSpPr>
          <p:nvPr/>
        </p:nvGrpSpPr>
        <p:grpSpPr>
          <a:xfrm>
            <a:off x="5029289" y="2069373"/>
            <a:ext cx="2133422" cy="1213323"/>
            <a:chOff x="1093391" y="-1169675"/>
            <a:chExt cx="1359950" cy="773433"/>
          </a:xfrm>
          <a:solidFill>
            <a:schemeClr val="tx1">
              <a:lumMod val="85000"/>
              <a:lumOff val="15000"/>
            </a:schemeClr>
          </a:solidFill>
        </p:grpSpPr>
        <p:sp>
          <p:nvSpPr>
            <p:cNvPr id="5" name="任意多边形 4"/>
            <p:cNvSpPr/>
            <p:nvPr/>
          </p:nvSpPr>
          <p:spPr>
            <a:xfrm>
              <a:off x="1093391" y="-1169675"/>
              <a:ext cx="767828" cy="773433"/>
            </a:xfrm>
            <a:custGeom>
              <a:avLst/>
              <a:gdLst/>
              <a:ahLst/>
              <a:cxnLst/>
              <a:rect l="l" t="t" r="r" b="b"/>
              <a:pathLst>
                <a:path w="767828" h="773433">
                  <a:moveTo>
                    <a:pt x="383185" y="0"/>
                  </a:moveTo>
                  <a:cubicBezTo>
                    <a:pt x="499322" y="52"/>
                    <a:pt x="592033" y="46540"/>
                    <a:pt x="661315" y="139464"/>
                  </a:cubicBezTo>
                  <a:cubicBezTo>
                    <a:pt x="730598" y="232388"/>
                    <a:pt x="766102" y="371436"/>
                    <a:pt x="767828" y="556608"/>
                  </a:cubicBezTo>
                  <a:cubicBezTo>
                    <a:pt x="767397" y="603342"/>
                    <a:pt x="764854" y="647227"/>
                    <a:pt x="760200" y="688263"/>
                  </a:cubicBezTo>
                  <a:lnTo>
                    <a:pt x="745112" y="773433"/>
                  </a:lnTo>
                  <a:lnTo>
                    <a:pt x="506018" y="773433"/>
                  </a:lnTo>
                  <a:lnTo>
                    <a:pt x="512258" y="739730"/>
                  </a:lnTo>
                  <a:cubicBezTo>
                    <a:pt x="519316" y="691261"/>
                    <a:pt x="522956" y="630221"/>
                    <a:pt x="523179" y="556608"/>
                  </a:cubicBezTo>
                  <a:cubicBezTo>
                    <a:pt x="522882" y="459043"/>
                    <a:pt x="516509" y="384341"/>
                    <a:pt x="504060" y="332502"/>
                  </a:cubicBezTo>
                  <a:cubicBezTo>
                    <a:pt x="491610" y="280663"/>
                    <a:pt x="474867" y="245264"/>
                    <a:pt x="453830" y="226305"/>
                  </a:cubicBezTo>
                  <a:cubicBezTo>
                    <a:pt x="432793" y="207345"/>
                    <a:pt x="409245" y="198400"/>
                    <a:pt x="383185" y="199471"/>
                  </a:cubicBezTo>
                  <a:cubicBezTo>
                    <a:pt x="357143" y="198400"/>
                    <a:pt x="333720" y="207345"/>
                    <a:pt x="312917" y="226305"/>
                  </a:cubicBezTo>
                  <a:cubicBezTo>
                    <a:pt x="292114" y="245264"/>
                    <a:pt x="275605" y="280663"/>
                    <a:pt x="263390" y="332502"/>
                  </a:cubicBezTo>
                  <a:cubicBezTo>
                    <a:pt x="251174" y="384341"/>
                    <a:pt x="244927" y="459043"/>
                    <a:pt x="244648" y="556608"/>
                  </a:cubicBezTo>
                  <a:cubicBezTo>
                    <a:pt x="244857" y="630221"/>
                    <a:pt x="248424" y="691261"/>
                    <a:pt x="255347" y="739730"/>
                  </a:cubicBezTo>
                  <a:lnTo>
                    <a:pt x="261469" y="773433"/>
                  </a:lnTo>
                  <a:lnTo>
                    <a:pt x="22525" y="773433"/>
                  </a:lnTo>
                  <a:lnTo>
                    <a:pt x="7547" y="688263"/>
                  </a:lnTo>
                  <a:cubicBezTo>
                    <a:pt x="2932" y="647227"/>
                    <a:pt x="416" y="603342"/>
                    <a:pt x="0" y="556608"/>
                  </a:cubicBezTo>
                  <a:cubicBezTo>
                    <a:pt x="1664" y="370162"/>
                    <a:pt x="36925" y="230750"/>
                    <a:pt x="105783" y="138372"/>
                  </a:cubicBezTo>
                  <a:cubicBezTo>
                    <a:pt x="174641" y="45994"/>
                    <a:pt x="267108" y="-130"/>
                    <a:pt x="38318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6" name="任意多边形 5"/>
            <p:cNvSpPr/>
            <p:nvPr/>
          </p:nvSpPr>
          <p:spPr>
            <a:xfrm>
              <a:off x="1994465" y="-1149273"/>
              <a:ext cx="458876" cy="753031"/>
            </a:xfrm>
            <a:custGeom>
              <a:avLst/>
              <a:gdLst/>
              <a:ahLst/>
              <a:cxnLst/>
              <a:rect l="l" t="t" r="r" b="b"/>
              <a:pathLst>
                <a:path w="458876" h="753031">
                  <a:moveTo>
                    <a:pt x="268100" y="0"/>
                  </a:moveTo>
                  <a:lnTo>
                    <a:pt x="458876" y="0"/>
                  </a:lnTo>
                  <a:lnTo>
                    <a:pt x="458876" y="753031"/>
                  </a:lnTo>
                  <a:lnTo>
                    <a:pt x="199654" y="753031"/>
                  </a:lnTo>
                  <a:lnTo>
                    <a:pt x="199654" y="257765"/>
                  </a:lnTo>
                  <a:lnTo>
                    <a:pt x="0" y="257765"/>
                  </a:lnTo>
                  <a:lnTo>
                    <a:pt x="0" y="97571"/>
                  </a:lnTo>
                  <a:cubicBezTo>
                    <a:pt x="57444" y="86862"/>
                    <a:pt x="107234" y="73694"/>
                    <a:pt x="149370" y="58069"/>
                  </a:cubicBezTo>
                  <a:cubicBezTo>
                    <a:pt x="191506" y="42445"/>
                    <a:pt x="231083" y="23088"/>
                    <a:pt x="2681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7" name="组合 6"/>
          <p:cNvGrpSpPr/>
          <p:nvPr/>
        </p:nvGrpSpPr>
        <p:grpSpPr>
          <a:xfrm>
            <a:off x="4483635" y="3429248"/>
            <a:ext cx="3224729" cy="1230666"/>
            <a:chOff x="4470809" y="2848154"/>
            <a:chExt cx="3224729" cy="1230666"/>
          </a:xfrm>
        </p:grpSpPr>
        <p:sp>
          <p:nvSpPr>
            <p:cNvPr id="8" name="文本框 7"/>
            <p:cNvSpPr txBox="1"/>
            <p:nvPr/>
          </p:nvSpPr>
          <p:spPr>
            <a:xfrm>
              <a:off x="4470809" y="3092758"/>
              <a:ext cx="3224729"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mn-cs"/>
                </a:rPr>
                <a:t>Introduction</a:t>
              </a:r>
              <a:endParaRPr kumimoji="0" lang="zh-CN" altLang="en-US" sz="40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mn-cs"/>
              </a:endParaRPr>
            </a:p>
          </p:txBody>
        </p:sp>
        <p:cxnSp>
          <p:nvCxnSpPr>
            <p:cNvPr id="10" name="直接连接符 9"/>
            <p:cNvCxnSpPr/>
            <p:nvPr/>
          </p:nvCxnSpPr>
          <p:spPr>
            <a:xfrm>
              <a:off x="4615322" y="2848154"/>
              <a:ext cx="2935705"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4615322" y="4078820"/>
              <a:ext cx="2935705"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12" name="图片 11" descr="图片包含 户外, 标牌&#10;&#10;自动生成的说明">
            <a:extLst>
              <a:ext uri="{FF2B5EF4-FFF2-40B4-BE49-F238E27FC236}">
                <a16:creationId xmlns:a16="http://schemas.microsoft.com/office/drawing/2014/main" id="{95B97767-D047-4209-89B6-46ED82B7D685}"/>
              </a:ext>
            </a:extLst>
          </p:cNvPr>
          <p:cNvPicPr>
            <a:picLocks noChangeAspect="1"/>
          </p:cNvPicPr>
          <p:nvPr/>
        </p:nvPicPr>
        <p:blipFill rotWithShape="1">
          <a:blip r:embed="rId4" cstate="print">
            <a:duotone>
              <a:schemeClr val="bg2">
                <a:shade val="45000"/>
                <a:satMod val="135000"/>
              </a:schemeClr>
              <a:prstClr val="white"/>
            </a:duotone>
            <a:extLst>
              <a:ext uri="{28A0092B-C50C-407E-A947-70E740481C1C}">
                <a14:useLocalDpi xmlns:a14="http://schemas.microsoft.com/office/drawing/2010/main" val="0"/>
              </a:ext>
            </a:extLst>
          </a:blip>
          <a:srcRect l="63268" r="-1"/>
          <a:stretch/>
        </p:blipFill>
        <p:spPr>
          <a:xfrm>
            <a:off x="0" y="0"/>
            <a:ext cx="2514644" cy="6833630"/>
          </a:xfrm>
          <a:prstGeom prst="rect">
            <a:avLst/>
          </a:prstGeom>
        </p:spPr>
      </p:pic>
      <p:pic>
        <p:nvPicPr>
          <p:cNvPr id="13" name="图片 12" descr="图片包含 户外, 标牌&#10;&#10;自动生成的说明">
            <a:extLst>
              <a:ext uri="{FF2B5EF4-FFF2-40B4-BE49-F238E27FC236}">
                <a16:creationId xmlns:a16="http://schemas.microsoft.com/office/drawing/2014/main" id="{C1064076-09E1-419D-B666-D6C601E90FBF}"/>
              </a:ext>
            </a:extLst>
          </p:cNvPr>
          <p:cNvPicPr>
            <a:picLocks noChangeAspect="1"/>
          </p:cNvPicPr>
          <p:nvPr/>
        </p:nvPicPr>
        <p:blipFill rotWithShape="1">
          <a:blip r:embed="rId4" cstate="print">
            <a:duotone>
              <a:schemeClr val="bg2">
                <a:shade val="45000"/>
                <a:satMod val="135000"/>
              </a:schemeClr>
              <a:prstClr val="white"/>
            </a:duotone>
            <a:extLst>
              <a:ext uri="{28A0092B-C50C-407E-A947-70E740481C1C}">
                <a14:useLocalDpi xmlns:a14="http://schemas.microsoft.com/office/drawing/2010/main" val="0"/>
              </a:ext>
            </a:extLst>
          </a:blip>
          <a:srcRect r="61722"/>
          <a:stretch/>
        </p:blipFill>
        <p:spPr>
          <a:xfrm>
            <a:off x="9571538" y="12185"/>
            <a:ext cx="2620462" cy="6833630"/>
          </a:xfrm>
          <a:prstGeom prst="rect">
            <a:avLst/>
          </a:prstGeom>
        </p:spPr>
      </p:pic>
    </p:spTree>
    <p:extLst>
      <p:ext uri="{BB962C8B-B14F-4D97-AF65-F5344CB8AC3E}">
        <p14:creationId xmlns:p14="http://schemas.microsoft.com/office/powerpoint/2010/main" val="309856335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352486" y="829821"/>
            <a:ext cx="6911707" cy="820543"/>
            <a:chOff x="-2876956" y="827261"/>
            <a:chExt cx="6911707" cy="820543"/>
          </a:xfrm>
        </p:grpSpPr>
        <p:sp>
          <p:nvSpPr>
            <p:cNvPr id="3" name="文本框 2"/>
            <p:cNvSpPr txBox="1"/>
            <p:nvPr/>
          </p:nvSpPr>
          <p:spPr>
            <a:xfrm>
              <a:off x="-2876956" y="827261"/>
              <a:ext cx="6911707" cy="807913"/>
            </a:xfrm>
            <a:prstGeom prst="rect">
              <a:avLst/>
            </a:prstGeom>
            <a:noFill/>
          </p:spPr>
          <p:txBody>
            <a:bodyPr wrap="square" lIns="68580" tIns="34290" rIns="68580" bIns="34290"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202124"/>
                  </a:solidFill>
                  <a:effectLst/>
                  <a:uLnTx/>
                  <a:uFillTx/>
                  <a:latin typeface="Times New Roman" panose="02020603050405020304" pitchFamily="18" charset="0"/>
                  <a:ea typeface="宋体" panose="02010600030101010101" pitchFamily="2" charset="-122"/>
                  <a:cs typeface="Times New Roman" panose="02020603050405020304" pitchFamily="18" charset="0"/>
                </a:rPr>
                <a:t>The Hewlett Foundation: Automated Essay Scoring</a:t>
              </a:r>
            </a:p>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prstClr val="black"/>
                </a:solidFill>
                <a:effectLst/>
                <a:uLnTx/>
                <a:uFillTx/>
                <a:latin typeface="微软雅黑"/>
                <a:ea typeface="微软雅黑"/>
                <a:cs typeface="+mn-ea"/>
                <a:sym typeface="+mn-lt"/>
              </a:endParaRPr>
            </a:p>
          </p:txBody>
        </p:sp>
        <p:cxnSp>
          <p:nvCxnSpPr>
            <p:cNvPr id="4" name="直接连接符 3"/>
            <p:cNvCxnSpPr>
              <a:cxnSpLocks/>
            </p:cNvCxnSpPr>
            <p:nvPr/>
          </p:nvCxnSpPr>
          <p:spPr>
            <a:xfrm>
              <a:off x="-2662270" y="1647804"/>
              <a:ext cx="6460495" cy="0"/>
            </a:xfrm>
            <a:prstGeom prst="line">
              <a:avLst/>
            </a:prstGeom>
            <a:noFill/>
            <a:ln w="9525" cap="flat" cmpd="sng" algn="ctr">
              <a:solidFill>
                <a:schemeClr val="tx1">
                  <a:lumMod val="65000"/>
                  <a:lumOff val="35000"/>
                </a:schemeClr>
              </a:solidFill>
              <a:prstDash val="solid"/>
              <a:miter lim="800000"/>
            </a:ln>
            <a:effectLst/>
          </p:spPr>
        </p:cxnSp>
      </p:grpSp>
      <p:sp>
        <p:nvSpPr>
          <p:cNvPr id="6" name="文本框 5"/>
          <p:cNvSpPr txBox="1"/>
          <p:nvPr/>
        </p:nvSpPr>
        <p:spPr>
          <a:xfrm>
            <a:off x="5797419" y="2063167"/>
            <a:ext cx="5342260" cy="1543884"/>
          </a:xfrm>
          <a:prstGeom prst="rect">
            <a:avLst/>
          </a:prstGeom>
          <a:noFill/>
        </p:spPr>
        <p:txBody>
          <a:bodyPr wrap="square" rtlCol="0">
            <a:spAutoFit/>
          </a:bodyPr>
          <a:lstStyle/>
          <a:p>
            <a:pPr marL="0" marR="0" lvl="0" indent="0" algn="l" defTabSz="914400" rtl="0" eaLnBrk="1" fontAlgn="auto" latinLnBrk="0" hangingPunct="1">
              <a:lnSpc>
                <a:spcPct val="120000"/>
              </a:lnSpc>
              <a:spcBef>
                <a:spcPct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In 2012, the Hewlett Foundation sponsored a competition on Kaggle called the </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Automated Student Assessment Prize </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(ASAP). 201 challenge participants attempted to predict, using AES, the scores that human raters would give to thousands of essays written to eight different prompts. </a:t>
            </a:r>
          </a:p>
        </p:txBody>
      </p:sp>
      <p:sp>
        <p:nvSpPr>
          <p:cNvPr id="25" name="文本框 24">
            <a:extLst>
              <a:ext uri="{FF2B5EF4-FFF2-40B4-BE49-F238E27FC236}">
                <a16:creationId xmlns:a16="http://schemas.microsoft.com/office/drawing/2014/main" id="{43CB88BA-E142-1668-9FB9-4D978CE447D7}"/>
              </a:ext>
            </a:extLst>
          </p:cNvPr>
          <p:cNvSpPr txBox="1"/>
          <p:nvPr/>
        </p:nvSpPr>
        <p:spPr>
          <a:xfrm>
            <a:off x="5797419" y="5057118"/>
            <a:ext cx="5342260" cy="65748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The main </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goal</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Compare the efficacy and cost of automated scoring to that of human graders.</a:t>
            </a:r>
          </a:p>
        </p:txBody>
      </p:sp>
      <p:sp>
        <p:nvSpPr>
          <p:cNvPr id="26" name="文本框 25">
            <a:extLst>
              <a:ext uri="{FF2B5EF4-FFF2-40B4-BE49-F238E27FC236}">
                <a16:creationId xmlns:a16="http://schemas.microsoft.com/office/drawing/2014/main" id="{42AC88B9-A626-A57C-A47B-12035103A39E}"/>
              </a:ext>
            </a:extLst>
          </p:cNvPr>
          <p:cNvSpPr txBox="1"/>
          <p:nvPr/>
        </p:nvSpPr>
        <p:spPr>
          <a:xfrm>
            <a:off x="2567172" y="1255254"/>
            <a:ext cx="69117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Develop an automated scoring algorithm for student-written essays</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 name="文本框 26">
            <a:extLst>
              <a:ext uri="{FF2B5EF4-FFF2-40B4-BE49-F238E27FC236}">
                <a16:creationId xmlns:a16="http://schemas.microsoft.com/office/drawing/2014/main" id="{9D5D0089-EBCD-D11E-26F1-5D59EFB8F8C0}"/>
              </a:ext>
            </a:extLst>
          </p:cNvPr>
          <p:cNvSpPr txBox="1"/>
          <p:nvPr/>
        </p:nvSpPr>
        <p:spPr>
          <a:xfrm>
            <a:off x="5797419" y="4039697"/>
            <a:ext cx="5342260" cy="65748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Develop </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fast</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effective</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and </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affordable</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solutions for automated grading of student-written essays.</a:t>
            </a:r>
          </a:p>
        </p:txBody>
      </p:sp>
      <p:pic>
        <p:nvPicPr>
          <p:cNvPr id="29" name="图片 28">
            <a:extLst>
              <a:ext uri="{FF2B5EF4-FFF2-40B4-BE49-F238E27FC236}">
                <a16:creationId xmlns:a16="http://schemas.microsoft.com/office/drawing/2014/main" id="{58E0E70B-3100-8799-8FA0-AA1723FC4F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936" y="2297729"/>
            <a:ext cx="5342260" cy="3034780"/>
          </a:xfrm>
          <a:prstGeom prst="rect">
            <a:avLst/>
          </a:prstGeom>
        </p:spPr>
      </p:pic>
    </p:spTree>
    <p:extLst>
      <p:ext uri="{BB962C8B-B14F-4D97-AF65-F5344CB8AC3E}">
        <p14:creationId xmlns:p14="http://schemas.microsoft.com/office/powerpoint/2010/main" val="3140375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a:extLst>
              <a:ext uri="{FF2B5EF4-FFF2-40B4-BE49-F238E27FC236}">
                <a16:creationId xmlns:a16="http://schemas.microsoft.com/office/drawing/2014/main" id="{F46D3E72-262E-04D9-6D7B-0B80B2D9D4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7239" y="4681329"/>
            <a:ext cx="2037522" cy="2037522"/>
          </a:xfrm>
          <a:prstGeom prst="rect">
            <a:avLst/>
          </a:prstGeom>
        </p:spPr>
      </p:pic>
      <p:sp>
        <p:nvSpPr>
          <p:cNvPr id="27" name="文本框 26">
            <a:extLst>
              <a:ext uri="{FF2B5EF4-FFF2-40B4-BE49-F238E27FC236}">
                <a16:creationId xmlns:a16="http://schemas.microsoft.com/office/drawing/2014/main" id="{AC94DF03-4F3B-7AE0-157F-93919494F3D0}"/>
              </a:ext>
            </a:extLst>
          </p:cNvPr>
          <p:cNvSpPr txBox="1"/>
          <p:nvPr/>
        </p:nvSpPr>
        <p:spPr>
          <a:xfrm>
            <a:off x="1449123" y="881932"/>
            <a:ext cx="9982864" cy="412273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000" b="1"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Shortcome</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 Previous efforts to develop open-source AES have been limited by </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small datasets</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 These datasets were </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not nationally diverse </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or focused on </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common essay formats</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3. The first Automated Essay Scoring competition scored student-written short-answer responses, which are </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not commonly used </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in the classroom.</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To do:</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 Improve upon earlier efforts by obtaining a </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more expansive dataset</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 Include </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high-quality</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realistic classroom writing samples</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in the dataset.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3. Ensure the dataset includes samples </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across</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economic and location populations </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to mitigate potential algorithmic bias.</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40687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352486" y="829821"/>
            <a:ext cx="7272342" cy="820543"/>
            <a:chOff x="-2876956" y="827261"/>
            <a:chExt cx="7272342" cy="820543"/>
          </a:xfrm>
        </p:grpSpPr>
        <p:sp>
          <p:nvSpPr>
            <p:cNvPr id="3" name="文本框 2"/>
            <p:cNvSpPr txBox="1"/>
            <p:nvPr/>
          </p:nvSpPr>
          <p:spPr>
            <a:xfrm>
              <a:off x="-2876956" y="827261"/>
              <a:ext cx="7272342" cy="807913"/>
            </a:xfrm>
            <a:prstGeom prst="rect">
              <a:avLst/>
            </a:prstGeom>
            <a:noFill/>
          </p:spPr>
          <p:txBody>
            <a:bodyPr wrap="square" lIns="68580" tIns="34290" rIns="68580" bIns="34290" rtlCol="0">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202124"/>
                  </a:solidFill>
                  <a:effectLst/>
                  <a:uLnTx/>
                  <a:uFillTx/>
                  <a:latin typeface="Times New Roman" panose="02020603050405020304" pitchFamily="18" charset="0"/>
                  <a:ea typeface="宋体" panose="02010600030101010101" pitchFamily="2" charset="-122"/>
                  <a:cs typeface="Times New Roman" panose="02020603050405020304" pitchFamily="18" charset="0"/>
                </a:rPr>
                <a:t>Learning Agency Lab - Automated Essay Scoring 2.0</a:t>
              </a:r>
            </a:p>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dirty="0">
                <a:ln>
                  <a:noFill/>
                </a:ln>
                <a:solidFill>
                  <a:prstClr val="black"/>
                </a:solidFill>
                <a:effectLst/>
                <a:uLnTx/>
                <a:uFillTx/>
                <a:latin typeface="微软雅黑"/>
                <a:ea typeface="微软雅黑"/>
                <a:cs typeface="+mn-ea"/>
                <a:sym typeface="+mn-lt"/>
              </a:endParaRPr>
            </a:p>
          </p:txBody>
        </p:sp>
        <p:cxnSp>
          <p:nvCxnSpPr>
            <p:cNvPr id="4" name="直接连接符 3"/>
            <p:cNvCxnSpPr>
              <a:cxnSpLocks/>
            </p:cNvCxnSpPr>
            <p:nvPr/>
          </p:nvCxnSpPr>
          <p:spPr>
            <a:xfrm>
              <a:off x="-2662270" y="1647804"/>
              <a:ext cx="6460495" cy="0"/>
            </a:xfrm>
            <a:prstGeom prst="line">
              <a:avLst/>
            </a:prstGeom>
            <a:noFill/>
            <a:ln w="9525" cap="flat" cmpd="sng" algn="ctr">
              <a:solidFill>
                <a:schemeClr val="tx1">
                  <a:lumMod val="65000"/>
                  <a:lumOff val="35000"/>
                </a:schemeClr>
              </a:solidFill>
              <a:prstDash val="solid"/>
              <a:miter lim="800000"/>
            </a:ln>
            <a:effectLst/>
          </p:spPr>
        </p:cxnSp>
      </p:grpSp>
      <p:sp>
        <p:nvSpPr>
          <p:cNvPr id="6" name="文本框 5"/>
          <p:cNvSpPr txBox="1"/>
          <p:nvPr/>
        </p:nvSpPr>
        <p:spPr>
          <a:xfrm>
            <a:off x="5797419" y="2063167"/>
            <a:ext cx="5342260" cy="2139560"/>
          </a:xfrm>
          <a:prstGeom prst="rect">
            <a:avLst/>
          </a:prstGeom>
          <a:noFill/>
        </p:spPr>
        <p:txBody>
          <a:bodyPr wrap="square" rtlCol="0">
            <a:spAutoFit/>
          </a:bodyPr>
          <a:lstStyle/>
          <a:p>
            <a:pPr marL="0" marR="0" lvl="0" indent="0" algn="l" defTabSz="914400" rtl="0" eaLnBrk="1" fontAlgn="auto" latinLnBrk="0" hangingPunct="1">
              <a:lnSpc>
                <a:spcPct val="120000"/>
              </a:lnSpc>
              <a:spcBef>
                <a:spcPct val="0"/>
              </a:spcBef>
              <a:spcAft>
                <a:spcPts val="0"/>
              </a:spcAft>
              <a:buClrTx/>
              <a:buSzTx/>
              <a:buFontTx/>
              <a:buNone/>
              <a:tabLst/>
              <a:defRPr/>
            </a:pPr>
            <a:r>
              <a:rPr kumimoji="0" lang="en-US" altLang="zh-CN" sz="16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Background</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p>
          <a:p>
            <a:pPr marL="0" marR="0" lvl="0" indent="0" algn="l" defTabSz="914400" rtl="0" eaLnBrk="1" fontAlgn="auto" latinLnBrk="0" hangingPunct="1">
              <a:lnSpc>
                <a:spcPct val="120000"/>
              </a:lnSpc>
              <a:spcBef>
                <a:spcPct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Essay writing is an important method to evaluate student learning and performance. It is also time-consuming for educators to grade by hand. Automated Essay Scoring (AES) systems can score essays to </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supplement</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an educator’s other </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efforts</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AES also allow students to </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receive regular and timely feedback</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on their writing. </a:t>
            </a:r>
          </a:p>
        </p:txBody>
      </p:sp>
      <p:sp>
        <p:nvSpPr>
          <p:cNvPr id="25" name="文本框 24">
            <a:extLst>
              <a:ext uri="{FF2B5EF4-FFF2-40B4-BE49-F238E27FC236}">
                <a16:creationId xmlns:a16="http://schemas.microsoft.com/office/drawing/2014/main" id="{43CB88BA-E142-1668-9FB9-4D978CE447D7}"/>
              </a:ext>
            </a:extLst>
          </p:cNvPr>
          <p:cNvSpPr txBox="1"/>
          <p:nvPr/>
        </p:nvSpPr>
        <p:spPr>
          <a:xfrm>
            <a:off x="5797419" y="4545916"/>
            <a:ext cx="5342260" cy="154388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Goal</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Train a model </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to score student essays.</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Reduce</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the high </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cost</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and </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time</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required for manual grading.</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3.Overcome grading challenges to make essay scoring </a:t>
            </a:r>
            <a:r>
              <a:rPr kumimoji="0" lang="en-US" altLang="zh-CN" sz="16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 viable key indicator </a:t>
            </a: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of student learning.</a:t>
            </a:r>
          </a:p>
        </p:txBody>
      </p:sp>
      <p:sp>
        <p:nvSpPr>
          <p:cNvPr id="26" name="文本框 25">
            <a:extLst>
              <a:ext uri="{FF2B5EF4-FFF2-40B4-BE49-F238E27FC236}">
                <a16:creationId xmlns:a16="http://schemas.microsoft.com/office/drawing/2014/main" id="{42AC88B9-A626-A57C-A47B-12035103A39E}"/>
              </a:ext>
            </a:extLst>
          </p:cNvPr>
          <p:cNvSpPr txBox="1"/>
          <p:nvPr/>
        </p:nvSpPr>
        <p:spPr>
          <a:xfrm>
            <a:off x="2206227" y="1255254"/>
            <a:ext cx="740299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Improve upon essay scoring algorithms to improve student learning outcomes</a:t>
            </a:r>
          </a:p>
        </p:txBody>
      </p:sp>
      <p:pic>
        <p:nvPicPr>
          <p:cNvPr id="7" name="图片 6">
            <a:extLst>
              <a:ext uri="{FF2B5EF4-FFF2-40B4-BE49-F238E27FC236}">
                <a16:creationId xmlns:a16="http://schemas.microsoft.com/office/drawing/2014/main" id="{5FCCAAE3-149A-2E26-3FE0-021CB75309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896" y="2459089"/>
            <a:ext cx="5497094" cy="2748547"/>
          </a:xfrm>
          <a:prstGeom prst="rect">
            <a:avLst/>
          </a:prstGeom>
        </p:spPr>
      </p:pic>
    </p:spTree>
    <p:extLst>
      <p:ext uri="{BB962C8B-B14F-4D97-AF65-F5344CB8AC3E}">
        <p14:creationId xmlns:p14="http://schemas.microsoft.com/office/powerpoint/2010/main" val="1047948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477734" y="705678"/>
            <a:ext cx="5236533" cy="589921"/>
            <a:chOff x="3477732" y="705678"/>
            <a:chExt cx="5236533" cy="589921"/>
          </a:xfrm>
        </p:grpSpPr>
        <p:sp>
          <p:nvSpPr>
            <p:cNvPr id="3" name="文本框 2"/>
            <p:cNvSpPr txBox="1"/>
            <p:nvPr/>
          </p:nvSpPr>
          <p:spPr>
            <a:xfrm>
              <a:off x="3477732" y="705678"/>
              <a:ext cx="4995767" cy="438582"/>
            </a:xfrm>
            <a:prstGeom prst="rect">
              <a:avLst/>
            </a:prstGeom>
            <a:noFill/>
          </p:spPr>
          <p:txBody>
            <a:bodyPr wrap="square" lIns="68580" tIns="34290" rIns="68580" bIns="34290" rtlCol="0">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The Input and Output of the Task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sym typeface="+mn-lt"/>
              </a:endParaRPr>
            </a:p>
          </p:txBody>
        </p:sp>
        <p:cxnSp>
          <p:nvCxnSpPr>
            <p:cNvPr id="4" name="直接连接符 3"/>
            <p:cNvCxnSpPr>
              <a:cxnSpLocks/>
            </p:cNvCxnSpPr>
            <p:nvPr/>
          </p:nvCxnSpPr>
          <p:spPr>
            <a:xfrm>
              <a:off x="3718498" y="1295599"/>
              <a:ext cx="4995767" cy="0"/>
            </a:xfrm>
            <a:prstGeom prst="line">
              <a:avLst/>
            </a:prstGeom>
            <a:noFill/>
            <a:ln w="9525" cap="flat" cmpd="sng" algn="ctr">
              <a:solidFill>
                <a:schemeClr val="tx1">
                  <a:lumMod val="75000"/>
                  <a:lumOff val="25000"/>
                </a:schemeClr>
              </a:solidFill>
              <a:prstDash val="solid"/>
              <a:miter lim="800000"/>
            </a:ln>
            <a:effectLst/>
          </p:spPr>
        </p:cxnSp>
      </p:grpSp>
      <p:sp>
        <p:nvSpPr>
          <p:cNvPr id="21" name="文本框 20">
            <a:extLst>
              <a:ext uri="{FF2B5EF4-FFF2-40B4-BE49-F238E27FC236}">
                <a16:creationId xmlns:a16="http://schemas.microsoft.com/office/drawing/2014/main" id="{4D5F8EA8-BCEF-C496-E989-27E0893B09F9}"/>
              </a:ext>
            </a:extLst>
          </p:cNvPr>
          <p:cNvSpPr txBox="1"/>
          <p:nvPr/>
        </p:nvSpPr>
        <p:spPr>
          <a:xfrm>
            <a:off x="518118" y="1892002"/>
            <a:ext cx="4995767" cy="375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000" b="1" i="0" u="none" strike="noStrike" kern="100" cap="none" spc="0" normalizeH="0" baseline="0" noProof="0" dirty="0">
                <a:ln>
                  <a:noFill/>
                </a:ln>
                <a:solidFill>
                  <a:srgbClr val="0D0D0D"/>
                </a:solidFill>
                <a:effectLst/>
                <a:uLnTx/>
                <a:uFillTx/>
                <a:latin typeface="Times New Roman" panose="02020603050405020304" pitchFamily="18" charset="0"/>
                <a:ea typeface="等线" panose="02010600030101010101" pitchFamily="2" charset="-122"/>
                <a:cs typeface="Times New Roman" panose="02020603050405020304" pitchFamily="18" charset="0"/>
              </a:rPr>
              <a:t>Input</a:t>
            </a:r>
            <a:r>
              <a:rPr kumimoji="0" lang="en-US" altLang="zh-CN" sz="2000" b="1" i="0" u="none" strike="noStrike" kern="100" cap="none" spc="0" normalizeH="0" baseline="0" noProof="0" dirty="0">
                <a:ln>
                  <a:noFill/>
                </a:ln>
                <a:solidFill>
                  <a:srgbClr val="3C4043"/>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r>
              <a:rPr kumimoji="0" lang="en-US" altLang="zh-CN" sz="2000" b="0" i="0" u="none" strike="noStrike" kern="100" cap="none" spc="0" normalizeH="0" baseline="0" noProof="0" dirty="0">
                <a:ln>
                  <a:noFill/>
                </a:ln>
                <a:solidFill>
                  <a:srgbClr val="3C4043"/>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r>
              <a:rPr kumimoji="0" lang="en-US" altLang="zh-CN" sz="2000" b="1" i="0" u="none" strike="noStrike" kern="1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 body text </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zh-CN" altLang="zh-CN" sz="2000" b="0" i="0" u="none" strike="noStrike" kern="1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000" b="1" i="0" u="none" strike="noStrike" kern="100" cap="none" spc="0" normalizeH="0" baseline="0" noProof="0" dirty="0">
                <a:ln>
                  <a:noFill/>
                </a:ln>
                <a:solidFill>
                  <a:srgbClr val="3C4043"/>
                </a:solidFill>
                <a:effectLst/>
                <a:uLnTx/>
                <a:uFillTx/>
                <a:latin typeface="Times New Roman" panose="02020603050405020304" pitchFamily="18" charset="0"/>
                <a:ea typeface="等线" panose="02010600030101010101" pitchFamily="2" charset="-122"/>
                <a:cs typeface="Times New Roman" panose="02020603050405020304" pitchFamily="18" charset="0"/>
              </a:rPr>
              <a:t>Output</a:t>
            </a:r>
            <a:r>
              <a:rPr kumimoji="0" lang="en-US" altLang="zh-CN" sz="2000" b="0" i="0" u="none" strike="noStrike" kern="100" cap="none" spc="0" normalizeH="0" baseline="0" noProof="0" dirty="0">
                <a:ln>
                  <a:noFill/>
                </a:ln>
                <a:solidFill>
                  <a:srgbClr val="3C4043"/>
                </a:solidFill>
                <a:effectLst/>
                <a:uLnTx/>
                <a:uFillTx/>
                <a:latin typeface="Times New Roman" panose="02020603050405020304" pitchFamily="18" charset="0"/>
                <a:ea typeface="等线" panose="02010600030101010101" pitchFamily="2" charset="-122"/>
                <a:cs typeface="Times New Roman" panose="02020603050405020304" pitchFamily="18" charset="0"/>
              </a:rPr>
              <a:t>:</a:t>
            </a:r>
            <a:r>
              <a:rPr kumimoji="0" lang="en-US" altLang="zh-CN" sz="2000" b="0" i="0" u="none" strike="noStrike" kern="1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Holistic score of the essay on a </a:t>
            </a:r>
            <a:r>
              <a:rPr kumimoji="0" lang="en-US" altLang="zh-CN" sz="2000" b="1" i="0" u="none" strike="noStrike" kern="1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1-6</a:t>
            </a:r>
            <a:r>
              <a:rPr kumimoji="0" lang="en-US" altLang="zh-CN" sz="2000" b="0" i="0" u="none" strike="noStrike" kern="1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scale</a:t>
            </a:r>
          </a:p>
          <a:p>
            <a:pPr marL="0" marR="0" lvl="0" indent="0" algn="just" defTabSz="914400" rtl="0" eaLnBrk="1" fontAlgn="auto" latinLnBrk="0" hangingPunct="1">
              <a:lnSpc>
                <a:spcPct val="120000"/>
              </a:lnSpc>
              <a:spcBef>
                <a:spcPts val="0"/>
              </a:spcBef>
              <a:spcAft>
                <a:spcPts val="0"/>
              </a:spcAft>
              <a:buClrTx/>
              <a:buSzTx/>
              <a:buFontTx/>
              <a:buNone/>
              <a:tabLst/>
              <a:defRPr/>
            </a:pPr>
            <a:endParaRPr kumimoji="0" lang="en-US" altLang="zh-CN" sz="2000" b="0" i="0" u="none" strike="noStrike" kern="1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000" b="0" i="0" u="none" strike="noStrike" kern="1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The scoring criteria have been officially established for each score range, to some extent making the training set </a:t>
            </a:r>
            <a:r>
              <a:rPr kumimoji="0" lang="en-US" altLang="zh-CN" sz="2000" b="1" i="0" u="none" strike="noStrike" kern="1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objective</a:t>
            </a:r>
            <a:r>
              <a:rPr kumimoji="0" lang="en-US" altLang="zh-CN" sz="2000" b="0" i="0" u="none" strike="noStrike" kern="1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For example, </a:t>
            </a:r>
            <a:r>
              <a:rPr kumimoji="0" lang="en-US" altLang="zh-CN" sz="2000" b="1" i="0" u="none" strike="noStrike" kern="1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the scoring criteria </a:t>
            </a:r>
            <a:r>
              <a:rPr kumimoji="0" lang="en-US" altLang="zh-CN" sz="2000" b="0" i="0" u="none" strike="noStrike" kern="1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for 6 and 5 points are as follows:</a:t>
            </a:r>
            <a:endParaRPr kumimoji="0" lang="zh-CN" altLang="zh-CN" sz="2000" b="0" i="0" u="none" strike="noStrike" kern="1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aphicFrame>
        <p:nvGraphicFramePr>
          <p:cNvPr id="23" name="表格 22">
            <a:extLst>
              <a:ext uri="{FF2B5EF4-FFF2-40B4-BE49-F238E27FC236}">
                <a16:creationId xmlns:a16="http://schemas.microsoft.com/office/drawing/2014/main" id="{051CCE89-4C46-9B8B-3196-F8A9AA2098CD}"/>
              </a:ext>
            </a:extLst>
          </p:cNvPr>
          <p:cNvGraphicFramePr>
            <a:graphicFrameLocks noGrp="1"/>
          </p:cNvGraphicFramePr>
          <p:nvPr/>
        </p:nvGraphicFramePr>
        <p:xfrm>
          <a:off x="6479666" y="1521161"/>
          <a:ext cx="5519174" cy="5151120"/>
        </p:xfrm>
        <a:graphic>
          <a:graphicData uri="http://schemas.openxmlformats.org/drawingml/2006/table">
            <a:tbl>
              <a:tblPr firstRow="1" bandRow="1">
                <a:tableStyleId>{5C22544A-7EE6-4342-B048-85BDC9FD1C3A}</a:tableStyleId>
              </a:tblPr>
              <a:tblGrid>
                <a:gridCol w="2759587">
                  <a:extLst>
                    <a:ext uri="{9D8B030D-6E8A-4147-A177-3AD203B41FA5}">
                      <a16:colId xmlns:a16="http://schemas.microsoft.com/office/drawing/2014/main" val="2794949054"/>
                    </a:ext>
                  </a:extLst>
                </a:gridCol>
                <a:gridCol w="2759587">
                  <a:extLst>
                    <a:ext uri="{9D8B030D-6E8A-4147-A177-3AD203B41FA5}">
                      <a16:colId xmlns:a16="http://schemas.microsoft.com/office/drawing/2014/main" val="2044683612"/>
                    </a:ext>
                  </a:extLst>
                </a:gridCol>
              </a:tblGrid>
              <a:tr h="0">
                <a:tc>
                  <a:txBody>
                    <a:bodyPr/>
                    <a:lstStyle/>
                    <a:p>
                      <a:pPr algn="ctr"/>
                      <a:r>
                        <a:rPr lang="en-US" altLang="zh-CN" dirty="0">
                          <a:solidFill>
                            <a:schemeClr val="tx1"/>
                          </a:solidFill>
                        </a:rPr>
                        <a:t>SCORE OF 6</a:t>
                      </a:r>
                      <a:endParaRPr lang="zh-CN" altLang="en-US" dirty="0">
                        <a:solidFill>
                          <a:schemeClr val="tx1"/>
                        </a:solidFill>
                      </a:endParaRPr>
                    </a:p>
                  </a:txBody>
                  <a:tcPr>
                    <a:solidFill>
                      <a:schemeClr val="bg1">
                        <a:lumMod val="85000"/>
                      </a:schemeClr>
                    </a:solidFill>
                  </a:tcPr>
                </a:tc>
                <a:tc>
                  <a:txBody>
                    <a:bodyPr/>
                    <a:lstStyle/>
                    <a:p>
                      <a:pPr algn="ctr"/>
                      <a:r>
                        <a:rPr lang="en-US" altLang="zh-CN" dirty="0">
                          <a:solidFill>
                            <a:schemeClr val="tx1"/>
                          </a:solidFill>
                        </a:rPr>
                        <a:t>SCORE OF 5</a:t>
                      </a:r>
                      <a:endParaRPr lang="zh-CN" altLang="en-US" dirty="0">
                        <a:ln>
                          <a:solidFill>
                            <a:schemeClr val="tx1"/>
                          </a:solidFill>
                          <a:miter lim="800000"/>
                        </a:ln>
                        <a:solidFill>
                          <a:schemeClr val="tx1"/>
                        </a:solidFill>
                      </a:endParaRPr>
                    </a:p>
                  </a:txBody>
                  <a:tcPr>
                    <a:solidFill>
                      <a:schemeClr val="bg1">
                        <a:lumMod val="85000"/>
                      </a:schemeClr>
                    </a:solidFill>
                  </a:tcPr>
                </a:tc>
                <a:extLst>
                  <a:ext uri="{0D108BD9-81ED-4DB2-BD59-A6C34878D82A}">
                    <a16:rowId xmlns:a16="http://schemas.microsoft.com/office/drawing/2014/main" val="1745199328"/>
                  </a:ext>
                </a:extLst>
              </a:tr>
              <a:tr h="2106323">
                <a:tc>
                  <a:txBody>
                    <a:bodyPr/>
                    <a:lstStyle/>
                    <a:p>
                      <a:pPr algn="l"/>
                      <a:r>
                        <a:rPr lang="en-US" altLang="zh-CN" sz="1400" dirty="0">
                          <a:latin typeface="Times New Roman" panose="02020603050405020304" pitchFamily="18" charset="0"/>
                          <a:cs typeface="Times New Roman" panose="02020603050405020304" pitchFamily="18" charset="0"/>
                        </a:rPr>
                        <a:t>An essay in this category demonstrates clear and consistent mastery, although it may have a few minor errors. A typical essay effectively and insightfully develops a point of view on the issue and demonstrates outstanding critical thinking; the essay uses clearly appropriate examples, reasons, and other evidence taken from the source text(s) to support its position; the essay is well organized and clearly focused, demonstrating clear coherence and smooth progression of ideas; the essay exhibits skillful use of language, using a varied, accurate, and apt vocabulary and demonstrates meaningful variety in sentence structure; the essay is free of most errors in grammar, usage, and mechanics.</a:t>
                      </a:r>
                      <a:endParaRPr lang="zh-CN" altLang="en-US" sz="1400" dirty="0">
                        <a:solidFill>
                          <a:schemeClr val="tx1"/>
                        </a:solidFill>
                        <a:latin typeface="Times New Roman" panose="02020603050405020304" pitchFamily="18" charset="0"/>
                        <a:cs typeface="Times New Roman" panose="02020603050405020304" pitchFamily="18" charset="0"/>
                      </a:endParaRPr>
                    </a:p>
                  </a:txBody>
                  <a:tcPr>
                    <a:solidFill>
                      <a:schemeClr val="bg1">
                        <a:lumMod val="85000"/>
                      </a:schemeClr>
                    </a:solidFill>
                  </a:tcPr>
                </a:tc>
                <a:tc>
                  <a:txBody>
                    <a:bodyPr/>
                    <a:lstStyle/>
                    <a:p>
                      <a:pPr algn="l"/>
                      <a:r>
                        <a:rPr lang="en-US" altLang="zh-CN" sz="1400" dirty="0">
                          <a:latin typeface="Times New Roman" panose="02020603050405020304" pitchFamily="18" charset="0"/>
                          <a:cs typeface="Times New Roman" panose="02020603050405020304" pitchFamily="18" charset="0"/>
                        </a:rPr>
                        <a:t>An essay in this category demonstrates reasonably consistent mastery, although it will have occasional errors or lapses in quality. A typical essay effectively develops a point of view on the issue and demonstrates strong critical thinking; the essay generally using appropriate examples, reasons, and other evidence taken from the source text(s) to support its position; the essay is well organized and focused, demonstrating coherence and progression of ideas; the essay exhibits facility in the use of language, using appropriate vocabulary demonstrates variety in sentence structure; the essay is generally free of most errors in grammar, usage, and mechanics. </a:t>
                      </a:r>
                      <a:endParaRPr lang="zh-CN" altLang="en-US" sz="1400" dirty="0">
                        <a:ln>
                          <a:solidFill>
                            <a:schemeClr val="tx1"/>
                          </a:solidFill>
                          <a:miter lim="800000"/>
                        </a:ln>
                        <a:solidFill>
                          <a:schemeClr val="tx1"/>
                        </a:solidFill>
                        <a:latin typeface="Times New Roman" panose="02020603050405020304" pitchFamily="18" charset="0"/>
                        <a:cs typeface="Times New Roman" panose="02020603050405020304" pitchFamily="18" charset="0"/>
                      </a:endParaRPr>
                    </a:p>
                  </a:txBody>
                  <a:tcPr>
                    <a:solidFill>
                      <a:schemeClr val="bg1">
                        <a:lumMod val="85000"/>
                      </a:schemeClr>
                    </a:solidFill>
                  </a:tcPr>
                </a:tc>
                <a:extLst>
                  <a:ext uri="{0D108BD9-81ED-4DB2-BD59-A6C34878D82A}">
                    <a16:rowId xmlns:a16="http://schemas.microsoft.com/office/drawing/2014/main" val="2908386339"/>
                  </a:ext>
                </a:extLst>
              </a:tr>
            </a:tbl>
          </a:graphicData>
        </a:graphic>
      </p:graphicFrame>
    </p:spTree>
    <p:extLst>
      <p:ext uri="{BB962C8B-B14F-4D97-AF65-F5344CB8AC3E}">
        <p14:creationId xmlns:p14="http://schemas.microsoft.com/office/powerpoint/2010/main" val="268220302"/>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87430" y="521386"/>
            <a:ext cx="4203131" cy="442491"/>
            <a:chOff x="716110" y="457998"/>
            <a:chExt cx="4203131" cy="442491"/>
          </a:xfrm>
        </p:grpSpPr>
        <p:sp>
          <p:nvSpPr>
            <p:cNvPr id="3" name="文本框 2"/>
            <p:cNvSpPr txBox="1"/>
            <p:nvPr/>
          </p:nvSpPr>
          <p:spPr>
            <a:xfrm>
              <a:off x="716110" y="457998"/>
              <a:ext cx="4203131" cy="438582"/>
            </a:xfrm>
            <a:prstGeom prst="rect">
              <a:avLst/>
            </a:prstGeom>
            <a:noFill/>
          </p:spPr>
          <p:txBody>
            <a:bodyPr wrap="square" lIns="68580" tIns="34290" rIns="68580" bIns="34290"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微软雅黑"/>
                  <a:ea typeface="微软雅黑"/>
                  <a:cs typeface="+mn-ea"/>
                  <a:sym typeface="+mn-lt"/>
                </a:rPr>
                <a:t>Example</a:t>
              </a:r>
              <a:endParaRPr kumimoji="0" lang="zh-CN" altLang="en-US" sz="2400" b="1" i="0" u="none" strike="noStrike" kern="1200" cap="none" spc="0" normalizeH="0" baseline="0" noProof="0" dirty="0">
                <a:ln>
                  <a:noFill/>
                </a:ln>
                <a:solidFill>
                  <a:prstClr val="black"/>
                </a:solidFill>
                <a:effectLst/>
                <a:uLnTx/>
                <a:uFillTx/>
                <a:latin typeface="微软雅黑"/>
                <a:ea typeface="微软雅黑"/>
                <a:cs typeface="+mn-ea"/>
                <a:sym typeface="+mn-lt"/>
              </a:endParaRPr>
            </a:p>
          </p:txBody>
        </p:sp>
        <p:cxnSp>
          <p:nvCxnSpPr>
            <p:cNvPr id="4" name="直接连接符 3"/>
            <p:cNvCxnSpPr>
              <a:cxnSpLocks/>
            </p:cNvCxnSpPr>
            <p:nvPr/>
          </p:nvCxnSpPr>
          <p:spPr>
            <a:xfrm flipV="1">
              <a:off x="774478" y="896580"/>
              <a:ext cx="1370355" cy="3909"/>
            </a:xfrm>
            <a:prstGeom prst="line">
              <a:avLst/>
            </a:prstGeom>
            <a:noFill/>
            <a:ln w="9525" cap="flat" cmpd="sng" algn="ctr">
              <a:solidFill>
                <a:schemeClr val="tx1">
                  <a:lumMod val="85000"/>
                  <a:lumOff val="15000"/>
                </a:schemeClr>
              </a:solidFill>
              <a:prstDash val="solid"/>
              <a:miter lim="800000"/>
            </a:ln>
            <a:effectLst/>
          </p:spPr>
        </p:cxnSp>
      </p:grpSp>
      <p:graphicFrame>
        <p:nvGraphicFramePr>
          <p:cNvPr id="28" name="表格 27">
            <a:extLst>
              <a:ext uri="{FF2B5EF4-FFF2-40B4-BE49-F238E27FC236}">
                <a16:creationId xmlns:a16="http://schemas.microsoft.com/office/drawing/2014/main" id="{9BB3ABE4-50F1-D134-3514-67F6C3DAD7D0}"/>
              </a:ext>
            </a:extLst>
          </p:cNvPr>
          <p:cNvGraphicFramePr>
            <a:graphicFrameLocks noGrp="1"/>
          </p:cNvGraphicFramePr>
          <p:nvPr/>
        </p:nvGraphicFramePr>
        <p:xfrm>
          <a:off x="973393" y="1205774"/>
          <a:ext cx="10441858" cy="4705500"/>
        </p:xfrm>
        <a:graphic>
          <a:graphicData uri="http://schemas.openxmlformats.org/drawingml/2006/table">
            <a:tbl>
              <a:tblPr firstRow="1" bandRow="1">
                <a:tableStyleId>{5C22544A-7EE6-4342-B048-85BDC9FD1C3A}</a:tableStyleId>
              </a:tblPr>
              <a:tblGrid>
                <a:gridCol w="2140780">
                  <a:extLst>
                    <a:ext uri="{9D8B030D-6E8A-4147-A177-3AD203B41FA5}">
                      <a16:colId xmlns:a16="http://schemas.microsoft.com/office/drawing/2014/main" val="1968520420"/>
                    </a:ext>
                  </a:extLst>
                </a:gridCol>
                <a:gridCol w="8301078">
                  <a:extLst>
                    <a:ext uri="{9D8B030D-6E8A-4147-A177-3AD203B41FA5}">
                      <a16:colId xmlns:a16="http://schemas.microsoft.com/office/drawing/2014/main" val="1348924722"/>
                    </a:ext>
                  </a:extLst>
                </a:gridCol>
              </a:tblGrid>
              <a:tr h="265856">
                <a:tc>
                  <a:txBody>
                    <a:bodyPr/>
                    <a:lstStyle/>
                    <a:p>
                      <a:pPr algn="ctr"/>
                      <a:r>
                        <a:rPr lang="en-US" altLang="zh-CN" sz="180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rPr>
                        <a:t>The Score Of The Essay </a:t>
                      </a:r>
                      <a:endParaRPr lang="zh-CN" altLang="en-US" dirty="0">
                        <a:solidFill>
                          <a:schemeClr val="tx1"/>
                        </a:solidFill>
                      </a:endParaRPr>
                    </a:p>
                  </a:txBody>
                  <a:tcPr marT="90000" marB="72000">
                    <a:solidFill>
                      <a:schemeClr val="bg1">
                        <a:lumMod val="85000"/>
                      </a:schemeClr>
                    </a:solidFill>
                  </a:tcPr>
                </a:tc>
                <a:tc>
                  <a:txBody>
                    <a:bodyPr/>
                    <a:lstStyle/>
                    <a:p>
                      <a:pPr algn="ctr">
                        <a:lnSpc>
                          <a:spcPct val="150000"/>
                        </a:lnSpc>
                      </a:pPr>
                      <a:r>
                        <a:rPr lang="en-US" altLang="zh-CN" sz="1800" b="1"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rPr>
                        <a:t>The Body</a:t>
                      </a:r>
                      <a:r>
                        <a:rPr lang="en-US" altLang="zh-CN" sz="1800" b="1" kern="100" dirty="0">
                          <a:solidFill>
                            <a:srgbClr val="3C4043"/>
                          </a:solidFill>
                          <a:effectLst/>
                          <a:latin typeface="Times New Roman" panose="02020603050405020304" pitchFamily="18" charset="0"/>
                          <a:ea typeface="等线" panose="02010600030101010101" pitchFamily="2" charset="-122"/>
                          <a:cs typeface="Times New Roman" panose="02020603050405020304" pitchFamily="18" charset="0"/>
                        </a:rPr>
                        <a:t> </a:t>
                      </a:r>
                      <a:r>
                        <a:rPr lang="en-US" altLang="zh-CN" sz="1800" b="1"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rPr>
                        <a:t>Text</a:t>
                      </a:r>
                      <a:r>
                        <a:rPr lang="en-US" altLang="zh-CN" sz="1800" b="1" kern="100" dirty="0">
                          <a:solidFill>
                            <a:srgbClr val="3C4043"/>
                          </a:solidFill>
                          <a:effectLst/>
                          <a:latin typeface="Times New Roman" panose="02020603050405020304" pitchFamily="18" charset="0"/>
                          <a:ea typeface="等线" panose="02010600030101010101" pitchFamily="2" charset="-122"/>
                          <a:cs typeface="Times New Roman" panose="02020603050405020304" pitchFamily="18" charset="0"/>
                        </a:rPr>
                        <a:t> </a:t>
                      </a:r>
                      <a:endParaRPr lang="zh-CN" altLang="en-US" dirty="0">
                        <a:solidFill>
                          <a:schemeClr val="tx1"/>
                        </a:solidFill>
                      </a:endParaRPr>
                    </a:p>
                  </a:txBody>
                  <a:tcPr marT="90000" marB="72000">
                    <a:solidFill>
                      <a:schemeClr val="bg1">
                        <a:lumMod val="85000"/>
                      </a:schemeClr>
                    </a:solidFill>
                  </a:tcPr>
                </a:tc>
                <a:extLst>
                  <a:ext uri="{0D108BD9-81ED-4DB2-BD59-A6C34878D82A}">
                    <a16:rowId xmlns:a16="http://schemas.microsoft.com/office/drawing/2014/main" val="2653907163"/>
                  </a:ext>
                </a:extLst>
              </a:tr>
              <a:tr h="1017630">
                <a:tc>
                  <a:txBody>
                    <a:bodyPr/>
                    <a:lstStyle/>
                    <a:p>
                      <a:pPr algn="ctr"/>
                      <a:endParaRPr lang="en-US" altLang="zh-CN" dirty="0">
                        <a:solidFill>
                          <a:schemeClr val="tx1"/>
                        </a:solidFill>
                      </a:endParaRPr>
                    </a:p>
                    <a:p>
                      <a:pPr algn="ctr"/>
                      <a:r>
                        <a:rPr lang="en-US" altLang="zh-CN" dirty="0">
                          <a:solidFill>
                            <a:schemeClr val="tx1"/>
                          </a:solidFill>
                        </a:rPr>
                        <a:t>3</a:t>
                      </a:r>
                      <a:endParaRPr lang="zh-CN" altLang="en-US" dirty="0">
                        <a:solidFill>
                          <a:schemeClr val="tx1"/>
                        </a:solidFill>
                      </a:endParaRPr>
                    </a:p>
                  </a:txBody>
                  <a:tcPr marT="90000" marB="72000">
                    <a:solidFill>
                      <a:schemeClr val="bg1">
                        <a:lumMod val="85000"/>
                      </a:schemeClr>
                    </a:solidFill>
                  </a:tcPr>
                </a:tc>
                <a:tc>
                  <a:txBody>
                    <a:bodyPr/>
                    <a:lstStyle/>
                    <a:p>
                      <a:pPr algn="l"/>
                      <a:r>
                        <a:rPr lang="en-US" altLang="zh-CN" sz="1000" dirty="0">
                          <a:solidFill>
                            <a:schemeClr val="tx1"/>
                          </a:solidFill>
                          <a:latin typeface="Times New Roman" panose="02020603050405020304" pitchFamily="18" charset="0"/>
                          <a:cs typeface="Times New Roman" panose="02020603050405020304" pitchFamily="18" charset="0"/>
                        </a:rPr>
                        <a:t>Space travel is something we people of Earth have just only begun to tinker with. Even after our many launches of aircrafts into the atmosphere, we know very little of what it truly out in the endless void of space. In the article, "The Challenge of Exploring Venus," the author suggests that studying Venus specifically is a worthy pursuit despite the dangers it presents. The author would be correct in this statement as we humans know very little about the planet because of numerous factors making it a difficult planet to study, but solving those problems would lead into advancement. Including that </a:t>
                      </a:r>
                      <a:r>
                        <a:rPr lang="en-US" altLang="zh-CN" sz="1000" dirty="0" err="1">
                          <a:solidFill>
                            <a:schemeClr val="tx1"/>
                          </a:solidFill>
                          <a:latin typeface="Times New Roman" panose="02020603050405020304" pitchFamily="18" charset="0"/>
                          <a:cs typeface="Times New Roman" panose="02020603050405020304" pitchFamily="18" charset="0"/>
                        </a:rPr>
                        <a:t>becuase</a:t>
                      </a:r>
                      <a:r>
                        <a:rPr lang="en-US" altLang="zh-CN" sz="1000" dirty="0">
                          <a:solidFill>
                            <a:schemeClr val="tx1"/>
                          </a:solidFill>
                          <a:latin typeface="Times New Roman" panose="02020603050405020304" pitchFamily="18" charset="0"/>
                          <a:cs typeface="Times New Roman" panose="02020603050405020304" pitchFamily="18" charset="0"/>
                        </a:rPr>
                        <a:t> the planet is closely related to earth, that could mean it supported life long ago. Lastly that striving to meet the challenge presented, despite the roadblocks, would lead us into many equally intimidating endeavors......</a:t>
                      </a:r>
                    </a:p>
                  </a:txBody>
                  <a:tcPr marT="90000" marB="72000">
                    <a:solidFill>
                      <a:schemeClr val="bg1">
                        <a:lumMod val="85000"/>
                      </a:schemeClr>
                    </a:solidFill>
                  </a:tcPr>
                </a:tc>
                <a:extLst>
                  <a:ext uri="{0D108BD9-81ED-4DB2-BD59-A6C34878D82A}">
                    <a16:rowId xmlns:a16="http://schemas.microsoft.com/office/drawing/2014/main" val="1640466729"/>
                  </a:ext>
                </a:extLst>
              </a:tr>
              <a:tr h="467898">
                <a:tc>
                  <a:txBody>
                    <a:bodyPr/>
                    <a:lstStyle/>
                    <a:p>
                      <a:pPr algn="ctr"/>
                      <a:endParaRPr lang="en-US" altLang="zh-CN" dirty="0">
                        <a:solidFill>
                          <a:schemeClr val="tx1"/>
                        </a:solidFill>
                      </a:endParaRPr>
                    </a:p>
                    <a:p>
                      <a:pPr algn="ctr"/>
                      <a:r>
                        <a:rPr lang="en-US" altLang="zh-CN" dirty="0">
                          <a:solidFill>
                            <a:schemeClr val="tx1"/>
                          </a:solidFill>
                        </a:rPr>
                        <a:t>1</a:t>
                      </a:r>
                      <a:endParaRPr lang="zh-CN" altLang="en-US" dirty="0">
                        <a:solidFill>
                          <a:schemeClr val="tx1"/>
                        </a:solidFill>
                      </a:endParaRPr>
                    </a:p>
                  </a:txBody>
                  <a:tcPr marT="90000" marB="72000">
                    <a:solidFill>
                      <a:schemeClr val="bg1">
                        <a:lumMod val="85000"/>
                      </a:schemeClr>
                    </a:solidFill>
                  </a:tcPr>
                </a:tc>
                <a:tc>
                  <a:txBody>
                    <a:bodyPr/>
                    <a:lstStyle/>
                    <a:p>
                      <a:pPr algn="l" fontAlgn="ctr"/>
                      <a:r>
                        <a:rPr lang="en-US" sz="1000" b="0" i="0" u="none" strike="noStrike"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Well in my favor I would have the Electoral College reason why is because it keeps all the votes for the presidential election and etc. And each or any electors in your state has his or her own group of electors. And the electors are generally chosen by the candidate's political party , but state laws vary on how the electors are selected and what is their responsibilities are. But the Electoral College it consists or has 538 electors but the majority is to have 270 s that you can vote for the president. By the way once you have voted for the president or senate or </a:t>
                      </a:r>
                      <a:r>
                        <a:rPr lang="en-US" sz="1000" b="0" i="0" u="none" strike="noStrike" dirty="0" err="1">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governer</a:t>
                      </a:r>
                      <a:r>
                        <a:rPr lang="en-US" sz="1000" b="0" i="0" u="none" strike="noStrike"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etc. The system will count how many popular votes or from a vote from Congress and the qualified citizens. But my reason for the electoral college to stay is that once you have voted you can count from the system or it does it for you but if you </a:t>
                      </a:r>
                      <a:r>
                        <a:rPr lang="en-US" sz="1000" b="0" i="0" u="none" strike="noStrike" dirty="0" err="1">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dont</a:t>
                      </a:r>
                      <a:r>
                        <a:rPr lang="en-US" sz="1000" b="0" i="0" u="none" strike="noStrike"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want the electoral college then it will take </a:t>
                      </a:r>
                      <a:r>
                        <a:rPr lang="en-US" sz="1000" b="0" i="0" u="none" strike="noStrike" dirty="0" err="1">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alot</a:t>
                      </a:r>
                      <a:r>
                        <a:rPr lang="en-US" sz="1000" b="0" i="0" u="none" strike="noStrike"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longer for the votes to be process and be accumulated……</a:t>
                      </a:r>
                      <a:endParaRPr lang="zh-CN" altLang="en-US" sz="1000" b="0" i="0" u="none" strike="noStrike"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7620" marR="7620" marT="7620" marB="0" anchor="ctr">
                    <a:solidFill>
                      <a:schemeClr val="bg1">
                        <a:lumMod val="85000"/>
                      </a:schemeClr>
                    </a:solidFill>
                  </a:tcPr>
                </a:tc>
                <a:extLst>
                  <a:ext uri="{0D108BD9-81ED-4DB2-BD59-A6C34878D82A}">
                    <a16:rowId xmlns:a16="http://schemas.microsoft.com/office/drawing/2014/main" val="2245642493"/>
                  </a:ext>
                </a:extLst>
              </a:tr>
              <a:tr h="361338">
                <a:tc>
                  <a:txBody>
                    <a:bodyPr/>
                    <a:lstStyle/>
                    <a:p>
                      <a:pPr algn="ctr"/>
                      <a:endParaRPr lang="en-US" altLang="zh-CN" dirty="0">
                        <a:solidFill>
                          <a:schemeClr val="tx1"/>
                        </a:solidFill>
                      </a:endParaRPr>
                    </a:p>
                    <a:p>
                      <a:pPr algn="ctr"/>
                      <a:r>
                        <a:rPr lang="en-US" altLang="zh-CN" dirty="0">
                          <a:solidFill>
                            <a:schemeClr val="tx1"/>
                          </a:solidFill>
                        </a:rPr>
                        <a:t>3</a:t>
                      </a:r>
                      <a:endParaRPr lang="zh-CN" altLang="en-US" dirty="0">
                        <a:solidFill>
                          <a:schemeClr val="tx1"/>
                        </a:solidFill>
                      </a:endParaRPr>
                    </a:p>
                  </a:txBody>
                  <a:tcPr marT="90000" marB="72000">
                    <a:solidFill>
                      <a:schemeClr val="bg1">
                        <a:lumMod val="85000"/>
                      </a:schemeClr>
                    </a:solidFill>
                  </a:tcPr>
                </a:tc>
                <a:tc>
                  <a:txBody>
                    <a:bodyPr/>
                    <a:lstStyle/>
                    <a:p>
                      <a:pPr algn="l" fontAlgn="ctr"/>
                      <a:r>
                        <a:rPr lang="en-US" sz="1000" b="0" i="0" u="none" strike="noStrike"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In this </a:t>
                      </a:r>
                      <a:r>
                        <a:rPr lang="en-US" sz="1000" b="0" i="0" u="none" strike="noStrike" dirty="0" err="1">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ariticle</a:t>
                      </a:r>
                      <a:r>
                        <a:rPr lang="en-US" sz="1000" b="0" i="0" u="none" strike="noStrike"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the </a:t>
                      </a:r>
                      <a:r>
                        <a:rPr lang="en-US" sz="1000" b="0" i="0" u="none" strike="noStrike" dirty="0" err="1">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authour</a:t>
                      </a:r>
                      <a:r>
                        <a:rPr lang="en-US" sz="1000" b="0" i="0" u="none" strike="noStrike"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provides details on why Venus is worthy to be research </a:t>
                      </a:r>
                      <a:r>
                        <a:rPr lang="en-US" sz="1000" b="0" i="0" u="none" strike="noStrike" dirty="0" err="1">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eventhough</a:t>
                      </a:r>
                      <a:r>
                        <a:rPr lang="en-US" sz="1000" b="0" i="0" u="none" strike="noStrike"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it provide a great risk. The </a:t>
                      </a:r>
                      <a:r>
                        <a:rPr lang="en-US" sz="1000" b="0" i="0" u="none" strike="noStrike" dirty="0" err="1">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authour</a:t>
                      </a:r>
                      <a:r>
                        <a:rPr lang="en-US" sz="1000" b="0" i="0" u="none" strike="noStrike"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talks in details about how Venus is very alike to earth in the sense of density and size. How it was it could have been the most similar planet to Earth in our solar system. And that many research are </a:t>
                      </a:r>
                      <a:r>
                        <a:rPr lang="en-US" sz="1000" b="0" i="0" u="none" strike="noStrike" dirty="0" err="1">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triying</a:t>
                      </a:r>
                      <a:r>
                        <a:rPr lang="en-US" sz="1000" b="0" i="0" u="none" strike="noStrike"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to make machines that would stand the </a:t>
                      </a:r>
                      <a:r>
                        <a:rPr lang="en-US" sz="1000" b="0" i="0" u="none" strike="noStrike" dirty="0" err="1">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exttreme</a:t>
                      </a:r>
                      <a:r>
                        <a:rPr lang="en-US" sz="1000" b="0" i="0" u="none" strike="noStrike"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temperatuers</a:t>
                      </a:r>
                      <a:r>
                        <a:rPr lang="en-US" sz="1000" b="0" i="0" u="none" strike="noStrike"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of Venus.</a:t>
                      </a:r>
                      <a:br>
                        <a:rPr lang="en-US" sz="1000" b="0" i="0" u="none" strike="noStrike"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br>
                      <a:r>
                        <a:rPr lang="en-US" sz="1000" b="0" i="0" u="none" strike="noStrike"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Researcher </a:t>
                      </a:r>
                      <a:r>
                        <a:rPr lang="en-US" sz="1000" b="0" i="0" u="none" strike="noStrike" dirty="0" err="1">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discoberd</a:t>
                      </a:r>
                      <a:r>
                        <a:rPr lang="en-US" sz="1000" b="0" i="0" u="none" strike="noStrike"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how Venus is very </a:t>
                      </a:r>
                      <a:r>
                        <a:rPr lang="en-US" sz="1000" b="0" i="0" u="none" strike="noStrike" dirty="0" err="1">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similiar</a:t>
                      </a:r>
                      <a:r>
                        <a:rPr lang="en-US" sz="1000" b="0" i="0" u="none" strike="noStrike"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to Earth. The author states " Often referred to as Earth's "twin", Venus is the closest planet to earth in terms of density and size, and </a:t>
                      </a:r>
                      <a:r>
                        <a:rPr lang="en-US" sz="1000" b="0" i="0" u="none" strike="noStrike" dirty="0" err="1">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occassionally</a:t>
                      </a:r>
                      <a:r>
                        <a:rPr lang="en-US" sz="1000" b="0" i="0" u="none" strike="noStrike"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distance too."(paragraph 2).The statement that the </a:t>
                      </a:r>
                      <a:r>
                        <a:rPr lang="en-US" sz="1000" b="0" i="0" u="none" strike="noStrike" dirty="0" err="1">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autghar</a:t>
                      </a:r>
                      <a:r>
                        <a:rPr lang="en-US" sz="1000" b="0" i="0" u="none" strike="noStrike"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made makes a good point because if Venus is the closest planet to been earth like than researching it would help us discover new thing. We can get </a:t>
                      </a:r>
                      <a:r>
                        <a:rPr lang="en-US" sz="1000" b="0" i="0" u="none" strike="noStrike" dirty="0" err="1">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resorces</a:t>
                      </a:r>
                      <a:r>
                        <a:rPr lang="en-US" sz="1000" b="0" i="0" u="none" strike="noStrike"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that we use in earth in this planet. Also the author states" Long ago, Venus was probably covered with oceans and could have supported forms of life, just like Earth......</a:t>
                      </a:r>
                    </a:p>
                  </a:txBody>
                  <a:tcPr marL="7620" marR="7620" marT="7620" marB="0" anchor="ctr">
                    <a:solidFill>
                      <a:schemeClr val="bg1">
                        <a:lumMod val="85000"/>
                      </a:schemeClr>
                    </a:solidFill>
                  </a:tcPr>
                </a:tc>
                <a:extLst>
                  <a:ext uri="{0D108BD9-81ED-4DB2-BD59-A6C34878D82A}">
                    <a16:rowId xmlns:a16="http://schemas.microsoft.com/office/drawing/2014/main" val="409872203"/>
                  </a:ext>
                </a:extLst>
              </a:tr>
              <a:tr h="361338">
                <a:tc>
                  <a:txBody>
                    <a:bodyPr/>
                    <a:lstStyle/>
                    <a:p>
                      <a:pPr algn="ctr"/>
                      <a:endParaRPr lang="en-US" altLang="zh-CN" dirty="0">
                        <a:solidFill>
                          <a:schemeClr val="tx1"/>
                        </a:solidFill>
                      </a:endParaRPr>
                    </a:p>
                    <a:p>
                      <a:pPr algn="ctr"/>
                      <a:r>
                        <a:rPr lang="en-US" altLang="zh-CN" dirty="0">
                          <a:solidFill>
                            <a:schemeClr val="tx1"/>
                          </a:solidFill>
                        </a:rPr>
                        <a:t>2</a:t>
                      </a:r>
                      <a:endParaRPr lang="zh-CN" altLang="en-US" dirty="0">
                        <a:solidFill>
                          <a:schemeClr val="tx1"/>
                        </a:solidFill>
                      </a:endParaRPr>
                    </a:p>
                  </a:txBody>
                  <a:tcPr marT="90000" marB="72000">
                    <a:solidFill>
                      <a:schemeClr val="bg1">
                        <a:lumMod val="85000"/>
                      </a:schemeClr>
                    </a:solidFill>
                  </a:tcPr>
                </a:tc>
                <a:tc>
                  <a:txBody>
                    <a:bodyPr/>
                    <a:lstStyle/>
                    <a:p>
                      <a:pPr algn="l" fontAlgn="ctr"/>
                      <a:r>
                        <a:rPr lang="en-US" sz="1000" b="0" i="0" u="none" strike="noStrike"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Using the Facial Action Coding System is not necessary whatsoever. This will just be taking up space in already crowded schools, and having schools waste money on a emotion coding </a:t>
                      </a:r>
                      <a:r>
                        <a:rPr lang="en-US" sz="1000" b="0" i="0" u="none" strike="noStrike" dirty="0" err="1">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system.These</a:t>
                      </a:r>
                      <a:r>
                        <a:rPr lang="en-US" sz="1000" b="0" i="0" u="none" strike="noStrike"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Facial Action Coding Systems will be even more of a distraction. Phones are already enough of a distraction this will be even worse. Kids will just make face expressions to find out what emotion a certain face tells. "Empathy (feeling </a:t>
                      </a:r>
                      <a:r>
                        <a:rPr lang="en-US" sz="1000" b="0" i="0" u="none" strike="noStrike" dirty="0" err="1">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somone</a:t>
                      </a:r>
                      <a:r>
                        <a:rPr lang="en-US" sz="1000" b="0" i="0" u="none" strike="noStrike"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else's emotional state..." Most kids like to just have their space and not be bothered. This is also spending money on things that are not </a:t>
                      </a:r>
                      <a:r>
                        <a:rPr lang="en-US" sz="1000" b="0" i="0" u="none" strike="noStrike" dirty="0" err="1">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mandantory</a:t>
                      </a:r>
                      <a:r>
                        <a:rPr lang="en-US" sz="1000" b="0" i="0" u="none" strike="noStrike"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so money will just be wasted. At the end of the day like who is really interested in what a face expression tells about you?......</a:t>
                      </a:r>
                    </a:p>
                    <a:p>
                      <a:pPr algn="l" fontAlgn="ctr"/>
                      <a:endParaRPr lang="en-US" sz="1000" b="0" i="0" u="none" strike="noStrike"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7620" marR="7620" marT="7620" marB="0" anchor="ctr">
                    <a:solidFill>
                      <a:schemeClr val="bg1">
                        <a:lumMod val="85000"/>
                      </a:schemeClr>
                    </a:solidFill>
                  </a:tcPr>
                </a:tc>
                <a:extLst>
                  <a:ext uri="{0D108BD9-81ED-4DB2-BD59-A6C34878D82A}">
                    <a16:rowId xmlns:a16="http://schemas.microsoft.com/office/drawing/2014/main" val="1323850742"/>
                  </a:ext>
                </a:extLst>
              </a:tr>
            </a:tbl>
          </a:graphicData>
        </a:graphic>
      </p:graphicFrame>
      <p:sp>
        <p:nvSpPr>
          <p:cNvPr id="29" name="文本框 28">
            <a:extLst>
              <a:ext uri="{FF2B5EF4-FFF2-40B4-BE49-F238E27FC236}">
                <a16:creationId xmlns:a16="http://schemas.microsoft.com/office/drawing/2014/main" id="{A42A93FF-42FD-AE03-0E47-A1B2466F7DB7}"/>
              </a:ext>
            </a:extLst>
          </p:cNvPr>
          <p:cNvSpPr txBox="1"/>
          <p:nvPr/>
        </p:nvSpPr>
        <p:spPr>
          <a:xfrm>
            <a:off x="2310581" y="6046839"/>
            <a:ext cx="8013732"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Due to space constraints, the body text of the essay only displays a portion</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75421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8CC91C3-E97D-6284-D1CF-002D2AF41A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4521" y="-1"/>
            <a:ext cx="8938617" cy="6857997"/>
          </a:xfrm>
          <a:prstGeom prst="rect">
            <a:avLst/>
          </a:prstGeom>
        </p:spPr>
      </p:pic>
      <p:grpSp>
        <p:nvGrpSpPr>
          <p:cNvPr id="2" name="组合 1"/>
          <p:cNvGrpSpPr/>
          <p:nvPr/>
        </p:nvGrpSpPr>
        <p:grpSpPr>
          <a:xfrm>
            <a:off x="410682" y="491889"/>
            <a:ext cx="4203131" cy="442491"/>
            <a:chOff x="716110" y="457998"/>
            <a:chExt cx="4203131" cy="442491"/>
          </a:xfrm>
        </p:grpSpPr>
        <p:sp>
          <p:nvSpPr>
            <p:cNvPr id="3" name="文本框 2"/>
            <p:cNvSpPr txBox="1"/>
            <p:nvPr/>
          </p:nvSpPr>
          <p:spPr>
            <a:xfrm>
              <a:off x="716110" y="457998"/>
              <a:ext cx="4203131" cy="438582"/>
            </a:xfrm>
            <a:prstGeom prst="rect">
              <a:avLst/>
            </a:prstGeom>
            <a:noFill/>
          </p:spPr>
          <p:txBody>
            <a:bodyPr wrap="square" lIns="68580" tIns="34290" rIns="68580" bIns="34290"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sym typeface="+mn-lt"/>
                </a:rPr>
                <a:t>ChatGPT 3.5</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sym typeface="+mn-lt"/>
              </a:endParaRPr>
            </a:p>
          </p:txBody>
        </p:sp>
        <p:cxnSp>
          <p:nvCxnSpPr>
            <p:cNvPr id="4" name="直接连接符 3"/>
            <p:cNvCxnSpPr>
              <a:cxnSpLocks/>
            </p:cNvCxnSpPr>
            <p:nvPr/>
          </p:nvCxnSpPr>
          <p:spPr>
            <a:xfrm>
              <a:off x="774478" y="900489"/>
              <a:ext cx="1772705" cy="0"/>
            </a:xfrm>
            <a:prstGeom prst="line">
              <a:avLst/>
            </a:prstGeom>
            <a:noFill/>
            <a:ln w="9525" cap="flat" cmpd="sng" algn="ctr">
              <a:solidFill>
                <a:schemeClr val="tx1">
                  <a:lumMod val="85000"/>
                  <a:lumOff val="15000"/>
                </a:schemeClr>
              </a:solidFill>
              <a:prstDash val="solid"/>
              <a:miter lim="800000"/>
            </a:ln>
            <a:effectLst/>
          </p:spPr>
        </p:cxnSp>
      </p:grpSp>
      <p:sp>
        <p:nvSpPr>
          <p:cNvPr id="8" name="文本框 7">
            <a:extLst>
              <a:ext uri="{FF2B5EF4-FFF2-40B4-BE49-F238E27FC236}">
                <a16:creationId xmlns:a16="http://schemas.microsoft.com/office/drawing/2014/main" id="{DC953842-DB00-808A-0A65-3F8FBE703486}"/>
              </a:ext>
            </a:extLst>
          </p:cNvPr>
          <p:cNvSpPr txBox="1"/>
          <p:nvPr/>
        </p:nvSpPr>
        <p:spPr>
          <a:xfrm>
            <a:off x="0" y="2730010"/>
            <a:ext cx="2674521"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D0D0D"/>
                </a:solidFill>
                <a:effectLst/>
                <a:uLnTx/>
                <a:uFillTx/>
                <a:latin typeface="Times New Roman" panose="02020603050405020304" pitchFamily="18" charset="0"/>
                <a:ea typeface="宋体" panose="02010600030101010101" pitchFamily="2" charset="-122"/>
                <a:cs typeface="Times New Roman" panose="02020603050405020304" pitchFamily="18" charset="0"/>
              </a:rPr>
              <a:t>The accuracy of ChatGPT isn’t very high</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94962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10682" y="491889"/>
            <a:ext cx="4203131" cy="442491"/>
            <a:chOff x="716110" y="457998"/>
            <a:chExt cx="4203131" cy="442491"/>
          </a:xfrm>
        </p:grpSpPr>
        <p:sp>
          <p:nvSpPr>
            <p:cNvPr id="3" name="文本框 2"/>
            <p:cNvSpPr txBox="1"/>
            <p:nvPr/>
          </p:nvSpPr>
          <p:spPr>
            <a:xfrm>
              <a:off x="716110" y="457998"/>
              <a:ext cx="4203131" cy="438582"/>
            </a:xfrm>
            <a:prstGeom prst="rect">
              <a:avLst/>
            </a:prstGeom>
            <a:noFill/>
          </p:spPr>
          <p:txBody>
            <a:bodyPr wrap="square" lIns="68580" tIns="34290" rIns="68580" bIns="34290"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sym typeface="+mn-lt"/>
                </a:rPr>
                <a:t>ChatGPT 4o</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sym typeface="+mn-lt"/>
              </a:endParaRPr>
            </a:p>
          </p:txBody>
        </p:sp>
        <p:cxnSp>
          <p:nvCxnSpPr>
            <p:cNvPr id="4" name="直接连接符 3"/>
            <p:cNvCxnSpPr>
              <a:cxnSpLocks/>
            </p:cNvCxnSpPr>
            <p:nvPr/>
          </p:nvCxnSpPr>
          <p:spPr>
            <a:xfrm flipV="1">
              <a:off x="774478" y="896580"/>
              <a:ext cx="1654718" cy="3909"/>
            </a:xfrm>
            <a:prstGeom prst="line">
              <a:avLst/>
            </a:prstGeom>
            <a:noFill/>
            <a:ln w="9525" cap="flat" cmpd="sng" algn="ctr">
              <a:solidFill>
                <a:schemeClr val="tx1">
                  <a:lumMod val="85000"/>
                  <a:lumOff val="15000"/>
                </a:schemeClr>
              </a:solidFill>
              <a:prstDash val="solid"/>
              <a:miter lim="800000"/>
            </a:ln>
            <a:effectLst/>
          </p:spPr>
        </p:cxnSp>
      </p:grpSp>
      <p:sp>
        <p:nvSpPr>
          <p:cNvPr id="8" name="文本框 7">
            <a:extLst>
              <a:ext uri="{FF2B5EF4-FFF2-40B4-BE49-F238E27FC236}">
                <a16:creationId xmlns:a16="http://schemas.microsoft.com/office/drawing/2014/main" id="{DC953842-DB00-808A-0A65-3F8FBE703486}"/>
              </a:ext>
            </a:extLst>
          </p:cNvPr>
          <p:cNvSpPr txBox="1"/>
          <p:nvPr/>
        </p:nvSpPr>
        <p:spPr>
          <a:xfrm>
            <a:off x="0" y="2730010"/>
            <a:ext cx="2674521" cy="163121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D0D0D"/>
                </a:solidFill>
                <a:effectLst/>
                <a:uLnTx/>
                <a:uFillTx/>
                <a:latin typeface="Times New Roman" panose="02020603050405020304" pitchFamily="18" charset="0"/>
                <a:ea typeface="宋体" panose="02010600030101010101" pitchFamily="2" charset="-122"/>
                <a:cs typeface="Times New Roman" panose="02020603050405020304" pitchFamily="18" charset="0"/>
              </a:rPr>
              <a:t>Subjectively speaking, the accuracy of ChatGPT 4o is slightly higher than that of ChatGPT3.5</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7" name="图片 6">
            <a:extLst>
              <a:ext uri="{FF2B5EF4-FFF2-40B4-BE49-F238E27FC236}">
                <a16:creationId xmlns:a16="http://schemas.microsoft.com/office/drawing/2014/main" id="{77EE18F8-4410-EF0D-D5B6-ED565794FC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2864" y="0"/>
            <a:ext cx="9539136" cy="6858000"/>
          </a:xfrm>
          <a:prstGeom prst="rect">
            <a:avLst/>
          </a:prstGeom>
        </p:spPr>
      </p:pic>
    </p:spTree>
    <p:extLst>
      <p:ext uri="{BB962C8B-B14F-4D97-AF65-F5344CB8AC3E}">
        <p14:creationId xmlns:p14="http://schemas.microsoft.com/office/powerpoint/2010/main" val="1078121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3"/>
          <p:cNvPicPr>
            <a:picLocks noChangeAspect="1"/>
          </p:cNvPicPr>
          <p:nvPr/>
        </p:nvPicPr>
        <p:blipFill>
          <a:blip r:embed="rId3"/>
          <a:stretch>
            <a:fillRect/>
          </a:stretch>
        </p:blipFill>
        <p:spPr>
          <a:xfrm>
            <a:off x="0" y="0"/>
            <a:ext cx="12192000" cy="6858000"/>
          </a:xfrm>
          <a:prstGeom prst="rect">
            <a:avLst/>
          </a:prstGeom>
        </p:spPr>
      </p:pic>
      <p:grpSp>
        <p:nvGrpSpPr>
          <p:cNvPr id="7" name="组合 6"/>
          <p:cNvGrpSpPr/>
          <p:nvPr/>
        </p:nvGrpSpPr>
        <p:grpSpPr>
          <a:xfrm>
            <a:off x="4557726" y="3429248"/>
            <a:ext cx="3076548" cy="1543709"/>
            <a:chOff x="4544900" y="2848154"/>
            <a:chExt cx="3076548" cy="1543709"/>
          </a:xfrm>
        </p:grpSpPr>
        <p:sp>
          <p:nvSpPr>
            <p:cNvPr id="8" name="文本框 7"/>
            <p:cNvSpPr txBox="1"/>
            <p:nvPr/>
          </p:nvSpPr>
          <p:spPr>
            <a:xfrm>
              <a:off x="4544900" y="3129979"/>
              <a:ext cx="3076548" cy="1261884"/>
            </a:xfrm>
            <a:prstGeom prst="rect">
              <a:avLst/>
            </a:prstGeom>
            <a:noFill/>
          </p:spPr>
          <p:txBody>
            <a:bodyPr wrap="none" rtlCol="0">
              <a:spAutoFit/>
            </a:bodyPr>
            <a:lstStyle/>
            <a:p>
              <a:pPr algn="ctr"/>
              <a:r>
                <a:rPr lang="en-US" altLang="zh-CN" sz="4000" dirty="0"/>
                <a:t>Related </a:t>
              </a:r>
              <a:r>
                <a:rPr lang="en-US" altLang="zh-CN" sz="4000" dirty="0">
                  <a:latin typeface="思源黑体 CN Bold" panose="020B0800000000000000" pitchFamily="34" charset="-122"/>
                  <a:ea typeface="思源黑体 CN Bold" panose="020B0800000000000000" pitchFamily="34" charset="-122"/>
                </a:rPr>
                <a:t>work</a:t>
              </a:r>
              <a:endParaRPr lang="zh-CN" altLang="en-US" sz="4000" dirty="0">
                <a:latin typeface="思源黑体 CN Bold" panose="020B0800000000000000" pitchFamily="34" charset="-122"/>
                <a:ea typeface="思源黑体 CN Bold" panose="020B0800000000000000" pitchFamily="34" charset="-122"/>
              </a:endParaRPr>
            </a:p>
            <a:p>
              <a:pPr algn="ctr"/>
              <a:endParaRPr lang="zh-CN" altLang="en-US" sz="3600" dirty="0">
                <a:latin typeface="思源黑体 CN Heavy" panose="020B0A00000000000000" pitchFamily="34" charset="-122"/>
                <a:ea typeface="思源黑体 CN Heavy" panose="020B0A00000000000000" pitchFamily="34" charset="-122"/>
              </a:endParaRPr>
            </a:p>
          </p:txBody>
        </p:sp>
        <p:cxnSp>
          <p:nvCxnSpPr>
            <p:cNvPr id="9" name="直接连接符 9"/>
            <p:cNvCxnSpPr/>
            <p:nvPr/>
          </p:nvCxnSpPr>
          <p:spPr>
            <a:xfrm>
              <a:off x="4615322" y="2848154"/>
              <a:ext cx="2935705"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10"/>
            <p:cNvCxnSpPr/>
            <p:nvPr/>
          </p:nvCxnSpPr>
          <p:spPr>
            <a:xfrm>
              <a:off x="4615322" y="4078820"/>
              <a:ext cx="2935705"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11" name="组合 14"/>
          <p:cNvGrpSpPr>
            <a:grpSpLocks noChangeAspect="1"/>
          </p:cNvGrpSpPr>
          <p:nvPr/>
        </p:nvGrpSpPr>
        <p:grpSpPr>
          <a:xfrm>
            <a:off x="4913843" y="2085375"/>
            <a:ext cx="2364315" cy="1181317"/>
            <a:chOff x="3804264" y="-1169675"/>
            <a:chExt cx="1547966" cy="773433"/>
          </a:xfrm>
          <a:solidFill>
            <a:schemeClr val="tx1">
              <a:lumMod val="85000"/>
              <a:lumOff val="15000"/>
            </a:schemeClr>
          </a:solidFill>
        </p:grpSpPr>
        <p:sp>
          <p:nvSpPr>
            <p:cNvPr id="12" name="任意多边形 15"/>
            <p:cNvSpPr/>
            <p:nvPr/>
          </p:nvSpPr>
          <p:spPr>
            <a:xfrm>
              <a:off x="3804264" y="-1169675"/>
              <a:ext cx="767828" cy="773433"/>
            </a:xfrm>
            <a:custGeom>
              <a:avLst/>
              <a:gdLst/>
              <a:ahLst/>
              <a:cxnLst/>
              <a:rect l="l" t="t" r="r" b="b"/>
              <a:pathLst>
                <a:path w="767828" h="773433">
                  <a:moveTo>
                    <a:pt x="383185" y="0"/>
                  </a:moveTo>
                  <a:cubicBezTo>
                    <a:pt x="499322" y="52"/>
                    <a:pt x="592033" y="46540"/>
                    <a:pt x="661316" y="139464"/>
                  </a:cubicBezTo>
                  <a:cubicBezTo>
                    <a:pt x="730598" y="232388"/>
                    <a:pt x="766102" y="371436"/>
                    <a:pt x="767828" y="556608"/>
                  </a:cubicBezTo>
                  <a:cubicBezTo>
                    <a:pt x="767397" y="603342"/>
                    <a:pt x="764854" y="647227"/>
                    <a:pt x="760200" y="688263"/>
                  </a:cubicBezTo>
                  <a:lnTo>
                    <a:pt x="745112" y="773433"/>
                  </a:lnTo>
                  <a:lnTo>
                    <a:pt x="506018" y="773433"/>
                  </a:lnTo>
                  <a:lnTo>
                    <a:pt x="512257" y="739730"/>
                  </a:lnTo>
                  <a:cubicBezTo>
                    <a:pt x="519316" y="691261"/>
                    <a:pt x="522956" y="630221"/>
                    <a:pt x="523179" y="556608"/>
                  </a:cubicBezTo>
                  <a:cubicBezTo>
                    <a:pt x="522882" y="459043"/>
                    <a:pt x="516509" y="384341"/>
                    <a:pt x="504060" y="332502"/>
                  </a:cubicBezTo>
                  <a:cubicBezTo>
                    <a:pt x="491610" y="280663"/>
                    <a:pt x="474867" y="245264"/>
                    <a:pt x="453830" y="226305"/>
                  </a:cubicBezTo>
                  <a:cubicBezTo>
                    <a:pt x="432793" y="207345"/>
                    <a:pt x="409245" y="198400"/>
                    <a:pt x="383185" y="199471"/>
                  </a:cubicBezTo>
                  <a:cubicBezTo>
                    <a:pt x="357143" y="198400"/>
                    <a:pt x="333720" y="207345"/>
                    <a:pt x="312917" y="226305"/>
                  </a:cubicBezTo>
                  <a:cubicBezTo>
                    <a:pt x="292114" y="245264"/>
                    <a:pt x="275605" y="280663"/>
                    <a:pt x="263390" y="332502"/>
                  </a:cubicBezTo>
                  <a:cubicBezTo>
                    <a:pt x="251174" y="384341"/>
                    <a:pt x="244927" y="459043"/>
                    <a:pt x="244648" y="556608"/>
                  </a:cubicBezTo>
                  <a:cubicBezTo>
                    <a:pt x="244857" y="630221"/>
                    <a:pt x="248424" y="691261"/>
                    <a:pt x="255347" y="739730"/>
                  </a:cubicBezTo>
                  <a:lnTo>
                    <a:pt x="261469" y="773433"/>
                  </a:lnTo>
                  <a:lnTo>
                    <a:pt x="22525" y="773433"/>
                  </a:lnTo>
                  <a:lnTo>
                    <a:pt x="7547" y="688263"/>
                  </a:lnTo>
                  <a:cubicBezTo>
                    <a:pt x="2932" y="647227"/>
                    <a:pt x="416" y="603342"/>
                    <a:pt x="0" y="556608"/>
                  </a:cubicBezTo>
                  <a:cubicBezTo>
                    <a:pt x="1664" y="370162"/>
                    <a:pt x="36925" y="230750"/>
                    <a:pt x="105783" y="138372"/>
                  </a:cubicBezTo>
                  <a:cubicBezTo>
                    <a:pt x="174641" y="45994"/>
                    <a:pt x="267108" y="-130"/>
                    <a:pt x="38318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3" name="任意多边形 16"/>
            <p:cNvSpPr/>
            <p:nvPr/>
          </p:nvSpPr>
          <p:spPr>
            <a:xfrm>
              <a:off x="4636865" y="-1169675"/>
              <a:ext cx="715365" cy="773433"/>
            </a:xfrm>
            <a:custGeom>
              <a:avLst/>
              <a:gdLst/>
              <a:ahLst/>
              <a:cxnLst/>
              <a:rect l="l" t="t" r="r" b="b"/>
              <a:pathLst>
                <a:path w="715365" h="773433">
                  <a:moveTo>
                    <a:pt x="359959" y="0"/>
                  </a:moveTo>
                  <a:cubicBezTo>
                    <a:pt x="466546" y="1270"/>
                    <a:pt x="552003" y="32218"/>
                    <a:pt x="616329" y="92841"/>
                  </a:cubicBezTo>
                  <a:cubicBezTo>
                    <a:pt x="680655" y="153465"/>
                    <a:pt x="713667" y="236142"/>
                    <a:pt x="715365" y="340872"/>
                  </a:cubicBezTo>
                  <a:cubicBezTo>
                    <a:pt x="714412" y="403419"/>
                    <a:pt x="698518" y="467018"/>
                    <a:pt x="667683" y="531669"/>
                  </a:cubicBezTo>
                  <a:cubicBezTo>
                    <a:pt x="636848" y="596320"/>
                    <a:pt x="596787" y="659918"/>
                    <a:pt x="547500" y="722462"/>
                  </a:cubicBezTo>
                  <a:lnTo>
                    <a:pt x="502183" y="773433"/>
                  </a:lnTo>
                  <a:lnTo>
                    <a:pt x="204841" y="773433"/>
                  </a:lnTo>
                  <a:lnTo>
                    <a:pt x="275093" y="699171"/>
                  </a:lnTo>
                  <a:cubicBezTo>
                    <a:pt x="298941" y="672841"/>
                    <a:pt x="321036" y="647244"/>
                    <a:pt x="341378" y="622382"/>
                  </a:cubicBezTo>
                  <a:cubicBezTo>
                    <a:pt x="422746" y="522932"/>
                    <a:pt x="464401" y="433955"/>
                    <a:pt x="466344" y="355450"/>
                  </a:cubicBezTo>
                  <a:cubicBezTo>
                    <a:pt x="465828" y="305705"/>
                    <a:pt x="453016" y="267804"/>
                    <a:pt x="427907" y="241746"/>
                  </a:cubicBezTo>
                  <a:cubicBezTo>
                    <a:pt x="402799" y="215688"/>
                    <a:pt x="368491" y="202568"/>
                    <a:pt x="324984" y="202386"/>
                  </a:cubicBezTo>
                  <a:cubicBezTo>
                    <a:pt x="288004" y="203297"/>
                    <a:pt x="254485" y="213866"/>
                    <a:pt x="224428" y="234093"/>
                  </a:cubicBezTo>
                  <a:cubicBezTo>
                    <a:pt x="194371" y="254320"/>
                    <a:pt x="166682" y="278738"/>
                    <a:pt x="141361" y="307345"/>
                  </a:cubicBezTo>
                  <a:lnTo>
                    <a:pt x="0" y="167442"/>
                  </a:lnTo>
                  <a:cubicBezTo>
                    <a:pt x="51887" y="111415"/>
                    <a:pt x="105869" y="69494"/>
                    <a:pt x="161945" y="41678"/>
                  </a:cubicBezTo>
                  <a:cubicBezTo>
                    <a:pt x="218022" y="13862"/>
                    <a:pt x="284027" y="-31"/>
                    <a:pt x="35995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grpSp>
      <p:pic>
        <p:nvPicPr>
          <p:cNvPr id="14" name="图片 13" descr="图片包含 户外, 标牌  自动生成的说明"/>
          <p:cNvPicPr>
            <a:picLocks noChangeAspect="1"/>
          </p:cNvPicPr>
          <p:nvPr/>
        </p:nvPicPr>
        <p:blipFill rotWithShape="1">
          <a:blip r:embed="rId4" cstate="print">
            <a:duotone>
              <a:schemeClr val="bg2">
                <a:shade val="45000"/>
                <a:satMod val="135000"/>
              </a:schemeClr>
              <a:prstClr val="white"/>
            </a:duotone>
          </a:blip>
          <a:srcRect l="63268" r="-1"/>
          <a:stretch/>
        </p:blipFill>
        <p:spPr>
          <a:xfrm>
            <a:off x="0" y="0"/>
            <a:ext cx="2514644" cy="6833630"/>
          </a:xfrm>
          <a:prstGeom prst="rect">
            <a:avLst/>
          </a:prstGeom>
        </p:spPr>
      </p:pic>
      <p:pic>
        <p:nvPicPr>
          <p:cNvPr id="15" name="图片 17" descr="图片包含 户外, 标牌  自动生成的说明"/>
          <p:cNvPicPr>
            <a:picLocks noChangeAspect="1"/>
          </p:cNvPicPr>
          <p:nvPr/>
        </p:nvPicPr>
        <p:blipFill rotWithShape="1">
          <a:blip r:embed="rId4" cstate="print">
            <a:duotone>
              <a:schemeClr val="bg2">
                <a:shade val="45000"/>
                <a:satMod val="135000"/>
              </a:schemeClr>
              <a:prstClr val="white"/>
            </a:duotone>
          </a:blip>
          <a:srcRect r="61722"/>
          <a:stretch/>
        </p:blipFill>
        <p:spPr>
          <a:xfrm>
            <a:off x="9571538" y="12185"/>
            <a:ext cx="2620462" cy="68336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87430" y="521386"/>
            <a:ext cx="4203131" cy="442491"/>
            <a:chOff x="716110" y="457998"/>
            <a:chExt cx="4203131" cy="442491"/>
          </a:xfrm>
        </p:grpSpPr>
        <p:sp>
          <p:nvSpPr>
            <p:cNvPr id="3" name="文本框 2"/>
            <p:cNvSpPr txBox="1"/>
            <p:nvPr/>
          </p:nvSpPr>
          <p:spPr>
            <a:xfrm>
              <a:off x="716110" y="457998"/>
              <a:ext cx="4203131" cy="438582"/>
            </a:xfrm>
            <a:prstGeom prst="rect">
              <a:avLst/>
            </a:prstGeom>
            <a:noFill/>
          </p:spPr>
          <p:txBody>
            <a:bodyPr wrap="square" lIns="68580" tIns="34290" rIns="68580" bIns="34290" rtlCol="0">
              <a:spAutoFit/>
            </a:bodyPr>
            <a:lstStyle/>
            <a:p>
              <a:pPr defTabSz="685800"/>
              <a:r>
                <a:rPr lang="en-US" altLang="zh-CN" sz="2400" b="1" dirty="0">
                  <a:latin typeface="Times New Roman" panose="02020603050405020304" pitchFamily="18" charset="0"/>
                  <a:ea typeface="微软雅黑" panose="020B0503020204020204" charset="-122"/>
                  <a:cs typeface="Times New Roman" panose="02020603050405020304" pitchFamily="18" charset="0"/>
                  <a:sym typeface="+mn-lt"/>
                </a:rPr>
                <a:t>Off the Shelf Algorithms</a:t>
              </a:r>
            </a:p>
          </p:txBody>
        </p:sp>
        <p:cxnSp>
          <p:nvCxnSpPr>
            <p:cNvPr id="4" name="直接连接符 3"/>
            <p:cNvCxnSpPr>
              <a:cxnSpLocks/>
            </p:cNvCxnSpPr>
            <p:nvPr/>
          </p:nvCxnSpPr>
          <p:spPr>
            <a:xfrm flipV="1">
              <a:off x="774478" y="896580"/>
              <a:ext cx="3246689" cy="3909"/>
            </a:xfrm>
            <a:prstGeom prst="line">
              <a:avLst/>
            </a:prstGeom>
            <a:noFill/>
            <a:ln w="9525" cap="flat" cmpd="sng" algn="ctr">
              <a:solidFill>
                <a:schemeClr val="tx1">
                  <a:lumMod val="85000"/>
                  <a:lumOff val="15000"/>
                </a:schemeClr>
              </a:solidFill>
              <a:prstDash val="solid"/>
              <a:miter lim="800000"/>
            </a:ln>
            <a:effectLst/>
          </p:spPr>
        </p:cxnSp>
      </p:grpSp>
      <p:sp>
        <p:nvSpPr>
          <p:cNvPr id="5" name="文本框 25">
            <a:extLst>
              <a:ext uri="{FF2B5EF4-FFF2-40B4-BE49-F238E27FC236}">
                <a16:creationId xmlns:a16="http://schemas.microsoft.com/office/drawing/2014/main" id="{E046B3CB-37CF-852C-1A48-1C89ACB4A208}"/>
              </a:ext>
            </a:extLst>
          </p:cNvPr>
          <p:cNvSpPr txBox="1"/>
          <p:nvPr/>
        </p:nvSpPr>
        <p:spPr>
          <a:xfrm>
            <a:off x="1822588" y="1160531"/>
            <a:ext cx="7708900" cy="5632311"/>
          </a:xfrm>
          <a:prstGeom prst="rect">
            <a:avLst/>
          </a:prstGeom>
          <a:noFill/>
        </p:spPr>
        <p:txBody>
          <a:bodyPr wrap="square" rtlCol="0">
            <a:spAutoFit/>
          </a:bodyPr>
          <a:lstStyle/>
          <a:p>
            <a:pPr marL="285750" indent="-285750">
              <a:buFont typeface="Wingdings" panose="05000000000000000000" charset="0"/>
              <a:buChar char="ü"/>
            </a:pPr>
            <a:r>
              <a:rPr lang="en-US" altLang="zh-CN" dirty="0">
                <a:latin typeface="Times New Roman" panose="02020603050405020304" pitchFamily="18" charset="0"/>
                <a:cs typeface="Times New Roman" panose="02020603050405020304" pitchFamily="18" charset="0"/>
              </a:rPr>
              <a:t>Regression</a:t>
            </a:r>
          </a:p>
          <a:p>
            <a:pPr marL="742950" lvl="1" indent="-285750">
              <a:buSzPct val="50000"/>
              <a:buFont typeface="Wingdings" panose="05000000000000000000" charset="0"/>
              <a:buChar char="l"/>
            </a:pPr>
            <a:r>
              <a:rPr lang="en-US" altLang="zh-CN" dirty="0">
                <a:latin typeface="Times New Roman" panose="02020603050405020304" pitchFamily="18" charset="0"/>
                <a:cs typeface="Times New Roman" panose="02020603050405020304" pitchFamily="18" charset="0"/>
              </a:rPr>
              <a:t>Linear regression</a:t>
            </a:r>
          </a:p>
          <a:p>
            <a:pPr lvl="2" indent="0">
              <a:buSzPct val="50000"/>
              <a:buFont typeface="Wingdings" panose="05000000000000000000" charset="0"/>
              <a:buNone/>
            </a:pPr>
            <a:r>
              <a:rPr lang="en-US" altLang="zh-CN" dirty="0">
                <a:solidFill>
                  <a:schemeClr val="accent1"/>
                </a:solidFill>
                <a:latin typeface="Times New Roman" panose="02020603050405020304" pitchFamily="18" charset="0"/>
                <a:cs typeface="Times New Roman" panose="02020603050405020304" pitchFamily="18" charset="0"/>
              </a:rPr>
              <a:t>Page, 1966; </a:t>
            </a:r>
            <a:r>
              <a:rPr lang="en-US" altLang="zh-CN" dirty="0" err="1">
                <a:solidFill>
                  <a:schemeClr val="accent1"/>
                </a:solidFill>
                <a:latin typeface="Times New Roman" panose="02020603050405020304" pitchFamily="18" charset="0"/>
                <a:cs typeface="Times New Roman" panose="02020603050405020304" pitchFamily="18" charset="0"/>
              </a:rPr>
              <a:t>Landauer</a:t>
            </a:r>
            <a:r>
              <a:rPr lang="en-US" altLang="zh-CN" dirty="0">
                <a:solidFill>
                  <a:schemeClr val="accent1"/>
                </a:solidFill>
                <a:latin typeface="Times New Roman" panose="02020603050405020304" pitchFamily="18" charset="0"/>
                <a:cs typeface="Times New Roman" panose="02020603050405020304" pitchFamily="18" charset="0"/>
              </a:rPr>
              <a:t> et al., 2003; </a:t>
            </a:r>
            <a:r>
              <a:rPr lang="en-US" altLang="zh-CN" dirty="0" err="1">
                <a:solidFill>
                  <a:schemeClr val="accent1"/>
                </a:solidFill>
                <a:latin typeface="Times New Roman" panose="02020603050405020304" pitchFamily="18" charset="0"/>
                <a:cs typeface="Times New Roman" panose="02020603050405020304" pitchFamily="18" charset="0"/>
              </a:rPr>
              <a:t>Miltsakaki</a:t>
            </a:r>
            <a:r>
              <a:rPr lang="en-US" altLang="zh-CN" dirty="0">
                <a:solidFill>
                  <a:schemeClr val="accent1"/>
                </a:solidFill>
                <a:latin typeface="Times New Roman" panose="02020603050405020304" pitchFamily="18" charset="0"/>
                <a:cs typeface="Times New Roman" panose="02020603050405020304" pitchFamily="18" charset="0"/>
              </a:rPr>
              <a:t> and </a:t>
            </a:r>
            <a:r>
              <a:rPr lang="en-US" altLang="zh-CN" dirty="0" err="1">
                <a:solidFill>
                  <a:schemeClr val="accent1"/>
                </a:solidFill>
                <a:latin typeface="Times New Roman" panose="02020603050405020304" pitchFamily="18" charset="0"/>
                <a:cs typeface="Times New Roman" panose="02020603050405020304" pitchFamily="18" charset="0"/>
              </a:rPr>
              <a:t>Kukich</a:t>
            </a:r>
            <a:r>
              <a:rPr lang="en-US" altLang="zh-CN" dirty="0">
                <a:solidFill>
                  <a:schemeClr val="accent1"/>
                </a:solidFill>
                <a:latin typeface="Times New Roman" panose="02020603050405020304" pitchFamily="18" charset="0"/>
                <a:cs typeface="Times New Roman" panose="02020603050405020304" pitchFamily="18" charset="0"/>
              </a:rPr>
              <a:t>, 2004; </a:t>
            </a:r>
            <a:r>
              <a:rPr lang="en-US" altLang="zh-CN" dirty="0" err="1">
                <a:solidFill>
                  <a:schemeClr val="accent1"/>
                </a:solidFill>
                <a:latin typeface="Times New Roman" panose="02020603050405020304" pitchFamily="18" charset="0"/>
                <a:cs typeface="Times New Roman" panose="02020603050405020304" pitchFamily="18" charset="0"/>
              </a:rPr>
              <a:t>Attali</a:t>
            </a:r>
            <a:r>
              <a:rPr lang="en-US" altLang="zh-CN" dirty="0">
                <a:solidFill>
                  <a:schemeClr val="accent1"/>
                </a:solidFill>
                <a:latin typeface="Times New Roman" panose="02020603050405020304" pitchFamily="18" charset="0"/>
                <a:cs typeface="Times New Roman" panose="02020603050405020304" pitchFamily="18" charset="0"/>
              </a:rPr>
              <a:t> and Burstein, 2006; </a:t>
            </a:r>
            <a:r>
              <a:rPr lang="en-US" altLang="zh-CN" dirty="0" err="1">
                <a:solidFill>
                  <a:schemeClr val="accent1"/>
                </a:solidFill>
                <a:latin typeface="Times New Roman" panose="02020603050405020304" pitchFamily="18" charset="0"/>
                <a:cs typeface="Times New Roman" panose="02020603050405020304" pitchFamily="18" charset="0"/>
              </a:rPr>
              <a:t>Klebanov</a:t>
            </a:r>
            <a:r>
              <a:rPr lang="en-US" altLang="zh-CN" dirty="0">
                <a:solidFill>
                  <a:schemeClr val="accent1"/>
                </a:solidFill>
                <a:latin typeface="Times New Roman" panose="02020603050405020304" pitchFamily="18" charset="0"/>
                <a:cs typeface="Times New Roman" panose="02020603050405020304" pitchFamily="18" charset="0"/>
              </a:rPr>
              <a:t> et al., 2013; Faulkner, 2014; Crossley et al., 2015; </a:t>
            </a:r>
            <a:r>
              <a:rPr lang="en-US" altLang="zh-CN" dirty="0" err="1">
                <a:solidFill>
                  <a:schemeClr val="accent1"/>
                </a:solidFill>
                <a:latin typeface="Times New Roman" panose="02020603050405020304" pitchFamily="18" charset="0"/>
                <a:cs typeface="Times New Roman" panose="02020603050405020304" pitchFamily="18" charset="0"/>
              </a:rPr>
              <a:t>Klebanov</a:t>
            </a:r>
            <a:r>
              <a:rPr lang="en-US" altLang="zh-CN" dirty="0">
                <a:solidFill>
                  <a:schemeClr val="accent1"/>
                </a:solidFill>
                <a:latin typeface="Times New Roman" panose="02020603050405020304" pitchFamily="18" charset="0"/>
                <a:cs typeface="Times New Roman" panose="02020603050405020304" pitchFamily="18" charset="0"/>
              </a:rPr>
              <a:t> et al., 2016</a:t>
            </a:r>
          </a:p>
          <a:p>
            <a:pPr marL="742950" lvl="1" indent="-285750">
              <a:buSzPct val="50000"/>
              <a:buFont typeface="Wingdings" panose="05000000000000000000" charset="0"/>
              <a:buChar char="l"/>
            </a:pPr>
            <a:r>
              <a:rPr lang="en-US" altLang="zh-CN" dirty="0">
                <a:solidFill>
                  <a:schemeClr val="tx1"/>
                </a:solidFill>
                <a:latin typeface="Times New Roman" panose="02020603050405020304" pitchFamily="18" charset="0"/>
                <a:cs typeface="Times New Roman" panose="02020603050405020304" pitchFamily="18" charset="0"/>
              </a:rPr>
              <a:t>SVM regression</a:t>
            </a:r>
          </a:p>
          <a:p>
            <a:pPr lvl="2" indent="0">
              <a:buSzPct val="50000"/>
              <a:buFont typeface="Wingdings" panose="05000000000000000000" charset="0"/>
              <a:buNone/>
            </a:pPr>
            <a:r>
              <a:rPr lang="en-US" altLang="zh-CN" dirty="0" err="1">
                <a:solidFill>
                  <a:schemeClr val="accent1"/>
                </a:solidFill>
                <a:latin typeface="Times New Roman" panose="02020603050405020304" pitchFamily="18" charset="0"/>
                <a:cs typeface="Times New Roman" panose="02020603050405020304" pitchFamily="18" charset="0"/>
              </a:rPr>
              <a:t>Persing</a:t>
            </a:r>
            <a:r>
              <a:rPr lang="en-US" altLang="zh-CN" dirty="0">
                <a:solidFill>
                  <a:schemeClr val="accent1"/>
                </a:solidFill>
                <a:latin typeface="Times New Roman" panose="02020603050405020304" pitchFamily="18" charset="0"/>
                <a:cs typeface="Times New Roman" panose="02020603050405020304" pitchFamily="18" charset="0"/>
              </a:rPr>
              <a:t> et al., 2010; </a:t>
            </a:r>
            <a:r>
              <a:rPr lang="en-US" altLang="zh-CN" dirty="0" err="1">
                <a:solidFill>
                  <a:schemeClr val="accent1"/>
                </a:solidFill>
                <a:latin typeface="Times New Roman" panose="02020603050405020304" pitchFamily="18" charset="0"/>
                <a:cs typeface="Times New Roman" panose="02020603050405020304" pitchFamily="18" charset="0"/>
              </a:rPr>
              <a:t>Persing</a:t>
            </a:r>
            <a:r>
              <a:rPr lang="en-US" altLang="zh-CN" dirty="0">
                <a:solidFill>
                  <a:schemeClr val="accent1"/>
                </a:solidFill>
                <a:latin typeface="Times New Roman" panose="02020603050405020304" pitchFamily="18" charset="0"/>
                <a:cs typeface="Times New Roman" panose="02020603050405020304" pitchFamily="18" charset="0"/>
              </a:rPr>
              <a:t> and Ng, 2013; </a:t>
            </a:r>
            <a:r>
              <a:rPr lang="en-US" altLang="zh-CN" dirty="0" err="1">
                <a:solidFill>
                  <a:schemeClr val="accent1"/>
                </a:solidFill>
                <a:latin typeface="Times New Roman" panose="02020603050405020304" pitchFamily="18" charset="0"/>
                <a:cs typeface="Times New Roman" panose="02020603050405020304" pitchFamily="18" charset="0"/>
              </a:rPr>
              <a:t>Persing</a:t>
            </a:r>
            <a:r>
              <a:rPr lang="en-US" altLang="zh-CN" dirty="0">
                <a:solidFill>
                  <a:schemeClr val="accent1"/>
                </a:solidFill>
                <a:latin typeface="Times New Roman" panose="02020603050405020304" pitchFamily="18" charset="0"/>
                <a:cs typeface="Times New Roman" panose="02020603050405020304" pitchFamily="18" charset="0"/>
              </a:rPr>
              <a:t> and Ng, 2014; </a:t>
            </a:r>
            <a:r>
              <a:rPr lang="en-US" altLang="zh-CN" dirty="0" err="1">
                <a:solidFill>
                  <a:schemeClr val="accent1"/>
                </a:solidFill>
                <a:latin typeface="Times New Roman" panose="02020603050405020304" pitchFamily="18" charset="0"/>
                <a:cs typeface="Times New Roman" panose="02020603050405020304" pitchFamily="18" charset="0"/>
              </a:rPr>
              <a:t>Persing</a:t>
            </a:r>
            <a:r>
              <a:rPr lang="en-US" altLang="zh-CN" dirty="0">
                <a:solidFill>
                  <a:schemeClr val="accent1"/>
                </a:solidFill>
                <a:latin typeface="Times New Roman" panose="02020603050405020304" pitchFamily="18" charset="0"/>
                <a:cs typeface="Times New Roman" panose="02020603050405020304" pitchFamily="18" charset="0"/>
              </a:rPr>
              <a:t> and Ng, 2015; </a:t>
            </a:r>
            <a:r>
              <a:rPr lang="en-US" altLang="zh-CN" dirty="0" err="1">
                <a:solidFill>
                  <a:schemeClr val="accent1"/>
                </a:solidFill>
                <a:latin typeface="Times New Roman" panose="02020603050405020304" pitchFamily="18" charset="0"/>
                <a:cs typeface="Times New Roman" panose="02020603050405020304" pitchFamily="18" charset="0"/>
              </a:rPr>
              <a:t>Cozma</a:t>
            </a:r>
            <a:r>
              <a:rPr lang="en-US" altLang="zh-CN" dirty="0">
                <a:solidFill>
                  <a:schemeClr val="accent1"/>
                </a:solidFill>
                <a:latin typeface="Times New Roman" panose="02020603050405020304" pitchFamily="18" charset="0"/>
                <a:cs typeface="Times New Roman" panose="02020603050405020304" pitchFamily="18" charset="0"/>
              </a:rPr>
              <a:t> et al., 2018</a:t>
            </a:r>
          </a:p>
          <a:p>
            <a:pPr lvl="2" indent="0">
              <a:buSzPct val="50000"/>
              <a:buFont typeface="Wingdings" panose="05000000000000000000" charset="0"/>
              <a:buNone/>
            </a:pPr>
            <a:r>
              <a:rPr lang="en-US" altLang="zh-CN" dirty="0">
                <a:solidFill>
                  <a:schemeClr val="tx1"/>
                </a:solidFill>
                <a:latin typeface="Times New Roman" panose="02020603050405020304" pitchFamily="18" charset="0"/>
                <a:cs typeface="Times New Roman" panose="02020603050405020304" pitchFamily="18" charset="0"/>
              </a:rPr>
              <a:t>* SMO</a:t>
            </a:r>
            <a:r>
              <a:rPr lang="en-US" altLang="zh-CN" dirty="0">
                <a:solidFill>
                  <a:schemeClr val="accent1"/>
                </a:solidFill>
                <a:latin typeface="Times New Roman" panose="02020603050405020304" pitchFamily="18" charset="0"/>
                <a:cs typeface="Times New Roman" panose="02020603050405020304" pitchFamily="18" charset="0"/>
              </a:rPr>
              <a:t>: </a:t>
            </a:r>
            <a:r>
              <a:rPr lang="en-US" altLang="zh-CN" dirty="0" err="1">
                <a:solidFill>
                  <a:schemeClr val="accent1"/>
                </a:solidFill>
                <a:latin typeface="Times New Roman" panose="02020603050405020304" pitchFamily="18" charset="0"/>
                <a:cs typeface="Times New Roman" panose="02020603050405020304" pitchFamily="18" charset="0"/>
              </a:rPr>
              <a:t>Vajjala</a:t>
            </a:r>
            <a:r>
              <a:rPr lang="en-US" altLang="zh-CN" dirty="0">
                <a:solidFill>
                  <a:schemeClr val="accent1"/>
                </a:solidFill>
                <a:latin typeface="Times New Roman" panose="02020603050405020304" pitchFamily="18" charset="0"/>
                <a:cs typeface="Times New Roman" panose="02020603050405020304" pitchFamily="18" charset="0"/>
              </a:rPr>
              <a:t>, 2018</a:t>
            </a:r>
          </a:p>
          <a:p>
            <a:pPr marL="285750" indent="-285750">
              <a:buFont typeface="Wingdings" panose="05000000000000000000" charset="0"/>
              <a:buChar char="ü"/>
            </a:pPr>
            <a:r>
              <a:rPr lang="en-US" altLang="zh-CN" dirty="0">
                <a:latin typeface="Times New Roman" panose="02020603050405020304" pitchFamily="18" charset="0"/>
                <a:cs typeface="Times New Roman" panose="02020603050405020304" pitchFamily="18" charset="0"/>
              </a:rPr>
              <a:t>Classification</a:t>
            </a:r>
          </a:p>
          <a:p>
            <a:pPr marL="742950" lvl="1" indent="-285750">
              <a:buSzPct val="50000"/>
              <a:buFont typeface="Wingdings" panose="05000000000000000000" charset="0"/>
              <a:buChar char="l"/>
            </a:pPr>
            <a:r>
              <a:rPr lang="en-US" altLang="zh-CN" dirty="0" err="1">
                <a:latin typeface="Times New Roman" panose="02020603050405020304" pitchFamily="18" charset="0"/>
                <a:cs typeface="Times New Roman" panose="02020603050405020304" pitchFamily="18" charset="0"/>
              </a:rPr>
              <a:t>Logostic</a:t>
            </a:r>
            <a:r>
              <a:rPr lang="en-US" altLang="zh-CN" dirty="0">
                <a:latin typeface="Times New Roman" panose="02020603050405020304" pitchFamily="18" charset="0"/>
                <a:cs typeface="Times New Roman" panose="02020603050405020304" pitchFamily="18" charset="0"/>
              </a:rPr>
              <a:t> regression</a:t>
            </a:r>
          </a:p>
          <a:p>
            <a:pPr lvl="2" indent="0">
              <a:buSzPct val="50000"/>
              <a:buFont typeface="Wingdings" panose="05000000000000000000" charset="0"/>
              <a:buNone/>
            </a:pPr>
            <a:r>
              <a:rPr lang="en-US" altLang="zh-CN" dirty="0">
                <a:solidFill>
                  <a:schemeClr val="accent1"/>
                </a:solidFill>
                <a:latin typeface="Times New Roman" panose="02020603050405020304" pitchFamily="18" charset="0"/>
                <a:cs typeface="Times New Roman" panose="02020603050405020304" pitchFamily="18" charset="0"/>
              </a:rPr>
              <a:t>Farra et al., 2015; Nguyen and </a:t>
            </a:r>
            <a:r>
              <a:rPr lang="en-US" altLang="zh-CN" dirty="0" err="1">
                <a:solidFill>
                  <a:schemeClr val="accent1"/>
                </a:solidFill>
                <a:latin typeface="Times New Roman" panose="02020603050405020304" pitchFamily="18" charset="0"/>
                <a:cs typeface="Times New Roman" panose="02020603050405020304" pitchFamily="18" charset="0"/>
              </a:rPr>
              <a:t>Litman</a:t>
            </a:r>
            <a:r>
              <a:rPr lang="en-US" altLang="zh-CN" dirty="0">
                <a:solidFill>
                  <a:schemeClr val="accent1"/>
                </a:solidFill>
                <a:latin typeface="Times New Roman" panose="02020603050405020304" pitchFamily="18" charset="0"/>
                <a:cs typeface="Times New Roman" panose="02020603050405020304" pitchFamily="18" charset="0"/>
              </a:rPr>
              <a:t>, 2018</a:t>
            </a:r>
          </a:p>
          <a:p>
            <a:pPr marL="742950" lvl="1" indent="-285750">
              <a:buSzPct val="50000"/>
              <a:buFont typeface="Wingdings" panose="05000000000000000000" charset="0"/>
              <a:buChar char="l"/>
            </a:pPr>
            <a:r>
              <a:rPr lang="en-US" altLang="zh-CN" dirty="0" err="1">
                <a:solidFill>
                  <a:schemeClr val="tx1"/>
                </a:solidFill>
                <a:latin typeface="Times New Roman" panose="02020603050405020304" pitchFamily="18" charset="0"/>
                <a:cs typeface="Times New Roman" panose="02020603050405020304" pitchFamily="18" charset="0"/>
              </a:rPr>
              <a:t>Bayessian</a:t>
            </a:r>
            <a:r>
              <a:rPr lang="en-US" altLang="zh-CN" dirty="0">
                <a:solidFill>
                  <a:schemeClr val="tx1"/>
                </a:solidFill>
                <a:latin typeface="Times New Roman" panose="02020603050405020304" pitchFamily="18" charset="0"/>
                <a:cs typeface="Times New Roman" panose="02020603050405020304" pitchFamily="18" charset="0"/>
              </a:rPr>
              <a:t> network classification</a:t>
            </a:r>
          </a:p>
          <a:p>
            <a:pPr lvl="2" indent="0">
              <a:buSzPct val="50000"/>
              <a:buFont typeface="Wingdings" panose="05000000000000000000" charset="0"/>
              <a:buNone/>
            </a:pPr>
            <a:r>
              <a:rPr lang="en-US" altLang="zh-CN" dirty="0">
                <a:solidFill>
                  <a:schemeClr val="accent1"/>
                </a:solidFill>
                <a:latin typeface="Times New Roman" panose="02020603050405020304" pitchFamily="18" charset="0"/>
                <a:cs typeface="Times New Roman" panose="02020603050405020304" pitchFamily="18" charset="0"/>
              </a:rPr>
              <a:t>Rudner and Liang, 2002</a:t>
            </a:r>
            <a:endParaRPr lang="en-US" altLang="zh-CN" dirty="0">
              <a:solidFill>
                <a:schemeClr val="tx1"/>
              </a:solidFill>
              <a:latin typeface="Times New Roman" panose="02020603050405020304" pitchFamily="18" charset="0"/>
              <a:cs typeface="Times New Roman" panose="02020603050405020304" pitchFamily="18" charset="0"/>
            </a:endParaRPr>
          </a:p>
          <a:p>
            <a:pPr marL="742950" lvl="1" indent="-285750">
              <a:buSzPct val="50000"/>
              <a:buFont typeface="Wingdings" panose="05000000000000000000" charset="0"/>
              <a:buChar char="l"/>
            </a:pPr>
            <a:r>
              <a:rPr lang="en-US" altLang="zh-CN" dirty="0">
                <a:latin typeface="Times New Roman" panose="02020603050405020304" pitchFamily="18" charset="0"/>
                <a:cs typeface="Times New Roman" panose="02020603050405020304" pitchFamily="18" charset="0"/>
              </a:rPr>
              <a:t>SMO: </a:t>
            </a:r>
            <a:r>
              <a:rPr lang="en-US" altLang="zh-CN" dirty="0" err="1">
                <a:latin typeface="Times New Roman" panose="02020603050405020304" pitchFamily="18" charset="0"/>
                <a:cs typeface="Times New Roman" panose="02020603050405020304" pitchFamily="18" charset="0"/>
                <a:sym typeface="+mn-ea"/>
              </a:rPr>
              <a:t>Vajjala</a:t>
            </a:r>
            <a:r>
              <a:rPr lang="en-US" altLang="zh-CN" dirty="0">
                <a:latin typeface="Times New Roman" panose="02020603050405020304" pitchFamily="18" charset="0"/>
                <a:cs typeface="Times New Roman" panose="02020603050405020304" pitchFamily="18" charset="0"/>
                <a:sym typeface="+mn-ea"/>
              </a:rPr>
              <a:t>, 2018</a:t>
            </a:r>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ü"/>
            </a:pPr>
            <a:r>
              <a:rPr lang="en-US" altLang="zh-CN" dirty="0">
                <a:latin typeface="Times New Roman" panose="02020603050405020304" pitchFamily="18" charset="0"/>
                <a:cs typeface="Times New Roman" panose="02020603050405020304" pitchFamily="18" charset="0"/>
              </a:rPr>
              <a:t>Ranking</a:t>
            </a:r>
          </a:p>
          <a:p>
            <a:pPr marL="742950" lvl="1" indent="-285750">
              <a:buSzPct val="50000"/>
              <a:buFont typeface="Wingdings" panose="05000000000000000000" charset="0"/>
              <a:buChar char="l"/>
            </a:pPr>
            <a:r>
              <a:rPr lang="en-US" altLang="zh-CN" dirty="0">
                <a:latin typeface="Times New Roman" panose="02020603050405020304" pitchFamily="18" charset="0"/>
                <a:cs typeface="Times New Roman" panose="02020603050405020304" pitchFamily="18" charset="0"/>
              </a:rPr>
              <a:t>SVM ranking</a:t>
            </a:r>
          </a:p>
          <a:p>
            <a:pPr lvl="2" indent="0">
              <a:buFont typeface="Wingdings" panose="05000000000000000000" charset="0"/>
              <a:buNone/>
            </a:pPr>
            <a:r>
              <a:rPr lang="en-US" altLang="zh-CN" dirty="0">
                <a:solidFill>
                  <a:schemeClr val="accent1"/>
                </a:solidFill>
                <a:latin typeface="Times New Roman" panose="02020603050405020304" pitchFamily="18" charset="0"/>
                <a:cs typeface="Times New Roman" panose="02020603050405020304" pitchFamily="18" charset="0"/>
              </a:rPr>
              <a:t>Yan_x0002_nakoudakis et al., 2011; </a:t>
            </a:r>
            <a:r>
              <a:rPr lang="en-US" altLang="zh-CN" dirty="0" err="1">
                <a:solidFill>
                  <a:schemeClr val="accent1"/>
                </a:solidFill>
                <a:latin typeface="Times New Roman" panose="02020603050405020304" pitchFamily="18" charset="0"/>
                <a:cs typeface="Times New Roman" panose="02020603050405020304" pitchFamily="18" charset="0"/>
              </a:rPr>
              <a:t>Yannakoudakis</a:t>
            </a:r>
            <a:r>
              <a:rPr lang="en-US" altLang="zh-CN" dirty="0">
                <a:solidFill>
                  <a:schemeClr val="accent1"/>
                </a:solidFill>
                <a:latin typeface="Times New Roman" panose="02020603050405020304" pitchFamily="18" charset="0"/>
                <a:cs typeface="Times New Roman" panose="02020603050405020304" pitchFamily="18" charset="0"/>
              </a:rPr>
              <a:t> and Briscoe, 2012</a:t>
            </a:r>
          </a:p>
          <a:p>
            <a:pPr marL="742950" lvl="1" indent="-285750">
              <a:buSzPct val="50000"/>
              <a:buFont typeface="Wingdings" panose="05000000000000000000" charset="0"/>
              <a:buChar char="l"/>
            </a:pPr>
            <a:r>
              <a:rPr lang="en-US" altLang="zh-CN" dirty="0" err="1">
                <a:solidFill>
                  <a:schemeClr val="tx1"/>
                </a:solidFill>
                <a:latin typeface="Times New Roman" panose="02020603050405020304" pitchFamily="18" charset="0"/>
                <a:cs typeface="Times New Roman" panose="02020603050405020304" pitchFamily="18" charset="0"/>
              </a:rPr>
              <a:t>LambdaMART</a:t>
            </a:r>
            <a:endParaRPr lang="en-US" altLang="zh-CN" dirty="0">
              <a:solidFill>
                <a:schemeClr val="tx1"/>
              </a:solidFill>
              <a:latin typeface="Times New Roman" panose="02020603050405020304" pitchFamily="18" charset="0"/>
              <a:cs typeface="Times New Roman" panose="02020603050405020304" pitchFamily="18" charset="0"/>
            </a:endParaRPr>
          </a:p>
          <a:p>
            <a:pPr lvl="2" indent="0">
              <a:buSzPct val="50000"/>
              <a:buFont typeface="Wingdings" panose="05000000000000000000" charset="0"/>
              <a:buNone/>
            </a:pPr>
            <a:r>
              <a:rPr lang="en-US" altLang="zh-CN" dirty="0">
                <a:solidFill>
                  <a:schemeClr val="accent1"/>
                </a:solidFill>
                <a:latin typeface="Times New Roman" panose="02020603050405020304" pitchFamily="18" charset="0"/>
                <a:cs typeface="Times New Roman" panose="02020603050405020304" pitchFamily="18" charset="0"/>
              </a:rPr>
              <a:t>Chen and He, 2013</a:t>
            </a:r>
          </a:p>
        </p:txBody>
      </p:sp>
    </p:spTree>
    <p:extLst>
      <p:ext uri="{BB962C8B-B14F-4D97-AF65-F5344CB8AC3E}">
        <p14:creationId xmlns:p14="http://schemas.microsoft.com/office/powerpoint/2010/main" val="946062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87430" y="521386"/>
            <a:ext cx="4203131" cy="442491"/>
            <a:chOff x="716110" y="457998"/>
            <a:chExt cx="4203131" cy="442491"/>
          </a:xfrm>
        </p:grpSpPr>
        <p:sp>
          <p:nvSpPr>
            <p:cNvPr id="3" name="文本框 2"/>
            <p:cNvSpPr txBox="1"/>
            <p:nvPr/>
          </p:nvSpPr>
          <p:spPr>
            <a:xfrm>
              <a:off x="716110" y="457998"/>
              <a:ext cx="4203131" cy="438582"/>
            </a:xfrm>
            <a:prstGeom prst="rect">
              <a:avLst/>
            </a:prstGeom>
            <a:noFill/>
          </p:spPr>
          <p:txBody>
            <a:bodyPr wrap="square" lIns="68580" tIns="34290" rIns="68580" bIns="34290" rtlCol="0">
              <a:spAutoFit/>
            </a:bodyPr>
            <a:lstStyle/>
            <a:p>
              <a:pPr defTabSz="685800"/>
              <a:r>
                <a:rPr lang="en-US" altLang="zh-CN" sz="2400" b="1" dirty="0">
                  <a:latin typeface="Times New Roman" panose="02020603050405020304" pitchFamily="18" charset="0"/>
                  <a:ea typeface="微软雅黑" panose="020B0503020204020204" charset="-122"/>
                  <a:cs typeface="Times New Roman" panose="02020603050405020304" pitchFamily="18" charset="0"/>
                  <a:sym typeface="+mn-lt"/>
                </a:rPr>
                <a:t>Neural Approaches</a:t>
              </a:r>
            </a:p>
          </p:txBody>
        </p:sp>
        <p:cxnSp>
          <p:nvCxnSpPr>
            <p:cNvPr id="4" name="直接连接符 3"/>
            <p:cNvCxnSpPr>
              <a:cxnSpLocks/>
            </p:cNvCxnSpPr>
            <p:nvPr/>
          </p:nvCxnSpPr>
          <p:spPr>
            <a:xfrm flipV="1">
              <a:off x="774478" y="896580"/>
              <a:ext cx="2467461" cy="3909"/>
            </a:xfrm>
            <a:prstGeom prst="line">
              <a:avLst/>
            </a:prstGeom>
            <a:noFill/>
            <a:ln w="9525" cap="flat" cmpd="sng" algn="ctr">
              <a:solidFill>
                <a:schemeClr val="tx1">
                  <a:lumMod val="85000"/>
                  <a:lumOff val="15000"/>
                </a:schemeClr>
              </a:solidFill>
              <a:prstDash val="solid"/>
              <a:miter lim="800000"/>
            </a:ln>
            <a:effectLst/>
          </p:spPr>
        </p:cxnSp>
      </p:grpSp>
      <p:sp>
        <p:nvSpPr>
          <p:cNvPr id="8" name="文本框 2">
            <a:extLst>
              <a:ext uri="{FF2B5EF4-FFF2-40B4-BE49-F238E27FC236}">
                <a16:creationId xmlns:a16="http://schemas.microsoft.com/office/drawing/2014/main" id="{1CA54401-3BF6-F9A8-D7A1-B36BB2D2351A}"/>
              </a:ext>
            </a:extLst>
          </p:cNvPr>
          <p:cNvSpPr txBox="1"/>
          <p:nvPr/>
        </p:nvSpPr>
        <p:spPr>
          <a:xfrm>
            <a:off x="1676400" y="1755775"/>
            <a:ext cx="7816850" cy="3785652"/>
          </a:xfrm>
          <a:prstGeom prst="rect">
            <a:avLst/>
          </a:prstGeom>
          <a:noFill/>
        </p:spPr>
        <p:txBody>
          <a:bodyPr wrap="square" rtlCol="0">
            <a:spAutoFit/>
          </a:bodyPr>
          <a:lstStyle/>
          <a:p>
            <a:pPr marL="342900" indent="-342900">
              <a:buSzPct val="60000"/>
              <a:buFont typeface="Wingdings" panose="05000000000000000000" charset="0"/>
              <a:buChar char="l"/>
            </a:pPr>
            <a:r>
              <a:rPr lang="en-US" sz="2400" dirty="0">
                <a:latin typeface="Times New Roman" panose="02020603050405020304" pitchFamily="18" charset="0"/>
                <a:cs typeface="Times New Roman" panose="02020603050405020304" pitchFamily="18" charset="0"/>
              </a:rPr>
              <a:t>Feature Engineered Model</a:t>
            </a:r>
          </a:p>
          <a:p>
            <a:pPr marL="742950" lvl="1" indent="-285750">
              <a:buFont typeface="Wingdings" panose="05000000000000000000" charset="0"/>
              <a:buChar char="ü"/>
            </a:pPr>
            <a:r>
              <a:rPr lang="en-US" sz="2400" dirty="0">
                <a:solidFill>
                  <a:schemeClr val="accent4">
                    <a:lumMod val="50000"/>
                    <a:alpha val="100000"/>
                  </a:schemeClr>
                </a:solidFill>
                <a:latin typeface="Times New Roman" panose="02020603050405020304" pitchFamily="18" charset="0"/>
                <a:cs typeface="Times New Roman" panose="02020603050405020304" pitchFamily="18" charset="0"/>
              </a:rPr>
              <a:t> Handcrafted features are explainable and flexible</a:t>
            </a:r>
            <a:endParaRPr lang="en-US" sz="2400" dirty="0">
              <a:solidFill>
                <a:schemeClr val="accent6">
                  <a:lumMod val="50000"/>
                  <a:alpha val="100000"/>
                </a:schemeClr>
              </a:solidFill>
              <a:latin typeface="Times New Roman" panose="02020603050405020304" pitchFamily="18" charset="0"/>
              <a:cs typeface="Times New Roman" panose="02020603050405020304" pitchFamily="18" charset="0"/>
            </a:endParaRPr>
          </a:p>
          <a:p>
            <a:pPr marL="742950" lvl="1" indent="-285750">
              <a:buFont typeface="Wingdings" panose="05000000000000000000" charset="0"/>
              <a:buChar char="ü"/>
            </a:pPr>
            <a:r>
              <a:rPr lang="en-US" sz="2400" dirty="0">
                <a:solidFill>
                  <a:schemeClr val="accent4">
                    <a:lumMod val="50000"/>
                    <a:alpha val="100000"/>
                  </a:schemeClr>
                </a:solidFill>
                <a:latin typeface="Times New Roman" panose="02020603050405020304" pitchFamily="18" charset="0"/>
                <a:cs typeface="Times New Roman" panose="02020603050405020304" pitchFamily="18" charset="0"/>
              </a:rPr>
              <a:t>Could be modified and adapted to different scoring criterion</a:t>
            </a:r>
            <a:endParaRPr lang="en-US" sz="2400" dirty="0">
              <a:solidFill>
                <a:schemeClr val="accent6">
                  <a:lumMod val="50000"/>
                  <a:alpha val="100000"/>
                </a:schemeClr>
              </a:solidFill>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dirty="0">
                <a:solidFill>
                  <a:srgbClr val="840C18">
                    <a:alpha val="100000"/>
                  </a:srgbClr>
                </a:solidFill>
                <a:latin typeface="Times New Roman" panose="02020603050405020304" pitchFamily="18" charset="0"/>
                <a:cs typeface="Times New Roman" panose="02020603050405020304" pitchFamily="18" charset="0"/>
              </a:rPr>
              <a:t>Some deep semantic features are hard to be captured</a:t>
            </a:r>
          </a:p>
          <a:p>
            <a:pPr marL="800100" lvl="1" indent="-342900">
              <a:buFont typeface="Arial" panose="020B0604020202020204" pitchFamily="34" charset="0"/>
              <a:buChar char="×"/>
            </a:pPr>
            <a:endParaRPr lang="en-US" sz="2400" dirty="0">
              <a:solidFill>
                <a:srgbClr val="840C18">
                  <a:alpha val="100000"/>
                </a:srgbClr>
              </a:solidFill>
              <a:latin typeface="Times New Roman" panose="02020603050405020304" pitchFamily="18" charset="0"/>
              <a:cs typeface="Times New Roman" panose="02020603050405020304" pitchFamily="18" charset="0"/>
            </a:endParaRPr>
          </a:p>
          <a:p>
            <a:pPr marL="342900" lvl="0" indent="-342900">
              <a:buSzPct val="60000"/>
              <a:buFont typeface="Wingdings" panose="05000000000000000000" charset="0"/>
              <a:buChar char="l"/>
            </a:pPr>
            <a:r>
              <a:rPr lang="en-US" sz="2400" dirty="0">
                <a:solidFill>
                  <a:schemeClr val="tx1">
                    <a:alpha val="100000"/>
                  </a:schemeClr>
                </a:solidFill>
                <a:latin typeface="Times New Roman" panose="02020603050405020304" pitchFamily="18" charset="0"/>
                <a:cs typeface="Times New Roman" panose="02020603050405020304" pitchFamily="18" charset="0"/>
              </a:rPr>
              <a:t>End-to-End Model</a:t>
            </a:r>
          </a:p>
          <a:p>
            <a:pPr marL="800100" lvl="1" indent="-342900">
              <a:buSzPct val="100000"/>
              <a:buFont typeface="Wingdings" panose="05000000000000000000" charset="0"/>
              <a:buChar char="ü"/>
            </a:pPr>
            <a:r>
              <a:rPr lang="en-US" sz="2400" dirty="0">
                <a:solidFill>
                  <a:schemeClr val="accent4">
                    <a:lumMod val="50000"/>
                    <a:alpha val="100000"/>
                  </a:schemeClr>
                </a:solidFill>
                <a:latin typeface="Times New Roman" panose="02020603050405020304" pitchFamily="18" charset="0"/>
                <a:cs typeface="Times New Roman" panose="02020603050405020304" pitchFamily="18" charset="0"/>
              </a:rPr>
              <a:t>Good at extracting deep semantic features</a:t>
            </a:r>
            <a:endParaRPr lang="en-US" sz="2400" dirty="0">
              <a:solidFill>
                <a:schemeClr val="accent6">
                  <a:lumMod val="50000"/>
                  <a:alpha val="100000"/>
                </a:schemeClr>
              </a:solidFill>
              <a:latin typeface="Times New Roman" panose="02020603050405020304" pitchFamily="18" charset="0"/>
              <a:cs typeface="Times New Roman" panose="02020603050405020304" pitchFamily="18" charset="0"/>
            </a:endParaRPr>
          </a:p>
          <a:p>
            <a:pPr marL="800100" lvl="1" indent="-342900">
              <a:buSzPct val="100000"/>
              <a:buFont typeface="Arial" panose="020B0604020202020204" pitchFamily="34" charset="0"/>
              <a:buChar char="×"/>
            </a:pPr>
            <a:r>
              <a:rPr lang="en-US" sz="2400" dirty="0">
                <a:solidFill>
                  <a:srgbClr val="840C18">
                    <a:alpha val="100000"/>
                  </a:srgbClr>
                </a:solidFill>
                <a:latin typeface="Times New Roman" panose="02020603050405020304" pitchFamily="18" charset="0"/>
                <a:cs typeface="Times New Roman" panose="02020603050405020304" pitchFamily="18" charset="0"/>
              </a:rPr>
              <a:t>can hardly integrate the handcrafted features like spelling errors and grammar errors</a:t>
            </a:r>
          </a:p>
        </p:txBody>
      </p:sp>
    </p:spTree>
    <p:extLst>
      <p:ext uri="{BB962C8B-B14F-4D97-AF65-F5344CB8AC3E}">
        <p14:creationId xmlns:p14="http://schemas.microsoft.com/office/powerpoint/2010/main" val="3823147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任意多边形 31"/>
          <p:cNvSpPr>
            <a:spLocks noChangeAspect="1"/>
          </p:cNvSpPr>
          <p:nvPr/>
        </p:nvSpPr>
        <p:spPr>
          <a:xfrm>
            <a:off x="1293955" y="1323220"/>
            <a:ext cx="815283" cy="639829"/>
          </a:xfrm>
          <a:custGeom>
            <a:avLst/>
            <a:gdLst/>
            <a:ahLst/>
            <a:cxnLst/>
            <a:rect l="l" t="t" r="r" b="b"/>
            <a:pathLst>
              <a:path w="346472" h="271909">
                <a:moveTo>
                  <a:pt x="321916" y="0"/>
                </a:moveTo>
                <a:lnTo>
                  <a:pt x="346472" y="52238"/>
                </a:lnTo>
                <a:cubicBezTo>
                  <a:pt x="321171" y="60573"/>
                  <a:pt x="303163" y="72181"/>
                  <a:pt x="292448" y="87064"/>
                </a:cubicBezTo>
                <a:cubicBezTo>
                  <a:pt x="281732" y="101947"/>
                  <a:pt x="276077" y="121741"/>
                  <a:pt x="275481" y="146447"/>
                </a:cubicBezTo>
                <a:lnTo>
                  <a:pt x="336203" y="146447"/>
                </a:lnTo>
                <a:lnTo>
                  <a:pt x="336203" y="271909"/>
                </a:lnTo>
                <a:lnTo>
                  <a:pt x="210741" y="271909"/>
                </a:lnTo>
                <a:lnTo>
                  <a:pt x="210741" y="181719"/>
                </a:lnTo>
                <a:cubicBezTo>
                  <a:pt x="210741" y="145405"/>
                  <a:pt x="213866" y="116830"/>
                  <a:pt x="220117" y="95994"/>
                </a:cubicBezTo>
                <a:cubicBezTo>
                  <a:pt x="226368" y="75158"/>
                  <a:pt x="238200" y="56331"/>
                  <a:pt x="255613" y="39514"/>
                </a:cubicBezTo>
                <a:cubicBezTo>
                  <a:pt x="273026" y="22696"/>
                  <a:pt x="295126" y="9525"/>
                  <a:pt x="321916" y="0"/>
                </a:cubicBezTo>
                <a:close/>
                <a:moveTo>
                  <a:pt x="111175" y="0"/>
                </a:moveTo>
                <a:lnTo>
                  <a:pt x="135732" y="52238"/>
                </a:lnTo>
                <a:cubicBezTo>
                  <a:pt x="110728" y="60573"/>
                  <a:pt x="92795" y="72181"/>
                  <a:pt x="81930" y="87064"/>
                </a:cubicBezTo>
                <a:cubicBezTo>
                  <a:pt x="71066" y="101947"/>
                  <a:pt x="65485" y="121741"/>
                  <a:pt x="65187" y="146447"/>
                </a:cubicBezTo>
                <a:lnTo>
                  <a:pt x="125462" y="146447"/>
                </a:lnTo>
                <a:lnTo>
                  <a:pt x="125462" y="271909"/>
                </a:lnTo>
                <a:lnTo>
                  <a:pt x="0" y="271909"/>
                </a:lnTo>
                <a:lnTo>
                  <a:pt x="0" y="181719"/>
                </a:lnTo>
                <a:cubicBezTo>
                  <a:pt x="0" y="145405"/>
                  <a:pt x="3200" y="116830"/>
                  <a:pt x="9600" y="95994"/>
                </a:cubicBezTo>
                <a:cubicBezTo>
                  <a:pt x="15999" y="75158"/>
                  <a:pt x="27906" y="56331"/>
                  <a:pt x="45319" y="39514"/>
                </a:cubicBezTo>
                <a:cubicBezTo>
                  <a:pt x="62731" y="22696"/>
                  <a:pt x="84684" y="9525"/>
                  <a:pt x="11117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任意多边形 31"/>
          <p:cNvSpPr>
            <a:spLocks noChangeAspect="1"/>
          </p:cNvSpPr>
          <p:nvPr/>
        </p:nvSpPr>
        <p:spPr>
          <a:xfrm rot="10800000">
            <a:off x="10038961" y="4860578"/>
            <a:ext cx="859084" cy="674203"/>
          </a:xfrm>
          <a:custGeom>
            <a:avLst/>
            <a:gdLst/>
            <a:ahLst/>
            <a:cxnLst/>
            <a:rect l="l" t="t" r="r" b="b"/>
            <a:pathLst>
              <a:path w="346472" h="271909">
                <a:moveTo>
                  <a:pt x="321916" y="0"/>
                </a:moveTo>
                <a:lnTo>
                  <a:pt x="346472" y="52238"/>
                </a:lnTo>
                <a:cubicBezTo>
                  <a:pt x="321171" y="60573"/>
                  <a:pt x="303163" y="72181"/>
                  <a:pt x="292448" y="87064"/>
                </a:cubicBezTo>
                <a:cubicBezTo>
                  <a:pt x="281732" y="101947"/>
                  <a:pt x="276077" y="121741"/>
                  <a:pt x="275481" y="146447"/>
                </a:cubicBezTo>
                <a:lnTo>
                  <a:pt x="336203" y="146447"/>
                </a:lnTo>
                <a:lnTo>
                  <a:pt x="336203" y="271909"/>
                </a:lnTo>
                <a:lnTo>
                  <a:pt x="210741" y="271909"/>
                </a:lnTo>
                <a:lnTo>
                  <a:pt x="210741" y="181719"/>
                </a:lnTo>
                <a:cubicBezTo>
                  <a:pt x="210741" y="145405"/>
                  <a:pt x="213866" y="116830"/>
                  <a:pt x="220117" y="95994"/>
                </a:cubicBezTo>
                <a:cubicBezTo>
                  <a:pt x="226368" y="75158"/>
                  <a:pt x="238200" y="56331"/>
                  <a:pt x="255613" y="39514"/>
                </a:cubicBezTo>
                <a:cubicBezTo>
                  <a:pt x="273026" y="22696"/>
                  <a:pt x="295126" y="9525"/>
                  <a:pt x="321916" y="0"/>
                </a:cubicBezTo>
                <a:close/>
                <a:moveTo>
                  <a:pt x="111175" y="0"/>
                </a:moveTo>
                <a:lnTo>
                  <a:pt x="135732" y="52238"/>
                </a:lnTo>
                <a:cubicBezTo>
                  <a:pt x="110728" y="60573"/>
                  <a:pt x="92795" y="72181"/>
                  <a:pt x="81930" y="87064"/>
                </a:cubicBezTo>
                <a:cubicBezTo>
                  <a:pt x="71066" y="101947"/>
                  <a:pt x="65485" y="121741"/>
                  <a:pt x="65187" y="146447"/>
                </a:cubicBezTo>
                <a:lnTo>
                  <a:pt x="125462" y="146447"/>
                </a:lnTo>
                <a:lnTo>
                  <a:pt x="125462" y="271909"/>
                </a:lnTo>
                <a:lnTo>
                  <a:pt x="0" y="271909"/>
                </a:lnTo>
                <a:lnTo>
                  <a:pt x="0" y="181719"/>
                </a:lnTo>
                <a:cubicBezTo>
                  <a:pt x="0" y="145405"/>
                  <a:pt x="3200" y="116830"/>
                  <a:pt x="9600" y="95994"/>
                </a:cubicBezTo>
                <a:cubicBezTo>
                  <a:pt x="15999" y="75158"/>
                  <a:pt x="27906" y="56331"/>
                  <a:pt x="45319" y="39514"/>
                </a:cubicBezTo>
                <a:cubicBezTo>
                  <a:pt x="62731" y="22696"/>
                  <a:pt x="84684" y="9525"/>
                  <a:pt x="11117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6"/>
          <p:cNvSpPr/>
          <p:nvPr/>
        </p:nvSpPr>
        <p:spPr>
          <a:xfrm>
            <a:off x="1649047" y="2451393"/>
            <a:ext cx="8893907" cy="1955215"/>
          </a:xfrm>
          <a:prstGeom prst="rect">
            <a:avLst/>
          </a:prstGeom>
        </p:spPr>
        <p:txBody>
          <a:bodyPr wrap="square" anchor="ctr" anchorCtr="0">
            <a:normAutofit/>
          </a:bodyPr>
          <a:lstStyle/>
          <a:p>
            <a:pPr marL="0" marR="0" lvl="0" indent="0" algn="ctr" defTabSz="914400" rtl="0" eaLnBrk="1" fontAlgn="auto" latinLnBrk="0" hangingPunct="1">
              <a:lnSpc>
                <a:spcPct val="100000"/>
              </a:lnSpc>
              <a:spcBef>
                <a:spcPts val="0"/>
              </a:spcBef>
              <a:spcAft>
                <a:spcPts val="800"/>
              </a:spcAft>
              <a:buSzPct val="100000"/>
              <a:buFontTx/>
              <a:buNone/>
            </a:pPr>
            <a:r>
              <a:rPr kumimoji="0" lang="en-US" altLang="zh-CN" sz="5400" b="1" i="0" u="none" kern="1200" cap="none" spc="280" normalizeH="0" noProof="0" dirty="0">
                <a:ln>
                  <a:noFill/>
                </a:ln>
                <a:solidFill>
                  <a:schemeClr val="tx1">
                    <a:lumMod val="85000"/>
                    <a:lumOff val="15000"/>
                  </a:schemeClr>
                </a:solidFill>
                <a:effectLst/>
                <a:uLnTx/>
                <a:uFillTx/>
                <a:latin typeface="Times New Roman" panose="02020603050405020304" pitchFamily="18" charset="0"/>
                <a:ea typeface="微软雅黑" panose="020B0503020204020204" charset="-122"/>
                <a:cs typeface="Times New Roman" panose="02020603050405020304" pitchFamily="18" charset="0"/>
              </a:rPr>
              <a:t>End to End Models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87430" y="521386"/>
            <a:ext cx="4203131" cy="442491"/>
            <a:chOff x="716110" y="457998"/>
            <a:chExt cx="4203131" cy="442491"/>
          </a:xfrm>
        </p:grpSpPr>
        <p:sp>
          <p:nvSpPr>
            <p:cNvPr id="3" name="文本框 2"/>
            <p:cNvSpPr txBox="1"/>
            <p:nvPr/>
          </p:nvSpPr>
          <p:spPr>
            <a:xfrm>
              <a:off x="716110" y="457998"/>
              <a:ext cx="4203131" cy="438582"/>
            </a:xfrm>
            <a:prstGeom prst="rect">
              <a:avLst/>
            </a:prstGeom>
            <a:noFill/>
          </p:spPr>
          <p:txBody>
            <a:bodyPr wrap="square" lIns="68580" tIns="34290" rIns="68580" bIns="34290" rtlCol="0">
              <a:spAutoFit/>
            </a:bodyPr>
            <a:lstStyle/>
            <a:p>
              <a:pPr defTabSz="685800"/>
              <a:r>
                <a:rPr lang="en-US" altLang="zh-CN" sz="2400" b="1" dirty="0">
                  <a:solidFill>
                    <a:schemeClr val="tx2"/>
                  </a:solidFill>
                  <a:latin typeface="Times New Roman" panose="02020603050405020304" pitchFamily="18" charset="0"/>
                  <a:cs typeface="Times New Roman" panose="02020603050405020304" pitchFamily="18" charset="0"/>
                  <a:sym typeface="+mn-ea"/>
                </a:rPr>
                <a:t>Vanilla CNN-RNN</a:t>
              </a:r>
              <a:endParaRPr lang="en-US" altLang="zh-CN" sz="2400" b="1" dirty="0">
                <a:solidFill>
                  <a:schemeClr val="tx2"/>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cxnSp>
          <p:nvCxnSpPr>
            <p:cNvPr id="4" name="直接连接符 3"/>
            <p:cNvCxnSpPr>
              <a:cxnSpLocks/>
            </p:cNvCxnSpPr>
            <p:nvPr/>
          </p:nvCxnSpPr>
          <p:spPr>
            <a:xfrm flipV="1">
              <a:off x="774478" y="896580"/>
              <a:ext cx="2348192" cy="3909"/>
            </a:xfrm>
            <a:prstGeom prst="line">
              <a:avLst/>
            </a:prstGeom>
            <a:noFill/>
            <a:ln w="9525" cap="flat" cmpd="sng" algn="ctr">
              <a:solidFill>
                <a:schemeClr val="tx1">
                  <a:lumMod val="85000"/>
                  <a:lumOff val="15000"/>
                </a:schemeClr>
              </a:solidFill>
              <a:prstDash val="solid"/>
              <a:miter lim="800000"/>
            </a:ln>
            <a:effectLst/>
          </p:spPr>
        </p:cxnSp>
      </p:grpSp>
      <p:pic>
        <p:nvPicPr>
          <p:cNvPr id="6" name="图片 1">
            <a:extLst>
              <a:ext uri="{FF2B5EF4-FFF2-40B4-BE49-F238E27FC236}">
                <a16:creationId xmlns:a16="http://schemas.microsoft.com/office/drawing/2014/main" id="{D35FE30C-7BB3-A2E7-1F02-340968D72779}"/>
              </a:ext>
            </a:extLst>
          </p:cNvPr>
          <p:cNvPicPr>
            <a:picLocks noChangeAspect="1"/>
          </p:cNvPicPr>
          <p:nvPr/>
        </p:nvPicPr>
        <p:blipFill>
          <a:blip r:embed="rId3"/>
          <a:stretch>
            <a:fillRect/>
          </a:stretch>
        </p:blipFill>
        <p:spPr>
          <a:xfrm>
            <a:off x="1454785" y="2665095"/>
            <a:ext cx="8632825" cy="3806190"/>
          </a:xfrm>
          <a:prstGeom prst="rect">
            <a:avLst/>
          </a:prstGeom>
        </p:spPr>
      </p:pic>
      <p:sp>
        <p:nvSpPr>
          <p:cNvPr id="7" name="文本框 2">
            <a:extLst>
              <a:ext uri="{FF2B5EF4-FFF2-40B4-BE49-F238E27FC236}">
                <a16:creationId xmlns:a16="http://schemas.microsoft.com/office/drawing/2014/main" id="{4A12D8EF-2B25-9782-D704-678B0186FDB0}"/>
              </a:ext>
            </a:extLst>
          </p:cNvPr>
          <p:cNvSpPr txBox="1"/>
          <p:nvPr/>
        </p:nvSpPr>
        <p:spPr>
          <a:xfrm>
            <a:off x="1187430" y="1073341"/>
            <a:ext cx="4909185" cy="737235"/>
          </a:xfrm>
          <a:prstGeom prst="rect">
            <a:avLst/>
          </a:prstGeom>
          <a:noFill/>
        </p:spPr>
        <p:txBody>
          <a:bodyPr wrap="square" rtlCol="0">
            <a:spAutoFit/>
          </a:bodyPr>
          <a:lstStyle/>
          <a:p>
            <a:r>
              <a:rPr lang="zh-CN" altLang="en-US" sz="1400" dirty="0">
                <a:solidFill>
                  <a:schemeClr val="bg2">
                    <a:lumMod val="50000"/>
                  </a:schemeClr>
                </a:solidFill>
                <a:latin typeface="Times New Roman" panose="02020603050405020304" pitchFamily="18" charset="0"/>
                <a:cs typeface="Times New Roman" panose="02020603050405020304" pitchFamily="18" charset="0"/>
              </a:rPr>
              <a:t>Kaveh Taghipour and Hwee Tou</a:t>
            </a:r>
          </a:p>
          <a:p>
            <a:r>
              <a:rPr lang="zh-CN" altLang="en-US" sz="1400" dirty="0">
                <a:solidFill>
                  <a:schemeClr val="bg2">
                    <a:lumMod val="50000"/>
                  </a:schemeClr>
                </a:solidFill>
                <a:latin typeface="Times New Roman" panose="02020603050405020304" pitchFamily="18" charset="0"/>
                <a:cs typeface="Times New Roman" panose="02020603050405020304" pitchFamily="18" charset="0"/>
              </a:rPr>
              <a:t>Ng. </a:t>
            </a:r>
            <a:r>
              <a:rPr lang="zh-CN" altLang="en-US" sz="1400" u="sng" dirty="0">
                <a:solidFill>
                  <a:schemeClr val="bg2">
                    <a:lumMod val="50000"/>
                  </a:schemeClr>
                </a:solidFill>
                <a:latin typeface="Times New Roman" panose="02020603050405020304" pitchFamily="18" charset="0"/>
                <a:cs typeface="Times New Roman" panose="02020603050405020304" pitchFamily="18" charset="0"/>
              </a:rPr>
              <a:t>A neural approach to automated essay scoring.</a:t>
            </a:r>
            <a:r>
              <a:rPr lang="zh-CN" altLang="en-US" sz="1400" dirty="0">
                <a:solidFill>
                  <a:schemeClr val="bg2">
                    <a:lumMod val="50000"/>
                  </a:schemeClr>
                </a:solidFill>
                <a:latin typeface="Times New Roman" panose="02020603050405020304" pitchFamily="18" charset="0"/>
                <a:cs typeface="Times New Roman" panose="02020603050405020304" pitchFamily="18" charset="0"/>
              </a:rPr>
              <a:t> </a:t>
            </a:r>
            <a:endParaRPr lang="en-US" altLang="zh-CN" sz="1400" dirty="0">
              <a:solidFill>
                <a:schemeClr val="bg2">
                  <a:lumMod val="50000"/>
                </a:schemeClr>
              </a:solidFill>
              <a:latin typeface="Times New Roman" panose="02020603050405020304" pitchFamily="18" charset="0"/>
              <a:cs typeface="Times New Roman" panose="02020603050405020304" pitchFamily="18" charset="0"/>
            </a:endParaRPr>
          </a:p>
          <a:p>
            <a:r>
              <a:rPr lang="zh-CN" altLang="en-US" sz="1400" dirty="0">
                <a:solidFill>
                  <a:schemeClr val="bg2">
                    <a:lumMod val="50000"/>
                  </a:schemeClr>
                </a:solidFill>
                <a:latin typeface="Times New Roman" panose="02020603050405020304" pitchFamily="18" charset="0"/>
                <a:cs typeface="Times New Roman" panose="02020603050405020304" pitchFamily="18" charset="0"/>
              </a:rPr>
              <a:t>In</a:t>
            </a:r>
            <a:r>
              <a:rPr lang="en-US" altLang="zh-CN" sz="1400" dirty="0">
                <a:solidFill>
                  <a:schemeClr val="bg2">
                    <a:lumMod val="50000"/>
                  </a:schemeClr>
                </a:solidFill>
                <a:latin typeface="Times New Roman" panose="02020603050405020304" pitchFamily="18" charset="0"/>
                <a:cs typeface="Times New Roman" panose="02020603050405020304" pitchFamily="18" charset="0"/>
              </a:rPr>
              <a:t> </a:t>
            </a:r>
            <a:r>
              <a:rPr lang="zh-CN" altLang="en-US" sz="1400" dirty="0">
                <a:solidFill>
                  <a:schemeClr val="bg2">
                    <a:lumMod val="50000"/>
                  </a:schemeClr>
                </a:solidFill>
                <a:latin typeface="Times New Roman" panose="02020603050405020304" pitchFamily="18" charset="0"/>
                <a:cs typeface="Times New Roman" panose="02020603050405020304" pitchFamily="18" charset="0"/>
              </a:rPr>
              <a:t>Proc. of EMNLP, pages 1882–1891, 2016.</a:t>
            </a:r>
          </a:p>
        </p:txBody>
      </p:sp>
      <p:sp>
        <p:nvSpPr>
          <p:cNvPr id="9" name="文本框 3">
            <a:extLst>
              <a:ext uri="{FF2B5EF4-FFF2-40B4-BE49-F238E27FC236}">
                <a16:creationId xmlns:a16="http://schemas.microsoft.com/office/drawing/2014/main" id="{A4173494-6711-256F-A45B-3DE556867F01}"/>
              </a:ext>
            </a:extLst>
          </p:cNvPr>
          <p:cNvSpPr txBox="1"/>
          <p:nvPr/>
        </p:nvSpPr>
        <p:spPr>
          <a:xfrm>
            <a:off x="7635875" y="1071201"/>
            <a:ext cx="2451735" cy="645160"/>
          </a:xfrm>
          <a:prstGeom prst="rect">
            <a:avLst/>
          </a:prstGeom>
          <a:noFill/>
        </p:spPr>
        <p:txBody>
          <a:bodyPr wrap="square" rtlCol="0">
            <a:spAutoFit/>
          </a:bodyPr>
          <a:lstStyle/>
          <a:p>
            <a:r>
              <a:rPr lang="en-US" altLang="zh-CN" dirty="0">
                <a:solidFill>
                  <a:schemeClr val="accent2">
                    <a:lumMod val="50000"/>
                  </a:schemeClr>
                </a:solidFill>
                <a:latin typeface="Times New Roman" panose="02020603050405020304" pitchFamily="18" charset="0"/>
                <a:cs typeface="Times New Roman" panose="02020603050405020304" pitchFamily="18" charset="0"/>
              </a:rPr>
              <a:t>One-hot  CNN  LSTM Dense layer</a:t>
            </a:r>
          </a:p>
        </p:txBody>
      </p:sp>
    </p:spTree>
    <p:extLst>
      <p:ext uri="{BB962C8B-B14F-4D97-AF65-F5344CB8AC3E}">
        <p14:creationId xmlns:p14="http://schemas.microsoft.com/office/powerpoint/2010/main" val="2485594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87430" y="521386"/>
            <a:ext cx="4203131" cy="442491"/>
            <a:chOff x="716110" y="457998"/>
            <a:chExt cx="4203131" cy="442491"/>
          </a:xfrm>
        </p:grpSpPr>
        <p:sp>
          <p:nvSpPr>
            <p:cNvPr id="3" name="文本框 2"/>
            <p:cNvSpPr txBox="1"/>
            <p:nvPr/>
          </p:nvSpPr>
          <p:spPr>
            <a:xfrm>
              <a:off x="716110" y="457998"/>
              <a:ext cx="4203131" cy="438582"/>
            </a:xfrm>
            <a:prstGeom prst="rect">
              <a:avLst/>
            </a:prstGeom>
            <a:noFill/>
          </p:spPr>
          <p:txBody>
            <a:bodyPr wrap="square" lIns="68580" tIns="34290" rIns="68580" bIns="34290" rtlCol="0">
              <a:spAutoFit/>
            </a:bodyPr>
            <a:lstStyle/>
            <a:p>
              <a:pPr defTabSz="685800"/>
              <a:r>
                <a:rPr lang="zh-CN" altLang="en-US" sz="2400" b="1" dirty="0">
                  <a:solidFill>
                    <a:schemeClr val="tx2"/>
                  </a:solidFill>
                  <a:latin typeface="Times New Roman" panose="02020603050405020304" pitchFamily="18" charset="0"/>
                  <a:cs typeface="Times New Roman" panose="02020603050405020304" pitchFamily="18" charset="0"/>
                  <a:sym typeface="+mn-ea"/>
                </a:rPr>
                <a:t>Augmented C&amp;W model</a:t>
              </a:r>
              <a:endParaRPr lang="zh-CN" altLang="en-US" sz="2400" b="1" dirty="0">
                <a:solidFill>
                  <a:schemeClr val="tx2"/>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cxnSp>
          <p:nvCxnSpPr>
            <p:cNvPr id="4" name="直接连接符 3"/>
            <p:cNvCxnSpPr>
              <a:cxnSpLocks/>
            </p:cNvCxnSpPr>
            <p:nvPr/>
          </p:nvCxnSpPr>
          <p:spPr>
            <a:xfrm>
              <a:off x="774478" y="900489"/>
              <a:ext cx="3238738" cy="0"/>
            </a:xfrm>
            <a:prstGeom prst="line">
              <a:avLst/>
            </a:prstGeom>
            <a:noFill/>
            <a:ln w="9525" cap="flat" cmpd="sng" algn="ctr">
              <a:solidFill>
                <a:schemeClr val="tx1">
                  <a:lumMod val="85000"/>
                  <a:lumOff val="15000"/>
                </a:schemeClr>
              </a:solidFill>
              <a:prstDash val="solid"/>
              <a:miter lim="800000"/>
            </a:ln>
            <a:effectLst/>
          </p:spPr>
        </p:cxnSp>
      </p:grpSp>
      <p:sp>
        <p:nvSpPr>
          <p:cNvPr id="7" name="文本框 2">
            <a:extLst>
              <a:ext uri="{FF2B5EF4-FFF2-40B4-BE49-F238E27FC236}">
                <a16:creationId xmlns:a16="http://schemas.microsoft.com/office/drawing/2014/main" id="{4A12D8EF-2B25-9782-D704-678B0186FDB0}"/>
              </a:ext>
            </a:extLst>
          </p:cNvPr>
          <p:cNvSpPr txBox="1"/>
          <p:nvPr/>
        </p:nvSpPr>
        <p:spPr>
          <a:xfrm>
            <a:off x="1187430" y="1073341"/>
            <a:ext cx="4909185" cy="737235"/>
          </a:xfrm>
          <a:prstGeom prst="rect">
            <a:avLst/>
          </a:prstGeom>
          <a:noFill/>
        </p:spPr>
        <p:txBody>
          <a:bodyPr wrap="square" rtlCol="0">
            <a:spAutoFit/>
          </a:bodyPr>
          <a:lstStyle/>
          <a:p>
            <a:r>
              <a:rPr lang="zh-CN" altLang="en-US" sz="1400" dirty="0">
                <a:solidFill>
                  <a:schemeClr val="bg2">
                    <a:lumMod val="50000"/>
                  </a:schemeClr>
                </a:solidFill>
                <a:latin typeface="Times New Roman" panose="02020603050405020304" pitchFamily="18" charset="0"/>
                <a:cs typeface="Times New Roman" panose="02020603050405020304" pitchFamily="18" charset="0"/>
              </a:rPr>
              <a:t>Dimitrios Alikaniotis, Helen Yan_x0002_nakoudakis, and Marek Rei. Automatic text scoring using neural networks.</a:t>
            </a:r>
            <a:endParaRPr lang="en-US" altLang="zh-CN" sz="1400" dirty="0">
              <a:solidFill>
                <a:schemeClr val="bg2">
                  <a:lumMod val="50000"/>
                </a:schemeClr>
              </a:solidFill>
              <a:latin typeface="Times New Roman" panose="02020603050405020304" pitchFamily="18" charset="0"/>
              <a:cs typeface="Times New Roman" panose="02020603050405020304" pitchFamily="18" charset="0"/>
            </a:endParaRPr>
          </a:p>
          <a:p>
            <a:r>
              <a:rPr lang="zh-CN" altLang="en-US" sz="1400" dirty="0">
                <a:solidFill>
                  <a:schemeClr val="bg2">
                    <a:lumMod val="50000"/>
                  </a:schemeClr>
                </a:solidFill>
                <a:latin typeface="Times New Roman" panose="02020603050405020304" pitchFamily="18" charset="0"/>
                <a:cs typeface="Times New Roman" panose="02020603050405020304" pitchFamily="18" charset="0"/>
              </a:rPr>
              <a:t>In Proc. of ACL, pages 715–725, 2016.</a:t>
            </a:r>
          </a:p>
        </p:txBody>
      </p:sp>
      <p:pic>
        <p:nvPicPr>
          <p:cNvPr id="8" name="图片 2">
            <a:extLst>
              <a:ext uri="{FF2B5EF4-FFF2-40B4-BE49-F238E27FC236}">
                <a16:creationId xmlns:a16="http://schemas.microsoft.com/office/drawing/2014/main" id="{8622747C-D786-B731-4BD0-0691FC222E03}"/>
              </a:ext>
            </a:extLst>
          </p:cNvPr>
          <p:cNvPicPr>
            <a:picLocks noChangeAspect="1"/>
          </p:cNvPicPr>
          <p:nvPr/>
        </p:nvPicPr>
        <p:blipFill>
          <a:blip r:embed="rId3"/>
          <a:stretch>
            <a:fillRect/>
          </a:stretch>
        </p:blipFill>
        <p:spPr>
          <a:xfrm>
            <a:off x="1245798" y="2618105"/>
            <a:ext cx="9134475" cy="3817620"/>
          </a:xfrm>
          <a:prstGeom prst="rect">
            <a:avLst/>
          </a:prstGeom>
        </p:spPr>
      </p:pic>
      <p:sp>
        <p:nvSpPr>
          <p:cNvPr id="10" name="文本框 3">
            <a:extLst>
              <a:ext uri="{FF2B5EF4-FFF2-40B4-BE49-F238E27FC236}">
                <a16:creationId xmlns:a16="http://schemas.microsoft.com/office/drawing/2014/main" id="{5ECECD0D-8ED6-BA92-968C-7712470D2E3F}"/>
              </a:ext>
            </a:extLst>
          </p:cNvPr>
          <p:cNvSpPr txBox="1"/>
          <p:nvPr/>
        </p:nvSpPr>
        <p:spPr>
          <a:xfrm>
            <a:off x="2603997" y="2627057"/>
            <a:ext cx="2934335" cy="368300"/>
          </a:xfrm>
          <a:prstGeom prst="rect">
            <a:avLst/>
          </a:prstGeom>
          <a:noFill/>
        </p:spPr>
        <p:txBody>
          <a:bodyPr wrap="square" rtlCol="0">
            <a:spAutoFit/>
          </a:bodyPr>
          <a:lstStyle/>
          <a:p>
            <a:r>
              <a:rPr lang="en-US" altLang="zh-CN" dirty="0"/>
              <a:t>Original C&amp;W</a:t>
            </a:r>
          </a:p>
        </p:txBody>
      </p:sp>
      <p:sp>
        <p:nvSpPr>
          <p:cNvPr id="11" name="文本框 5">
            <a:extLst>
              <a:ext uri="{FF2B5EF4-FFF2-40B4-BE49-F238E27FC236}">
                <a16:creationId xmlns:a16="http://schemas.microsoft.com/office/drawing/2014/main" id="{BC83B2F1-F7DF-DBE1-7BAF-7D9F490E9020}"/>
              </a:ext>
            </a:extLst>
          </p:cNvPr>
          <p:cNvSpPr txBox="1"/>
          <p:nvPr/>
        </p:nvSpPr>
        <p:spPr>
          <a:xfrm>
            <a:off x="6896531" y="2341880"/>
            <a:ext cx="3240543" cy="368300"/>
          </a:xfrm>
          <a:prstGeom prst="rect">
            <a:avLst/>
          </a:prstGeom>
          <a:noFill/>
        </p:spPr>
        <p:txBody>
          <a:bodyPr wrap="square" rtlCol="0">
            <a:spAutoFit/>
          </a:bodyPr>
          <a:lstStyle/>
          <a:p>
            <a:r>
              <a:rPr lang="en-US" altLang="zh-CN" dirty="0"/>
              <a:t>Revised, score related</a:t>
            </a:r>
          </a:p>
        </p:txBody>
      </p:sp>
      <p:sp>
        <p:nvSpPr>
          <p:cNvPr id="12" name="文本框 6">
            <a:extLst>
              <a:ext uri="{FF2B5EF4-FFF2-40B4-BE49-F238E27FC236}">
                <a16:creationId xmlns:a16="http://schemas.microsoft.com/office/drawing/2014/main" id="{E1AC0E89-962E-98D7-1241-E2B0CC2F9B98}"/>
              </a:ext>
            </a:extLst>
          </p:cNvPr>
          <p:cNvSpPr txBox="1"/>
          <p:nvPr/>
        </p:nvSpPr>
        <p:spPr>
          <a:xfrm>
            <a:off x="6877602" y="2658171"/>
            <a:ext cx="1403350" cy="337185"/>
          </a:xfrm>
          <a:prstGeom prst="rect">
            <a:avLst/>
          </a:prstGeom>
          <a:noFill/>
        </p:spPr>
        <p:txBody>
          <a:bodyPr wrap="square" rtlCol="0">
            <a:spAutoFit/>
          </a:bodyPr>
          <a:lstStyle/>
          <a:p>
            <a:r>
              <a:rPr lang="en-US" altLang="zh-CN" sz="1600" dirty="0">
                <a:solidFill>
                  <a:schemeClr val="accent2">
                    <a:lumMod val="50000"/>
                  </a:schemeClr>
                </a:solidFill>
              </a:rPr>
              <a:t>Original loss</a:t>
            </a:r>
          </a:p>
        </p:txBody>
      </p:sp>
      <p:sp>
        <p:nvSpPr>
          <p:cNvPr id="13" name="文本框 7">
            <a:extLst>
              <a:ext uri="{FF2B5EF4-FFF2-40B4-BE49-F238E27FC236}">
                <a16:creationId xmlns:a16="http://schemas.microsoft.com/office/drawing/2014/main" id="{58A341DF-32E0-94F0-1371-80F9075ABEB2}"/>
              </a:ext>
            </a:extLst>
          </p:cNvPr>
          <p:cNvSpPr txBox="1"/>
          <p:nvPr/>
        </p:nvSpPr>
        <p:spPr>
          <a:xfrm>
            <a:off x="8280952" y="2658172"/>
            <a:ext cx="1403350" cy="337185"/>
          </a:xfrm>
          <a:prstGeom prst="rect">
            <a:avLst/>
          </a:prstGeom>
          <a:noFill/>
        </p:spPr>
        <p:txBody>
          <a:bodyPr wrap="square" rtlCol="0">
            <a:spAutoFit/>
          </a:bodyPr>
          <a:lstStyle/>
          <a:p>
            <a:r>
              <a:rPr lang="en-US" altLang="zh-CN" sz="1600" dirty="0">
                <a:solidFill>
                  <a:schemeClr val="accent2">
                    <a:lumMod val="50000"/>
                  </a:schemeClr>
                </a:solidFill>
              </a:rPr>
              <a:t>Score loss</a:t>
            </a:r>
          </a:p>
        </p:txBody>
      </p:sp>
      <p:sp>
        <p:nvSpPr>
          <p:cNvPr id="14" name="文本框 9">
            <a:extLst>
              <a:ext uri="{FF2B5EF4-FFF2-40B4-BE49-F238E27FC236}">
                <a16:creationId xmlns:a16="http://schemas.microsoft.com/office/drawing/2014/main" id="{CC0FF5C1-50BA-3D34-354A-74B2D536D876}"/>
              </a:ext>
            </a:extLst>
          </p:cNvPr>
          <p:cNvSpPr txBox="1"/>
          <p:nvPr/>
        </p:nvSpPr>
        <p:spPr>
          <a:xfrm>
            <a:off x="7398302" y="1073341"/>
            <a:ext cx="3168650" cy="645160"/>
          </a:xfrm>
          <a:prstGeom prst="rect">
            <a:avLst/>
          </a:prstGeom>
          <a:noFill/>
        </p:spPr>
        <p:txBody>
          <a:bodyPr wrap="square" rtlCol="0">
            <a:spAutoFit/>
          </a:bodyPr>
          <a:lstStyle/>
          <a:p>
            <a:r>
              <a:rPr lang="en-US" altLang="zh-CN" dirty="0">
                <a:solidFill>
                  <a:schemeClr val="accent2">
                    <a:lumMod val="50000"/>
                  </a:schemeClr>
                </a:solidFill>
                <a:latin typeface="Times New Roman" panose="02020603050405020304" pitchFamily="18" charset="0"/>
                <a:cs typeface="Times New Roman" panose="02020603050405020304" pitchFamily="18" charset="0"/>
              </a:rPr>
              <a:t>From score independent word embedding to score related one</a:t>
            </a:r>
          </a:p>
        </p:txBody>
      </p:sp>
    </p:spTree>
    <p:extLst>
      <p:ext uri="{BB962C8B-B14F-4D97-AF65-F5344CB8AC3E}">
        <p14:creationId xmlns:p14="http://schemas.microsoft.com/office/powerpoint/2010/main" val="3572037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87430" y="521386"/>
            <a:ext cx="4203131" cy="442491"/>
            <a:chOff x="716110" y="457998"/>
            <a:chExt cx="4203131" cy="442491"/>
          </a:xfrm>
        </p:grpSpPr>
        <p:sp>
          <p:nvSpPr>
            <p:cNvPr id="3" name="文本框 2"/>
            <p:cNvSpPr txBox="1"/>
            <p:nvPr/>
          </p:nvSpPr>
          <p:spPr>
            <a:xfrm>
              <a:off x="716110" y="457998"/>
              <a:ext cx="4203131" cy="438582"/>
            </a:xfrm>
            <a:prstGeom prst="rect">
              <a:avLst/>
            </a:prstGeom>
            <a:noFill/>
          </p:spPr>
          <p:txBody>
            <a:bodyPr wrap="square" lIns="68580" tIns="34290" rIns="68580" bIns="34290" rtlCol="0">
              <a:spAutoFit/>
            </a:bodyPr>
            <a:lstStyle/>
            <a:p>
              <a:pPr defTabSz="685800"/>
              <a:r>
                <a:rPr lang="en-US" altLang="zh-CN" sz="2400" b="1" dirty="0" err="1">
                  <a:solidFill>
                    <a:schemeClr val="tx2"/>
                  </a:solidFill>
                  <a:latin typeface="Times New Roman" panose="02020603050405020304" pitchFamily="18" charset="0"/>
                  <a:cs typeface="Times New Roman" panose="02020603050405020304" pitchFamily="18" charset="0"/>
                  <a:sym typeface="+mn-ea"/>
                </a:rPr>
                <a:t>Hierarchichal</a:t>
              </a:r>
              <a:r>
                <a:rPr lang="en-US" altLang="zh-CN" sz="2400" b="1" dirty="0">
                  <a:solidFill>
                    <a:schemeClr val="tx2"/>
                  </a:solidFill>
                  <a:latin typeface="Times New Roman" panose="02020603050405020304" pitchFamily="18" charset="0"/>
                  <a:cs typeface="Times New Roman" panose="02020603050405020304" pitchFamily="18" charset="0"/>
                  <a:sym typeface="+mn-ea"/>
                </a:rPr>
                <a:t> CNN</a:t>
              </a:r>
              <a:endParaRPr lang="en-US" altLang="zh-CN" sz="2400" b="1" dirty="0">
                <a:solidFill>
                  <a:schemeClr val="tx2"/>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cxnSp>
          <p:nvCxnSpPr>
            <p:cNvPr id="4" name="直接连接符 3"/>
            <p:cNvCxnSpPr>
              <a:cxnSpLocks/>
            </p:cNvCxnSpPr>
            <p:nvPr/>
          </p:nvCxnSpPr>
          <p:spPr>
            <a:xfrm>
              <a:off x="774478" y="900489"/>
              <a:ext cx="3238738" cy="0"/>
            </a:xfrm>
            <a:prstGeom prst="line">
              <a:avLst/>
            </a:prstGeom>
            <a:noFill/>
            <a:ln w="9525" cap="flat" cmpd="sng" algn="ctr">
              <a:solidFill>
                <a:schemeClr val="tx1">
                  <a:lumMod val="85000"/>
                  <a:lumOff val="15000"/>
                </a:schemeClr>
              </a:solidFill>
              <a:prstDash val="solid"/>
              <a:miter lim="800000"/>
            </a:ln>
            <a:effectLst/>
          </p:spPr>
        </p:cxnSp>
      </p:grpSp>
      <p:pic>
        <p:nvPicPr>
          <p:cNvPr id="5" name="图片 1">
            <a:extLst>
              <a:ext uri="{FF2B5EF4-FFF2-40B4-BE49-F238E27FC236}">
                <a16:creationId xmlns:a16="http://schemas.microsoft.com/office/drawing/2014/main" id="{4F8A92F5-994A-9EF8-CF87-80C99BD2BEFF}"/>
              </a:ext>
            </a:extLst>
          </p:cNvPr>
          <p:cNvPicPr>
            <a:picLocks noChangeAspect="1"/>
          </p:cNvPicPr>
          <p:nvPr/>
        </p:nvPicPr>
        <p:blipFill>
          <a:blip r:embed="rId3"/>
          <a:stretch>
            <a:fillRect/>
          </a:stretch>
        </p:blipFill>
        <p:spPr>
          <a:xfrm>
            <a:off x="2077085" y="2066290"/>
            <a:ext cx="8037830" cy="4389755"/>
          </a:xfrm>
          <a:prstGeom prst="rect">
            <a:avLst/>
          </a:prstGeom>
        </p:spPr>
      </p:pic>
      <p:sp>
        <p:nvSpPr>
          <p:cNvPr id="6" name="文本框 3">
            <a:extLst>
              <a:ext uri="{FF2B5EF4-FFF2-40B4-BE49-F238E27FC236}">
                <a16:creationId xmlns:a16="http://schemas.microsoft.com/office/drawing/2014/main" id="{5B596D6E-0686-B73D-9307-8F9F06403605}"/>
              </a:ext>
            </a:extLst>
          </p:cNvPr>
          <p:cNvSpPr txBox="1"/>
          <p:nvPr/>
        </p:nvSpPr>
        <p:spPr>
          <a:xfrm>
            <a:off x="1187430" y="1142556"/>
            <a:ext cx="4534535" cy="738664"/>
          </a:xfrm>
          <a:prstGeom prst="rect">
            <a:avLst/>
          </a:prstGeom>
          <a:noFill/>
        </p:spPr>
        <p:txBody>
          <a:bodyPr wrap="square" rtlCol="0" anchor="t">
            <a:spAutoFit/>
          </a:bodyPr>
          <a:lstStyle/>
          <a:p>
            <a:r>
              <a:rPr lang="zh-CN" altLang="en-US" sz="1400" dirty="0">
                <a:solidFill>
                  <a:schemeClr val="bg2">
                    <a:lumMod val="50000"/>
                  </a:schemeClr>
                </a:solidFill>
                <a:latin typeface="Times New Roman" panose="02020603050405020304" pitchFamily="18" charset="0"/>
                <a:cs typeface="Times New Roman" panose="02020603050405020304" pitchFamily="18" charset="0"/>
              </a:rPr>
              <a:t>Fei Dong and Yue Zhang. Auto_x0002_matic features for essay scoring – An empirical study. </a:t>
            </a:r>
            <a:endParaRPr lang="en-US" altLang="zh-CN" sz="1400" dirty="0">
              <a:solidFill>
                <a:schemeClr val="bg2">
                  <a:lumMod val="50000"/>
                </a:schemeClr>
              </a:solidFill>
              <a:latin typeface="Times New Roman" panose="02020603050405020304" pitchFamily="18" charset="0"/>
              <a:cs typeface="Times New Roman" panose="02020603050405020304" pitchFamily="18" charset="0"/>
            </a:endParaRPr>
          </a:p>
          <a:p>
            <a:r>
              <a:rPr lang="zh-CN" altLang="en-US" sz="1400" dirty="0">
                <a:solidFill>
                  <a:schemeClr val="bg2">
                    <a:lumMod val="50000"/>
                  </a:schemeClr>
                </a:solidFill>
                <a:latin typeface="Times New Roman" panose="02020603050405020304" pitchFamily="18" charset="0"/>
                <a:cs typeface="Times New Roman" panose="02020603050405020304" pitchFamily="18" charset="0"/>
              </a:rPr>
              <a:t>In Proc. of EMNLP, pages 1072–1077, 2016.</a:t>
            </a:r>
          </a:p>
        </p:txBody>
      </p:sp>
      <p:sp>
        <p:nvSpPr>
          <p:cNvPr id="9" name="文本框 2">
            <a:extLst>
              <a:ext uri="{FF2B5EF4-FFF2-40B4-BE49-F238E27FC236}">
                <a16:creationId xmlns:a16="http://schemas.microsoft.com/office/drawing/2014/main" id="{F6D309BF-B441-AE99-C8AD-25A0ABB3DBAA}"/>
              </a:ext>
            </a:extLst>
          </p:cNvPr>
          <p:cNvSpPr txBox="1"/>
          <p:nvPr/>
        </p:nvSpPr>
        <p:spPr>
          <a:xfrm>
            <a:off x="6203315" y="1142556"/>
            <a:ext cx="5517515" cy="829945"/>
          </a:xfrm>
          <a:prstGeom prst="rect">
            <a:avLst/>
          </a:prstGeom>
          <a:noFill/>
        </p:spPr>
        <p:txBody>
          <a:bodyPr wrap="square" rtlCol="0">
            <a:spAutoFit/>
          </a:bodyPr>
          <a:lstStyle/>
          <a:p>
            <a:pPr marL="285750" indent="-285750">
              <a:buSzPct val="50000"/>
              <a:buFont typeface="Wingdings" panose="05000000000000000000" charset="0"/>
              <a:buChar char="l"/>
            </a:pPr>
            <a:r>
              <a:rPr lang="en-US" altLang="zh-CN" sz="1600" dirty="0">
                <a:solidFill>
                  <a:schemeClr val="tx2"/>
                </a:solidFill>
                <a:latin typeface="Times New Roman" panose="02020603050405020304" pitchFamily="18" charset="0"/>
                <a:cs typeface="Times New Roman" panose="02020603050405020304" pitchFamily="18" charset="0"/>
              </a:rPr>
              <a:t>Collects feature of different level</a:t>
            </a:r>
          </a:p>
          <a:p>
            <a:pPr marL="285750" indent="-285750">
              <a:buSzPct val="50000"/>
              <a:buFont typeface="Wingdings" panose="05000000000000000000" charset="0"/>
              <a:buChar char="l"/>
            </a:pPr>
            <a:r>
              <a:rPr lang="en-US" altLang="zh-CN" sz="1600" dirty="0">
                <a:solidFill>
                  <a:schemeClr val="tx2"/>
                </a:solidFill>
                <a:latin typeface="Times New Roman" panose="02020603050405020304" pitchFamily="18" charset="0"/>
                <a:cs typeface="Times New Roman" panose="02020603050405020304" pitchFamily="18" charset="0"/>
              </a:rPr>
              <a:t>Can use attention pooling to assign automatically identify important characteristics</a:t>
            </a:r>
          </a:p>
        </p:txBody>
      </p:sp>
      <p:sp>
        <p:nvSpPr>
          <p:cNvPr id="15" name="文本框 9">
            <a:extLst>
              <a:ext uri="{FF2B5EF4-FFF2-40B4-BE49-F238E27FC236}">
                <a16:creationId xmlns:a16="http://schemas.microsoft.com/office/drawing/2014/main" id="{9057D2EC-711B-DF9E-88DC-B5C660B424B3}"/>
              </a:ext>
            </a:extLst>
          </p:cNvPr>
          <p:cNvSpPr txBox="1"/>
          <p:nvPr/>
        </p:nvSpPr>
        <p:spPr>
          <a:xfrm>
            <a:off x="6946265" y="774256"/>
            <a:ext cx="3168650" cy="368300"/>
          </a:xfrm>
          <a:prstGeom prst="rect">
            <a:avLst/>
          </a:prstGeom>
          <a:noFill/>
        </p:spPr>
        <p:txBody>
          <a:bodyPr wrap="square" rtlCol="0">
            <a:spAutoFit/>
          </a:bodyPr>
          <a:lstStyle/>
          <a:p>
            <a:r>
              <a:rPr lang="en-US" altLang="zh-CN" dirty="0">
                <a:solidFill>
                  <a:schemeClr val="accent2">
                    <a:lumMod val="50000"/>
                  </a:schemeClr>
                </a:solidFill>
                <a:latin typeface="Times New Roman" panose="02020603050405020304" pitchFamily="18" charset="0"/>
                <a:cs typeface="Times New Roman" panose="02020603050405020304" pitchFamily="18" charset="0"/>
              </a:rPr>
              <a:t>Hierarchical CNN</a:t>
            </a:r>
          </a:p>
        </p:txBody>
      </p:sp>
    </p:spTree>
    <p:extLst>
      <p:ext uri="{BB962C8B-B14F-4D97-AF65-F5344CB8AC3E}">
        <p14:creationId xmlns:p14="http://schemas.microsoft.com/office/powerpoint/2010/main" val="1846581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87430" y="521386"/>
            <a:ext cx="4203131" cy="442491"/>
            <a:chOff x="716110" y="457998"/>
            <a:chExt cx="4203131" cy="442491"/>
          </a:xfrm>
        </p:grpSpPr>
        <p:sp>
          <p:nvSpPr>
            <p:cNvPr id="3" name="文本框 2"/>
            <p:cNvSpPr txBox="1"/>
            <p:nvPr/>
          </p:nvSpPr>
          <p:spPr>
            <a:xfrm>
              <a:off x="716110" y="457998"/>
              <a:ext cx="4203131" cy="438582"/>
            </a:xfrm>
            <a:prstGeom prst="rect">
              <a:avLst/>
            </a:prstGeom>
            <a:noFill/>
          </p:spPr>
          <p:txBody>
            <a:bodyPr wrap="square" lIns="68580" tIns="34290" rIns="68580" bIns="34290" rtlCol="0">
              <a:spAutoFit/>
            </a:bodyPr>
            <a:lstStyle/>
            <a:p>
              <a:pPr defTabSz="685800"/>
              <a:r>
                <a:rPr lang="en-US" altLang="zh-CN" sz="2400" b="1" dirty="0" err="1">
                  <a:solidFill>
                    <a:schemeClr val="tx2"/>
                  </a:solidFill>
                  <a:latin typeface="Times New Roman" panose="02020603050405020304" pitchFamily="18" charset="0"/>
                  <a:cs typeface="Times New Roman" panose="02020603050405020304" pitchFamily="18" charset="0"/>
                  <a:sym typeface="+mn-ea"/>
                </a:rPr>
                <a:t>SkipFlow</a:t>
              </a:r>
              <a:r>
                <a:rPr lang="en-US" altLang="zh-CN" sz="2400" b="1" dirty="0">
                  <a:solidFill>
                    <a:schemeClr val="tx2"/>
                  </a:solidFill>
                  <a:latin typeface="Times New Roman" panose="02020603050405020304" pitchFamily="18" charset="0"/>
                  <a:cs typeface="Times New Roman" panose="02020603050405020304" pitchFamily="18" charset="0"/>
                  <a:sym typeface="+mn-ea"/>
                </a:rPr>
                <a:t> LSTM</a:t>
              </a:r>
              <a:endParaRPr lang="en-US" altLang="zh-CN" sz="2400" b="1" dirty="0">
                <a:solidFill>
                  <a:schemeClr val="tx2"/>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cxnSp>
          <p:nvCxnSpPr>
            <p:cNvPr id="4" name="直接连接符 3"/>
            <p:cNvCxnSpPr>
              <a:cxnSpLocks/>
            </p:cNvCxnSpPr>
            <p:nvPr/>
          </p:nvCxnSpPr>
          <p:spPr>
            <a:xfrm flipV="1">
              <a:off x="774478" y="896580"/>
              <a:ext cx="2173263" cy="3909"/>
            </a:xfrm>
            <a:prstGeom prst="line">
              <a:avLst/>
            </a:prstGeom>
            <a:noFill/>
            <a:ln w="9525" cap="flat" cmpd="sng" algn="ctr">
              <a:solidFill>
                <a:schemeClr val="tx1">
                  <a:lumMod val="85000"/>
                  <a:lumOff val="15000"/>
                </a:schemeClr>
              </a:solidFill>
              <a:prstDash val="solid"/>
              <a:miter lim="800000"/>
            </a:ln>
            <a:effectLst/>
          </p:spPr>
        </p:cxnSp>
      </p:grpSp>
      <p:pic>
        <p:nvPicPr>
          <p:cNvPr id="7" name="图片 1">
            <a:extLst>
              <a:ext uri="{FF2B5EF4-FFF2-40B4-BE49-F238E27FC236}">
                <a16:creationId xmlns:a16="http://schemas.microsoft.com/office/drawing/2014/main" id="{54C1BB29-0B18-84CC-694C-09C6B01B0661}"/>
              </a:ext>
            </a:extLst>
          </p:cNvPr>
          <p:cNvPicPr>
            <a:picLocks noChangeAspect="1"/>
          </p:cNvPicPr>
          <p:nvPr/>
        </p:nvPicPr>
        <p:blipFill>
          <a:blip r:embed="rId3"/>
          <a:stretch>
            <a:fillRect/>
          </a:stretch>
        </p:blipFill>
        <p:spPr>
          <a:xfrm>
            <a:off x="1942782" y="2329815"/>
            <a:ext cx="8306435" cy="4528185"/>
          </a:xfrm>
          <a:prstGeom prst="rect">
            <a:avLst/>
          </a:prstGeom>
        </p:spPr>
      </p:pic>
      <p:sp>
        <p:nvSpPr>
          <p:cNvPr id="8" name="文本框 4">
            <a:extLst>
              <a:ext uri="{FF2B5EF4-FFF2-40B4-BE49-F238E27FC236}">
                <a16:creationId xmlns:a16="http://schemas.microsoft.com/office/drawing/2014/main" id="{0956CC6C-2951-B9A7-0E2F-4A9100896F9F}"/>
              </a:ext>
            </a:extLst>
          </p:cNvPr>
          <p:cNvSpPr txBox="1"/>
          <p:nvPr/>
        </p:nvSpPr>
        <p:spPr>
          <a:xfrm>
            <a:off x="1187430" y="1094296"/>
            <a:ext cx="4731385" cy="954107"/>
          </a:xfrm>
          <a:prstGeom prst="rect">
            <a:avLst/>
          </a:prstGeom>
          <a:noFill/>
        </p:spPr>
        <p:txBody>
          <a:bodyPr wrap="square" rtlCol="0" anchor="t">
            <a:spAutoFit/>
          </a:bodyPr>
          <a:lstStyle/>
          <a:p>
            <a:r>
              <a:rPr lang="zh-CN" altLang="en-US" sz="1400" dirty="0">
                <a:solidFill>
                  <a:schemeClr val="bg2">
                    <a:lumMod val="50000"/>
                  </a:schemeClr>
                </a:solidFill>
                <a:latin typeface="Times New Roman" panose="02020603050405020304" pitchFamily="18" charset="0"/>
                <a:cs typeface="Times New Roman" panose="02020603050405020304" pitchFamily="18" charset="0"/>
              </a:rPr>
              <a:t>Yi Tay, Minh C. Phan, Luu Anh Tuan, and</a:t>
            </a:r>
          </a:p>
          <a:p>
            <a:r>
              <a:rPr lang="zh-CN" altLang="en-US" sz="1400" dirty="0">
                <a:solidFill>
                  <a:schemeClr val="bg2">
                    <a:lumMod val="50000"/>
                  </a:schemeClr>
                </a:solidFill>
                <a:latin typeface="Times New Roman" panose="02020603050405020304" pitchFamily="18" charset="0"/>
                <a:cs typeface="Times New Roman" panose="02020603050405020304" pitchFamily="18" charset="0"/>
              </a:rPr>
              <a:t>Siu Cheung Hui. SkipFlow: Incorporating neural coherence features for end-to-end automatic text scoring. </a:t>
            </a:r>
            <a:endParaRPr lang="en-US" altLang="zh-CN" sz="1400" dirty="0">
              <a:solidFill>
                <a:schemeClr val="bg2">
                  <a:lumMod val="50000"/>
                </a:schemeClr>
              </a:solidFill>
              <a:latin typeface="Times New Roman" panose="02020603050405020304" pitchFamily="18" charset="0"/>
              <a:cs typeface="Times New Roman" panose="02020603050405020304" pitchFamily="18" charset="0"/>
            </a:endParaRPr>
          </a:p>
          <a:p>
            <a:r>
              <a:rPr lang="zh-CN" altLang="en-US" sz="1400" dirty="0">
                <a:solidFill>
                  <a:schemeClr val="bg2">
                    <a:lumMod val="50000"/>
                  </a:schemeClr>
                </a:solidFill>
                <a:latin typeface="Times New Roman" panose="02020603050405020304" pitchFamily="18" charset="0"/>
                <a:cs typeface="Times New Roman" panose="02020603050405020304" pitchFamily="18" charset="0"/>
              </a:rPr>
              <a:t>In Proc. of AAAI, pages 5948–5955, 2018.</a:t>
            </a:r>
          </a:p>
        </p:txBody>
      </p:sp>
      <p:sp>
        <p:nvSpPr>
          <p:cNvPr id="10" name="文本框 2">
            <a:extLst>
              <a:ext uri="{FF2B5EF4-FFF2-40B4-BE49-F238E27FC236}">
                <a16:creationId xmlns:a16="http://schemas.microsoft.com/office/drawing/2014/main" id="{7CE4DE04-34D6-6892-4A5F-33F1FEAB4CAD}"/>
              </a:ext>
            </a:extLst>
          </p:cNvPr>
          <p:cNvSpPr txBox="1"/>
          <p:nvPr/>
        </p:nvSpPr>
        <p:spPr>
          <a:xfrm>
            <a:off x="5631180" y="1094296"/>
            <a:ext cx="6560820" cy="645160"/>
          </a:xfrm>
          <a:prstGeom prst="rect">
            <a:avLst/>
          </a:prstGeom>
          <a:noFill/>
        </p:spPr>
        <p:txBody>
          <a:bodyPr wrap="square" rtlCol="0">
            <a:spAutoFit/>
          </a:bodyPr>
          <a:lstStyle/>
          <a:p>
            <a:pPr marL="285750" indent="-285750">
              <a:buSzPct val="50000"/>
              <a:buFont typeface="Wingdings" panose="05000000000000000000" charset="0"/>
              <a:buChar char="l"/>
            </a:pPr>
            <a:r>
              <a:rPr lang="en-US" altLang="zh-CN" dirty="0">
                <a:solidFill>
                  <a:schemeClr val="tx2"/>
                </a:solidFill>
                <a:latin typeface="Times New Roman" panose="02020603050405020304" pitchFamily="18" charset="0"/>
                <a:cs typeface="Times New Roman" panose="02020603050405020304" pitchFamily="18" charset="0"/>
              </a:rPr>
              <a:t>Compute the </a:t>
            </a:r>
            <a:r>
              <a:rPr lang="en-US" altLang="zh-CN" dirty="0" err="1">
                <a:solidFill>
                  <a:schemeClr val="tx2"/>
                </a:solidFill>
                <a:latin typeface="Times New Roman" panose="02020603050405020304" pitchFamily="18" charset="0"/>
                <a:cs typeface="Times New Roman" panose="02020603050405020304" pitchFamily="18" charset="0"/>
              </a:rPr>
              <a:t>relavence</a:t>
            </a:r>
            <a:r>
              <a:rPr lang="en-US" altLang="zh-CN" dirty="0">
                <a:solidFill>
                  <a:schemeClr val="tx2"/>
                </a:solidFill>
                <a:latin typeface="Times New Roman" panose="02020603050405020304" pitchFamily="18" charset="0"/>
                <a:cs typeface="Times New Roman" panose="02020603050405020304" pitchFamily="18" charset="0"/>
              </a:rPr>
              <a:t> score of pairs of outputs with interval </a:t>
            </a:r>
            <a:r>
              <a:rPr lang="en-US" altLang="zh-CN" sz="1800" dirty="0">
                <a:solidFill>
                  <a:schemeClr val="tx2"/>
                </a:solidFill>
                <a:latin typeface="Times New Roman" panose="02020603050405020304" pitchFamily="18" charset="0"/>
                <a:cs typeface="Times New Roman" panose="02020603050405020304" pitchFamily="18" charset="0"/>
              </a:rPr>
              <a:t>δ</a:t>
            </a:r>
          </a:p>
          <a:p>
            <a:pPr marL="285750" indent="-285750">
              <a:buSzPct val="50000"/>
              <a:buFont typeface="Wingdings" panose="05000000000000000000" charset="0"/>
              <a:buChar char="l"/>
            </a:pPr>
            <a:r>
              <a:rPr lang="en-US" altLang="zh-CN" dirty="0" err="1">
                <a:solidFill>
                  <a:schemeClr val="tx2"/>
                </a:solidFill>
                <a:latin typeface="Times New Roman" panose="02020603050405020304" pitchFamily="18" charset="0"/>
                <a:cs typeface="Times New Roman" panose="02020603050405020304" pitchFamily="18" charset="0"/>
              </a:rPr>
              <a:t>Relavence</a:t>
            </a:r>
            <a:r>
              <a:rPr lang="en-US" altLang="zh-CN" dirty="0">
                <a:solidFill>
                  <a:schemeClr val="tx2"/>
                </a:solidFill>
                <a:latin typeface="Times New Roman" panose="02020603050405020304" pitchFamily="18" charset="0"/>
                <a:cs typeface="Times New Roman" panose="02020603050405020304" pitchFamily="18" charset="0"/>
              </a:rPr>
              <a:t> is computed as</a:t>
            </a:r>
          </a:p>
        </p:txBody>
      </p:sp>
      <p:pic>
        <p:nvPicPr>
          <p:cNvPr id="11" name="图片 3">
            <a:extLst>
              <a:ext uri="{FF2B5EF4-FFF2-40B4-BE49-F238E27FC236}">
                <a16:creationId xmlns:a16="http://schemas.microsoft.com/office/drawing/2014/main" id="{CA2C39DF-D55C-C7EA-4948-6A589B73BF8B}"/>
              </a:ext>
            </a:extLst>
          </p:cNvPr>
          <p:cNvPicPr>
            <a:picLocks noChangeAspect="1"/>
          </p:cNvPicPr>
          <p:nvPr/>
        </p:nvPicPr>
        <p:blipFill>
          <a:blip r:embed="rId4"/>
          <a:stretch>
            <a:fillRect/>
          </a:stretch>
        </p:blipFill>
        <p:spPr>
          <a:xfrm>
            <a:off x="5686425" y="1760167"/>
            <a:ext cx="5207000" cy="356870"/>
          </a:xfrm>
          <a:prstGeom prst="rect">
            <a:avLst/>
          </a:prstGeom>
        </p:spPr>
      </p:pic>
      <p:sp>
        <p:nvSpPr>
          <p:cNvPr id="12" name="文本框 9">
            <a:extLst>
              <a:ext uri="{FF2B5EF4-FFF2-40B4-BE49-F238E27FC236}">
                <a16:creationId xmlns:a16="http://schemas.microsoft.com/office/drawing/2014/main" id="{C6FC3AA1-5192-CFE6-7488-9B58588B5B5A}"/>
              </a:ext>
            </a:extLst>
          </p:cNvPr>
          <p:cNvSpPr txBox="1"/>
          <p:nvPr/>
        </p:nvSpPr>
        <p:spPr>
          <a:xfrm>
            <a:off x="6553200" y="523875"/>
            <a:ext cx="3745865" cy="368300"/>
          </a:xfrm>
          <a:prstGeom prst="rect">
            <a:avLst/>
          </a:prstGeom>
          <a:noFill/>
        </p:spPr>
        <p:txBody>
          <a:bodyPr wrap="square" rtlCol="0">
            <a:spAutoFit/>
          </a:bodyPr>
          <a:lstStyle/>
          <a:p>
            <a:r>
              <a:rPr lang="en-US" altLang="zh-CN" dirty="0">
                <a:solidFill>
                  <a:schemeClr val="accent2">
                    <a:lumMod val="50000"/>
                  </a:schemeClr>
                </a:solidFill>
                <a:latin typeface="Times New Roman" panose="02020603050405020304" pitchFamily="18" charset="0"/>
                <a:cs typeface="Times New Roman" panose="02020603050405020304" pitchFamily="18" charset="0"/>
              </a:rPr>
              <a:t>Digging the importance of coherence</a:t>
            </a:r>
          </a:p>
        </p:txBody>
      </p:sp>
    </p:spTree>
    <p:extLst>
      <p:ext uri="{BB962C8B-B14F-4D97-AF65-F5344CB8AC3E}">
        <p14:creationId xmlns:p14="http://schemas.microsoft.com/office/powerpoint/2010/main" val="1825764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任意多边形 31"/>
          <p:cNvSpPr>
            <a:spLocks noChangeAspect="1"/>
          </p:cNvSpPr>
          <p:nvPr/>
        </p:nvSpPr>
        <p:spPr>
          <a:xfrm>
            <a:off x="1293955" y="1323220"/>
            <a:ext cx="815283" cy="639829"/>
          </a:xfrm>
          <a:custGeom>
            <a:avLst/>
            <a:gdLst/>
            <a:ahLst/>
            <a:cxnLst/>
            <a:rect l="l" t="t" r="r" b="b"/>
            <a:pathLst>
              <a:path w="346472" h="271909">
                <a:moveTo>
                  <a:pt x="321916" y="0"/>
                </a:moveTo>
                <a:lnTo>
                  <a:pt x="346472" y="52238"/>
                </a:lnTo>
                <a:cubicBezTo>
                  <a:pt x="321171" y="60573"/>
                  <a:pt x="303163" y="72181"/>
                  <a:pt x="292448" y="87064"/>
                </a:cubicBezTo>
                <a:cubicBezTo>
                  <a:pt x="281732" y="101947"/>
                  <a:pt x="276077" y="121741"/>
                  <a:pt x="275481" y="146447"/>
                </a:cubicBezTo>
                <a:lnTo>
                  <a:pt x="336203" y="146447"/>
                </a:lnTo>
                <a:lnTo>
                  <a:pt x="336203" y="271909"/>
                </a:lnTo>
                <a:lnTo>
                  <a:pt x="210741" y="271909"/>
                </a:lnTo>
                <a:lnTo>
                  <a:pt x="210741" y="181719"/>
                </a:lnTo>
                <a:cubicBezTo>
                  <a:pt x="210741" y="145405"/>
                  <a:pt x="213866" y="116830"/>
                  <a:pt x="220117" y="95994"/>
                </a:cubicBezTo>
                <a:cubicBezTo>
                  <a:pt x="226368" y="75158"/>
                  <a:pt x="238200" y="56331"/>
                  <a:pt x="255613" y="39514"/>
                </a:cubicBezTo>
                <a:cubicBezTo>
                  <a:pt x="273026" y="22696"/>
                  <a:pt x="295126" y="9525"/>
                  <a:pt x="321916" y="0"/>
                </a:cubicBezTo>
                <a:close/>
                <a:moveTo>
                  <a:pt x="111175" y="0"/>
                </a:moveTo>
                <a:lnTo>
                  <a:pt x="135732" y="52238"/>
                </a:lnTo>
                <a:cubicBezTo>
                  <a:pt x="110728" y="60573"/>
                  <a:pt x="92795" y="72181"/>
                  <a:pt x="81930" y="87064"/>
                </a:cubicBezTo>
                <a:cubicBezTo>
                  <a:pt x="71066" y="101947"/>
                  <a:pt x="65485" y="121741"/>
                  <a:pt x="65187" y="146447"/>
                </a:cubicBezTo>
                <a:lnTo>
                  <a:pt x="125462" y="146447"/>
                </a:lnTo>
                <a:lnTo>
                  <a:pt x="125462" y="271909"/>
                </a:lnTo>
                <a:lnTo>
                  <a:pt x="0" y="271909"/>
                </a:lnTo>
                <a:lnTo>
                  <a:pt x="0" y="181719"/>
                </a:lnTo>
                <a:cubicBezTo>
                  <a:pt x="0" y="145405"/>
                  <a:pt x="3200" y="116830"/>
                  <a:pt x="9600" y="95994"/>
                </a:cubicBezTo>
                <a:cubicBezTo>
                  <a:pt x="15999" y="75158"/>
                  <a:pt x="27906" y="56331"/>
                  <a:pt x="45319" y="39514"/>
                </a:cubicBezTo>
                <a:cubicBezTo>
                  <a:pt x="62731" y="22696"/>
                  <a:pt x="84684" y="9525"/>
                  <a:pt x="11117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7" name="任意多边形 31"/>
          <p:cNvSpPr>
            <a:spLocks noChangeAspect="1"/>
          </p:cNvSpPr>
          <p:nvPr/>
        </p:nvSpPr>
        <p:spPr>
          <a:xfrm rot="10800000">
            <a:off x="10038961" y="4860578"/>
            <a:ext cx="859084" cy="674203"/>
          </a:xfrm>
          <a:custGeom>
            <a:avLst/>
            <a:gdLst/>
            <a:ahLst/>
            <a:cxnLst/>
            <a:rect l="l" t="t" r="r" b="b"/>
            <a:pathLst>
              <a:path w="346472" h="271909">
                <a:moveTo>
                  <a:pt x="321916" y="0"/>
                </a:moveTo>
                <a:lnTo>
                  <a:pt x="346472" y="52238"/>
                </a:lnTo>
                <a:cubicBezTo>
                  <a:pt x="321171" y="60573"/>
                  <a:pt x="303163" y="72181"/>
                  <a:pt x="292448" y="87064"/>
                </a:cubicBezTo>
                <a:cubicBezTo>
                  <a:pt x="281732" y="101947"/>
                  <a:pt x="276077" y="121741"/>
                  <a:pt x="275481" y="146447"/>
                </a:cubicBezTo>
                <a:lnTo>
                  <a:pt x="336203" y="146447"/>
                </a:lnTo>
                <a:lnTo>
                  <a:pt x="336203" y="271909"/>
                </a:lnTo>
                <a:lnTo>
                  <a:pt x="210741" y="271909"/>
                </a:lnTo>
                <a:lnTo>
                  <a:pt x="210741" y="181719"/>
                </a:lnTo>
                <a:cubicBezTo>
                  <a:pt x="210741" y="145405"/>
                  <a:pt x="213866" y="116830"/>
                  <a:pt x="220117" y="95994"/>
                </a:cubicBezTo>
                <a:cubicBezTo>
                  <a:pt x="226368" y="75158"/>
                  <a:pt x="238200" y="56331"/>
                  <a:pt x="255613" y="39514"/>
                </a:cubicBezTo>
                <a:cubicBezTo>
                  <a:pt x="273026" y="22696"/>
                  <a:pt x="295126" y="9525"/>
                  <a:pt x="321916" y="0"/>
                </a:cubicBezTo>
                <a:close/>
                <a:moveTo>
                  <a:pt x="111175" y="0"/>
                </a:moveTo>
                <a:lnTo>
                  <a:pt x="135732" y="52238"/>
                </a:lnTo>
                <a:cubicBezTo>
                  <a:pt x="110728" y="60573"/>
                  <a:pt x="92795" y="72181"/>
                  <a:pt x="81930" y="87064"/>
                </a:cubicBezTo>
                <a:cubicBezTo>
                  <a:pt x="71066" y="101947"/>
                  <a:pt x="65485" y="121741"/>
                  <a:pt x="65187" y="146447"/>
                </a:cubicBezTo>
                <a:lnTo>
                  <a:pt x="125462" y="146447"/>
                </a:lnTo>
                <a:lnTo>
                  <a:pt x="125462" y="271909"/>
                </a:lnTo>
                <a:lnTo>
                  <a:pt x="0" y="271909"/>
                </a:lnTo>
                <a:lnTo>
                  <a:pt x="0" y="181719"/>
                </a:lnTo>
                <a:cubicBezTo>
                  <a:pt x="0" y="145405"/>
                  <a:pt x="3200" y="116830"/>
                  <a:pt x="9600" y="95994"/>
                </a:cubicBezTo>
                <a:cubicBezTo>
                  <a:pt x="15999" y="75158"/>
                  <a:pt x="27906" y="56331"/>
                  <a:pt x="45319" y="39514"/>
                </a:cubicBezTo>
                <a:cubicBezTo>
                  <a:pt x="62731" y="22696"/>
                  <a:pt x="84684" y="9525"/>
                  <a:pt x="11117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6"/>
          <p:cNvSpPr/>
          <p:nvPr/>
        </p:nvSpPr>
        <p:spPr>
          <a:xfrm>
            <a:off x="1649047" y="2451393"/>
            <a:ext cx="8893907" cy="1955215"/>
          </a:xfrm>
          <a:prstGeom prst="rect">
            <a:avLst/>
          </a:prstGeom>
        </p:spPr>
        <p:txBody>
          <a:bodyPr wrap="square" anchor="ctr" anchorCtr="0">
            <a:normAutofit/>
          </a:bodyPr>
          <a:lstStyle/>
          <a:p>
            <a:pPr marL="0" marR="0" lvl="0" indent="0" algn="ctr" defTabSz="914400" rtl="0" eaLnBrk="1" fontAlgn="auto" latinLnBrk="0" hangingPunct="1">
              <a:lnSpc>
                <a:spcPct val="100000"/>
              </a:lnSpc>
              <a:spcBef>
                <a:spcPts val="0"/>
              </a:spcBef>
              <a:spcAft>
                <a:spcPts val="800"/>
              </a:spcAft>
              <a:buSzPct val="100000"/>
              <a:buFontTx/>
              <a:buNone/>
            </a:pPr>
            <a:r>
              <a:rPr kumimoji="0" lang="en-US" altLang="zh-CN" sz="5400" b="1" i="0" u="none" kern="1200" cap="none" spc="280" normalizeH="0" noProof="0" dirty="0">
                <a:ln>
                  <a:noFill/>
                </a:ln>
                <a:solidFill>
                  <a:schemeClr val="tx1">
                    <a:lumMod val="85000"/>
                    <a:lumOff val="15000"/>
                  </a:schemeClr>
                </a:solidFill>
                <a:effectLst/>
                <a:uLnTx/>
                <a:uFillTx/>
                <a:latin typeface="Times New Roman" panose="02020603050405020304" pitchFamily="18" charset="0"/>
                <a:ea typeface="微软雅黑" panose="020B0503020204020204" charset="-122"/>
                <a:cs typeface="Times New Roman" panose="02020603050405020304" pitchFamily="18" charset="0"/>
              </a:rPr>
              <a:t>Feature Engineered Models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87430" y="521386"/>
            <a:ext cx="4203131" cy="442491"/>
            <a:chOff x="716110" y="457998"/>
            <a:chExt cx="4203131" cy="442491"/>
          </a:xfrm>
        </p:grpSpPr>
        <p:sp>
          <p:nvSpPr>
            <p:cNvPr id="3" name="文本框 2"/>
            <p:cNvSpPr txBox="1"/>
            <p:nvPr/>
          </p:nvSpPr>
          <p:spPr>
            <a:xfrm>
              <a:off x="716110" y="457998"/>
              <a:ext cx="4203131" cy="438582"/>
            </a:xfrm>
            <a:prstGeom prst="rect">
              <a:avLst/>
            </a:prstGeom>
            <a:noFill/>
          </p:spPr>
          <p:txBody>
            <a:bodyPr wrap="square" lIns="68580" tIns="34290" rIns="68580" bIns="34290" rtlCol="0">
              <a:spAutoFit/>
            </a:bodyPr>
            <a:lstStyle/>
            <a:p>
              <a:pPr defTabSz="685800"/>
              <a:r>
                <a:rPr lang="en-US" altLang="zh-CN" sz="2400" b="1" dirty="0">
                  <a:latin typeface="Times New Roman" panose="02020603050405020304" pitchFamily="18" charset="0"/>
                  <a:ea typeface="微软雅黑" panose="020B0503020204020204" charset="-122"/>
                  <a:cs typeface="Times New Roman" panose="02020603050405020304" pitchFamily="18" charset="0"/>
                  <a:sym typeface="+mn-lt"/>
                </a:rPr>
                <a:t>Features</a:t>
              </a:r>
            </a:p>
          </p:txBody>
        </p:sp>
        <p:cxnSp>
          <p:nvCxnSpPr>
            <p:cNvPr id="4" name="直接连接符 3"/>
            <p:cNvCxnSpPr>
              <a:cxnSpLocks/>
            </p:cNvCxnSpPr>
            <p:nvPr/>
          </p:nvCxnSpPr>
          <p:spPr>
            <a:xfrm>
              <a:off x="774478" y="900489"/>
              <a:ext cx="1083934" cy="0"/>
            </a:xfrm>
            <a:prstGeom prst="line">
              <a:avLst/>
            </a:prstGeom>
            <a:noFill/>
            <a:ln w="9525" cap="flat" cmpd="sng" algn="ctr">
              <a:solidFill>
                <a:schemeClr val="tx1">
                  <a:lumMod val="85000"/>
                  <a:lumOff val="15000"/>
                </a:schemeClr>
              </a:solidFill>
              <a:prstDash val="solid"/>
              <a:miter lim="800000"/>
            </a:ln>
            <a:effectLst/>
          </p:spPr>
        </p:cxnSp>
      </p:grpSp>
      <p:sp>
        <p:nvSpPr>
          <p:cNvPr id="8" name="文本框 1">
            <a:extLst>
              <a:ext uri="{FF2B5EF4-FFF2-40B4-BE49-F238E27FC236}">
                <a16:creationId xmlns:a16="http://schemas.microsoft.com/office/drawing/2014/main" id="{F0C8FCD0-DEE6-0B71-634B-21BDAB34FA13}"/>
              </a:ext>
            </a:extLst>
          </p:cNvPr>
          <p:cNvSpPr txBox="1"/>
          <p:nvPr/>
        </p:nvSpPr>
        <p:spPr>
          <a:xfrm>
            <a:off x="1953577" y="1154900"/>
            <a:ext cx="8284845" cy="2889250"/>
          </a:xfrm>
          <a:prstGeom prst="rect">
            <a:avLst/>
          </a:prstGeom>
          <a:noFill/>
        </p:spPr>
        <p:txBody>
          <a:bodyPr wrap="square" rtlCol="0">
            <a:noAutofit/>
          </a:bodyPr>
          <a:lstStyle/>
          <a:p>
            <a:pPr>
              <a:lnSpc>
                <a:spcPct val="130000"/>
              </a:lnSpc>
            </a:pPr>
            <a:r>
              <a:rPr lang="zh-CN" altLang="en-US" sz="2400" dirty="0">
                <a:latin typeface="Times New Roman" panose="02020603050405020304" pitchFamily="18" charset="0"/>
                <a:cs typeface="Times New Roman" panose="02020603050405020304" pitchFamily="18" charset="0"/>
              </a:rPr>
              <a:t>Length-based features</a:t>
            </a:r>
            <a:r>
              <a:rPr lang="en-US" altLang="zh-CN" sz="2400" dirty="0">
                <a:latin typeface="Times New Roman" panose="02020603050405020304" pitchFamily="18" charset="0"/>
                <a:cs typeface="Times New Roman" panose="02020603050405020304" pitchFamily="18" charset="0"/>
              </a:rPr>
              <a:t> (word, sentence, paragraph)</a:t>
            </a:r>
            <a:endParaRPr lang="zh-CN" altLang="en-US" sz="2400" dirty="0">
              <a:latin typeface="Times New Roman" panose="02020603050405020304" pitchFamily="18" charset="0"/>
              <a:cs typeface="Times New Roman" panose="02020603050405020304" pitchFamily="18" charset="0"/>
            </a:endParaRPr>
          </a:p>
          <a:p>
            <a:pPr>
              <a:lnSpc>
                <a:spcPct val="130000"/>
              </a:lnSpc>
            </a:pPr>
            <a:r>
              <a:rPr lang="zh-CN" altLang="en-US" sz="2400" dirty="0">
                <a:latin typeface="Times New Roman" panose="02020603050405020304" pitchFamily="18" charset="0"/>
                <a:cs typeface="Times New Roman" panose="02020603050405020304" pitchFamily="18" charset="0"/>
              </a:rPr>
              <a:t>Lexical features</a:t>
            </a:r>
          </a:p>
          <a:p>
            <a:pPr>
              <a:lnSpc>
                <a:spcPct val="130000"/>
              </a:lnSpc>
            </a:pPr>
            <a:r>
              <a:rPr lang="zh-CN" altLang="en-US" sz="2400" dirty="0">
                <a:latin typeface="Times New Roman" panose="02020603050405020304" pitchFamily="18" charset="0"/>
                <a:cs typeface="Times New Roman" panose="02020603050405020304" pitchFamily="18" charset="0"/>
              </a:rPr>
              <a:t>Embeddings</a:t>
            </a:r>
            <a:r>
              <a:rPr lang="en-US" altLang="zh-CN" sz="2400" dirty="0">
                <a:latin typeface="Times New Roman" panose="02020603050405020304" pitchFamily="18" charset="0"/>
                <a:cs typeface="Times New Roman" panose="02020603050405020304" pitchFamily="18" charset="0"/>
              </a:rPr>
              <a:t>(Word2Vec, </a:t>
            </a:r>
            <a:r>
              <a:rPr lang="en-US" altLang="zh-CN" sz="2400" dirty="0" err="1">
                <a:latin typeface="Times New Roman" panose="02020603050405020304" pitchFamily="18" charset="0"/>
                <a:cs typeface="Times New Roman" panose="02020603050405020304" pitchFamily="18" charset="0"/>
              </a:rPr>
              <a:t>GLoVe</a:t>
            </a:r>
            <a:r>
              <a:rPr lang="en-US" altLang="zh-CN" sz="2400" dirty="0">
                <a:latin typeface="Times New Roman" panose="02020603050405020304" pitchFamily="18" charset="0"/>
                <a:cs typeface="Times New Roman" panose="02020603050405020304" pitchFamily="18" charset="0"/>
              </a:rPr>
              <a:t>, etc.)</a:t>
            </a:r>
            <a:endParaRPr lang="zh-CN" altLang="en-US" sz="2400" dirty="0">
              <a:latin typeface="Times New Roman" panose="02020603050405020304" pitchFamily="18" charset="0"/>
              <a:cs typeface="Times New Roman" panose="02020603050405020304" pitchFamily="18" charset="0"/>
            </a:endParaRPr>
          </a:p>
          <a:p>
            <a:pPr>
              <a:lnSpc>
                <a:spcPct val="130000"/>
              </a:lnSpc>
            </a:pPr>
            <a:r>
              <a:rPr lang="zh-CN" altLang="en-US" sz="2400" dirty="0">
                <a:latin typeface="Times New Roman" panose="02020603050405020304" pitchFamily="18" charset="0"/>
                <a:cs typeface="Times New Roman" panose="02020603050405020304" pitchFamily="18" charset="0"/>
              </a:rPr>
              <a:t>Word category features</a:t>
            </a:r>
          </a:p>
          <a:p>
            <a:pPr>
              <a:lnSpc>
                <a:spcPct val="130000"/>
              </a:lnSpc>
            </a:pPr>
            <a:r>
              <a:rPr lang="zh-CN" altLang="en-US" sz="2400" dirty="0">
                <a:latin typeface="Times New Roman" panose="02020603050405020304" pitchFamily="18" charset="0"/>
                <a:cs typeface="Times New Roman" panose="02020603050405020304" pitchFamily="18" charset="0"/>
              </a:rPr>
              <a:t>Prompt-relevant features</a:t>
            </a:r>
            <a:r>
              <a:rPr lang="en-US" altLang="zh-CN" sz="2400" dirty="0">
                <a:latin typeface="Times New Roman" panose="02020603050405020304" pitchFamily="18" charset="0"/>
                <a:cs typeface="Times New Roman" panose="02020603050405020304" pitchFamily="18" charset="0"/>
              </a:rPr>
              <a:t>(not taken into consideration as task has no prompt)</a:t>
            </a:r>
            <a:endParaRPr lang="zh-CN" altLang="en-US" sz="2400" dirty="0">
              <a:latin typeface="Times New Roman" panose="02020603050405020304" pitchFamily="18" charset="0"/>
              <a:cs typeface="Times New Roman" panose="02020603050405020304" pitchFamily="18" charset="0"/>
            </a:endParaRPr>
          </a:p>
          <a:p>
            <a:pPr>
              <a:lnSpc>
                <a:spcPct val="130000"/>
              </a:lnSpc>
            </a:pPr>
            <a:r>
              <a:rPr lang="zh-CN" altLang="en-US" sz="2400" dirty="0">
                <a:latin typeface="Times New Roman" panose="02020603050405020304" pitchFamily="18" charset="0"/>
                <a:cs typeface="Times New Roman" panose="02020603050405020304" pitchFamily="18" charset="0"/>
              </a:rPr>
              <a:t>Readability features</a:t>
            </a:r>
          </a:p>
          <a:p>
            <a:pPr>
              <a:lnSpc>
                <a:spcPct val="130000"/>
              </a:lnSpc>
            </a:pPr>
            <a:r>
              <a:rPr lang="zh-CN" altLang="en-US" sz="2400" dirty="0">
                <a:latin typeface="Times New Roman" panose="02020603050405020304" pitchFamily="18" charset="0"/>
                <a:cs typeface="Times New Roman" panose="02020603050405020304" pitchFamily="18" charset="0"/>
              </a:rPr>
              <a:t>Syntactic features</a:t>
            </a:r>
          </a:p>
          <a:p>
            <a:pPr>
              <a:lnSpc>
                <a:spcPct val="130000"/>
              </a:lnSpc>
            </a:pPr>
            <a:r>
              <a:rPr lang="zh-CN" altLang="en-US" sz="2400" dirty="0">
                <a:latin typeface="Times New Roman" panose="02020603050405020304" pitchFamily="18" charset="0"/>
                <a:cs typeface="Times New Roman" panose="02020603050405020304" pitchFamily="18" charset="0"/>
              </a:rPr>
              <a:t>Argumentation features</a:t>
            </a:r>
          </a:p>
          <a:p>
            <a:pPr>
              <a:lnSpc>
                <a:spcPct val="130000"/>
              </a:lnSpc>
            </a:pPr>
            <a:r>
              <a:rPr lang="zh-CN" altLang="en-US" sz="2400" dirty="0">
                <a:latin typeface="Times New Roman" panose="02020603050405020304" pitchFamily="18" charset="0"/>
                <a:cs typeface="Times New Roman" panose="02020603050405020304" pitchFamily="18" charset="0"/>
              </a:rPr>
              <a:t>Semantic features</a:t>
            </a:r>
          </a:p>
          <a:p>
            <a:pPr>
              <a:lnSpc>
                <a:spcPct val="130000"/>
              </a:lnSpc>
            </a:pPr>
            <a:r>
              <a:rPr lang="en-US" altLang="zh-CN" sz="2400" dirty="0">
                <a:latin typeface="Times New Roman" panose="02020603050405020304" pitchFamily="18" charset="0"/>
                <a:cs typeface="Times New Roman" panose="02020603050405020304" pitchFamily="18" charset="0"/>
              </a:rPr>
              <a:t>Discourse features</a:t>
            </a:r>
          </a:p>
        </p:txBody>
      </p:sp>
    </p:spTree>
    <p:extLst>
      <p:ext uri="{BB962C8B-B14F-4D97-AF65-F5344CB8AC3E}">
        <p14:creationId xmlns:p14="http://schemas.microsoft.com/office/powerpoint/2010/main" val="3139839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87430" y="521386"/>
            <a:ext cx="4731385" cy="442491"/>
            <a:chOff x="716110" y="457998"/>
            <a:chExt cx="4731385" cy="442491"/>
          </a:xfrm>
        </p:grpSpPr>
        <p:sp>
          <p:nvSpPr>
            <p:cNvPr id="3" name="文本框 2"/>
            <p:cNvSpPr txBox="1"/>
            <p:nvPr/>
          </p:nvSpPr>
          <p:spPr>
            <a:xfrm>
              <a:off x="716110" y="457998"/>
              <a:ext cx="4731385" cy="438582"/>
            </a:xfrm>
            <a:prstGeom prst="rect">
              <a:avLst/>
            </a:prstGeom>
            <a:noFill/>
          </p:spPr>
          <p:txBody>
            <a:bodyPr wrap="square" lIns="68580" tIns="34290" rIns="68580" bIns="34290" rtlCol="0">
              <a:spAutoFit/>
            </a:bodyPr>
            <a:lstStyle/>
            <a:p>
              <a:pPr defTabSz="685800"/>
              <a:r>
                <a:rPr lang="en-US" altLang="zh-CN" sz="2400" b="1" dirty="0">
                  <a:solidFill>
                    <a:schemeClr val="tx2"/>
                  </a:solidFill>
                  <a:latin typeface="Times New Roman" panose="02020603050405020304" pitchFamily="18" charset="0"/>
                  <a:cs typeface="Times New Roman" panose="02020603050405020304" pitchFamily="18" charset="0"/>
                  <a:sym typeface="+mn-ea"/>
                </a:rPr>
                <a:t>Two-stage Scoring: An Example</a:t>
              </a:r>
              <a:endParaRPr lang="en-US" altLang="zh-CN" sz="2400" b="1" dirty="0">
                <a:solidFill>
                  <a:schemeClr val="tx2"/>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cxnSp>
          <p:nvCxnSpPr>
            <p:cNvPr id="4" name="直接连接符 3"/>
            <p:cNvCxnSpPr>
              <a:cxnSpLocks/>
            </p:cNvCxnSpPr>
            <p:nvPr/>
          </p:nvCxnSpPr>
          <p:spPr>
            <a:xfrm>
              <a:off x="774478" y="900489"/>
              <a:ext cx="3238738" cy="0"/>
            </a:xfrm>
            <a:prstGeom prst="line">
              <a:avLst/>
            </a:prstGeom>
            <a:noFill/>
            <a:ln w="9525" cap="flat" cmpd="sng" algn="ctr">
              <a:solidFill>
                <a:schemeClr val="tx1">
                  <a:lumMod val="85000"/>
                  <a:lumOff val="15000"/>
                </a:schemeClr>
              </a:solidFill>
              <a:prstDash val="solid"/>
              <a:miter lim="800000"/>
            </a:ln>
            <a:effectLst/>
          </p:spPr>
        </p:cxnSp>
      </p:grpSp>
      <p:sp>
        <p:nvSpPr>
          <p:cNvPr id="5" name="文本框 2">
            <a:extLst>
              <a:ext uri="{FF2B5EF4-FFF2-40B4-BE49-F238E27FC236}">
                <a16:creationId xmlns:a16="http://schemas.microsoft.com/office/drawing/2014/main" id="{1F9B898E-031C-613B-D894-ABF0F11D709A}"/>
              </a:ext>
            </a:extLst>
          </p:cNvPr>
          <p:cNvSpPr txBox="1"/>
          <p:nvPr/>
        </p:nvSpPr>
        <p:spPr>
          <a:xfrm>
            <a:off x="1187430" y="1100428"/>
            <a:ext cx="6096000" cy="521970"/>
          </a:xfrm>
          <a:prstGeom prst="rect">
            <a:avLst/>
          </a:prstGeom>
          <a:noFill/>
        </p:spPr>
        <p:txBody>
          <a:bodyPr wrap="square" rtlCol="0" anchor="t">
            <a:spAutoFit/>
          </a:bodyPr>
          <a:lstStyle/>
          <a:p>
            <a:r>
              <a:rPr lang="zh-CN" altLang="en-US" sz="1400" dirty="0">
                <a:solidFill>
                  <a:schemeClr val="bg2">
                    <a:lumMod val="50000"/>
                  </a:schemeClr>
                </a:solidFill>
                <a:latin typeface="Times New Roman" panose="02020603050405020304" pitchFamily="18" charset="0"/>
                <a:cs typeface="Times New Roman" panose="02020603050405020304" pitchFamily="18" charset="0"/>
              </a:rPr>
              <a:t>Liu, Jiawei et al. “Automated Essay Scoring based on Two-Stage Learning.” ArXiv abs/1901.07744 (2019): n. pag.</a:t>
            </a:r>
          </a:p>
        </p:txBody>
      </p:sp>
      <p:pic>
        <p:nvPicPr>
          <p:cNvPr id="6" name="图片 1">
            <a:extLst>
              <a:ext uri="{FF2B5EF4-FFF2-40B4-BE49-F238E27FC236}">
                <a16:creationId xmlns:a16="http://schemas.microsoft.com/office/drawing/2014/main" id="{060D2462-4D37-492D-00F5-9AAA316452C7}"/>
              </a:ext>
            </a:extLst>
          </p:cNvPr>
          <p:cNvPicPr>
            <a:picLocks noChangeAspect="1"/>
          </p:cNvPicPr>
          <p:nvPr/>
        </p:nvPicPr>
        <p:blipFill>
          <a:blip r:embed="rId3"/>
          <a:stretch>
            <a:fillRect/>
          </a:stretch>
        </p:blipFill>
        <p:spPr>
          <a:xfrm>
            <a:off x="1557020" y="2178988"/>
            <a:ext cx="9077960" cy="4371340"/>
          </a:xfrm>
          <a:prstGeom prst="rect">
            <a:avLst/>
          </a:prstGeom>
        </p:spPr>
      </p:pic>
    </p:spTree>
    <p:extLst>
      <p:ext uri="{BB962C8B-B14F-4D97-AF65-F5344CB8AC3E}">
        <p14:creationId xmlns:p14="http://schemas.microsoft.com/office/powerpoint/2010/main" val="1902976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 name="图片 3"/>
          <p:cNvPicPr>
            <a:picLocks noChangeAspect="1"/>
          </p:cNvPicPr>
          <p:nvPr/>
        </p:nvPicPr>
        <p:blipFill>
          <a:blip r:embed="rId3"/>
          <a:stretch>
            <a:fillRect/>
          </a:stretch>
        </p:blipFill>
        <p:spPr>
          <a:xfrm>
            <a:off x="0" y="0"/>
            <a:ext cx="12192000" cy="6858000"/>
          </a:xfrm>
          <a:prstGeom prst="rect">
            <a:avLst/>
          </a:prstGeom>
        </p:spPr>
      </p:pic>
      <p:grpSp>
        <p:nvGrpSpPr>
          <p:cNvPr id="92" name="组合 6"/>
          <p:cNvGrpSpPr/>
          <p:nvPr/>
        </p:nvGrpSpPr>
        <p:grpSpPr>
          <a:xfrm>
            <a:off x="3824448" y="3429248"/>
            <a:ext cx="4543103" cy="1557676"/>
            <a:chOff x="3811622" y="2848154"/>
            <a:chExt cx="4543103" cy="1557676"/>
          </a:xfrm>
        </p:grpSpPr>
        <p:sp>
          <p:nvSpPr>
            <p:cNvPr id="93" name="文本框 7"/>
            <p:cNvSpPr txBox="1"/>
            <p:nvPr/>
          </p:nvSpPr>
          <p:spPr>
            <a:xfrm>
              <a:off x="3811622" y="3143946"/>
              <a:ext cx="4543103" cy="1261884"/>
            </a:xfrm>
            <a:prstGeom prst="rect">
              <a:avLst/>
            </a:prstGeom>
            <a:noFill/>
          </p:spPr>
          <p:txBody>
            <a:bodyPr wrap="none" rtlCol="0">
              <a:spAutoFit/>
            </a:bodyPr>
            <a:lstStyle/>
            <a:p>
              <a:pPr algn="ctr"/>
              <a:r>
                <a:rPr lang="en-US" altLang="zh-CN" sz="4000" dirty="0">
                  <a:latin typeface="思源黑体 CN Light"/>
                </a:rPr>
                <a:t> </a:t>
              </a:r>
              <a:r>
                <a:rPr lang="en-US" altLang="zh-CN" sz="4000" dirty="0">
                  <a:latin typeface="思源黑体 CN Light"/>
                  <a:ea typeface="思源黑体 CN Bold" panose="020B0800000000000000" pitchFamily="34" charset="-122"/>
                </a:rPr>
                <a:t>Preliminary </a:t>
              </a:r>
              <a:r>
                <a:rPr lang="en-US" altLang="zh-CN" sz="4000" dirty="0">
                  <a:latin typeface="思源黑体 CN Light"/>
                </a:rPr>
                <a:t>Work</a:t>
              </a:r>
              <a:endParaRPr/>
            </a:p>
            <a:p>
              <a:pPr algn="ctr"/>
              <a:endParaRPr lang="zh-CN" altLang="en-US" sz="3600" dirty="0">
                <a:latin typeface="思源黑体 CN Heavy" panose="020B0A00000000000000" pitchFamily="34" charset="-122"/>
                <a:ea typeface="思源黑体 CN Heavy" panose="020B0A00000000000000" pitchFamily="34" charset="-122"/>
              </a:endParaRPr>
            </a:p>
          </p:txBody>
        </p:sp>
        <p:cxnSp>
          <p:nvCxnSpPr>
            <p:cNvPr id="94" name="直接连接符 9"/>
            <p:cNvCxnSpPr/>
            <p:nvPr/>
          </p:nvCxnSpPr>
          <p:spPr>
            <a:xfrm>
              <a:off x="4615322" y="2848154"/>
              <a:ext cx="2935705"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10"/>
            <p:cNvCxnSpPr/>
            <p:nvPr/>
          </p:nvCxnSpPr>
          <p:spPr>
            <a:xfrm>
              <a:off x="4615322" y="4078820"/>
              <a:ext cx="2935705"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96" name="组合 17"/>
          <p:cNvGrpSpPr>
            <a:grpSpLocks noChangeAspect="1"/>
          </p:cNvGrpSpPr>
          <p:nvPr/>
        </p:nvGrpSpPr>
        <p:grpSpPr>
          <a:xfrm>
            <a:off x="4888117" y="2085375"/>
            <a:ext cx="2415766" cy="1199156"/>
            <a:chOff x="6515137" y="-1169675"/>
            <a:chExt cx="1558123" cy="773433"/>
          </a:xfrm>
          <a:solidFill>
            <a:schemeClr val="tx1">
              <a:lumMod val="85000"/>
              <a:lumOff val="15000"/>
            </a:schemeClr>
          </a:solidFill>
        </p:grpSpPr>
        <p:sp>
          <p:nvSpPr>
            <p:cNvPr id="97" name="任意多边形 18"/>
            <p:cNvSpPr/>
            <p:nvPr/>
          </p:nvSpPr>
          <p:spPr>
            <a:xfrm>
              <a:off x="6515137" y="-1169675"/>
              <a:ext cx="767828" cy="773433"/>
            </a:xfrm>
            <a:custGeom>
              <a:avLst/>
              <a:gdLst/>
              <a:ahLst/>
              <a:cxnLst/>
              <a:rect l="l" t="t" r="r" b="b"/>
              <a:pathLst>
                <a:path w="767828" h="773433">
                  <a:moveTo>
                    <a:pt x="383185" y="0"/>
                  </a:moveTo>
                  <a:cubicBezTo>
                    <a:pt x="499322" y="52"/>
                    <a:pt x="592033" y="46540"/>
                    <a:pt x="661316" y="139464"/>
                  </a:cubicBezTo>
                  <a:cubicBezTo>
                    <a:pt x="730598" y="232388"/>
                    <a:pt x="766102" y="371436"/>
                    <a:pt x="767828" y="556608"/>
                  </a:cubicBezTo>
                  <a:cubicBezTo>
                    <a:pt x="767397" y="603342"/>
                    <a:pt x="764854" y="647227"/>
                    <a:pt x="760200" y="688263"/>
                  </a:cubicBezTo>
                  <a:lnTo>
                    <a:pt x="745113" y="773433"/>
                  </a:lnTo>
                  <a:lnTo>
                    <a:pt x="506018" y="773433"/>
                  </a:lnTo>
                  <a:lnTo>
                    <a:pt x="512258" y="739730"/>
                  </a:lnTo>
                  <a:cubicBezTo>
                    <a:pt x="519316" y="691261"/>
                    <a:pt x="522956" y="630221"/>
                    <a:pt x="523179" y="556608"/>
                  </a:cubicBezTo>
                  <a:cubicBezTo>
                    <a:pt x="522882" y="459043"/>
                    <a:pt x="516509" y="384341"/>
                    <a:pt x="504060" y="332502"/>
                  </a:cubicBezTo>
                  <a:cubicBezTo>
                    <a:pt x="491610" y="280663"/>
                    <a:pt x="474867" y="245264"/>
                    <a:pt x="453830" y="226305"/>
                  </a:cubicBezTo>
                  <a:cubicBezTo>
                    <a:pt x="432793" y="207345"/>
                    <a:pt x="409245" y="198400"/>
                    <a:pt x="383185" y="199471"/>
                  </a:cubicBezTo>
                  <a:cubicBezTo>
                    <a:pt x="357143" y="198400"/>
                    <a:pt x="333720" y="207345"/>
                    <a:pt x="312917" y="226305"/>
                  </a:cubicBezTo>
                  <a:cubicBezTo>
                    <a:pt x="292114" y="245264"/>
                    <a:pt x="275605" y="280663"/>
                    <a:pt x="263390" y="332502"/>
                  </a:cubicBezTo>
                  <a:cubicBezTo>
                    <a:pt x="251174" y="384341"/>
                    <a:pt x="244927" y="459043"/>
                    <a:pt x="244648" y="556608"/>
                  </a:cubicBezTo>
                  <a:cubicBezTo>
                    <a:pt x="244857" y="630221"/>
                    <a:pt x="248424" y="691261"/>
                    <a:pt x="255347" y="739730"/>
                  </a:cubicBezTo>
                  <a:lnTo>
                    <a:pt x="261469" y="773433"/>
                  </a:lnTo>
                  <a:lnTo>
                    <a:pt x="22525" y="773433"/>
                  </a:lnTo>
                  <a:lnTo>
                    <a:pt x="7547" y="688263"/>
                  </a:lnTo>
                  <a:cubicBezTo>
                    <a:pt x="2932" y="647227"/>
                    <a:pt x="416" y="603342"/>
                    <a:pt x="0" y="556608"/>
                  </a:cubicBezTo>
                  <a:cubicBezTo>
                    <a:pt x="1664" y="370162"/>
                    <a:pt x="36925" y="230750"/>
                    <a:pt x="105783" y="138372"/>
                  </a:cubicBezTo>
                  <a:cubicBezTo>
                    <a:pt x="174641" y="45994"/>
                    <a:pt x="267108" y="-130"/>
                    <a:pt x="38318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98" name="任意多边形 19"/>
            <p:cNvSpPr/>
            <p:nvPr/>
          </p:nvSpPr>
          <p:spPr>
            <a:xfrm>
              <a:off x="7336059" y="-1169675"/>
              <a:ext cx="737201" cy="773433"/>
            </a:xfrm>
            <a:custGeom>
              <a:avLst/>
              <a:gdLst/>
              <a:ahLst/>
              <a:cxnLst/>
              <a:rect l="l" t="t" r="r" b="b"/>
              <a:pathLst>
                <a:path w="737201" h="773433">
                  <a:moveTo>
                    <a:pt x="336642" y="0"/>
                  </a:moveTo>
                  <a:cubicBezTo>
                    <a:pt x="450271" y="330"/>
                    <a:pt x="540221" y="25878"/>
                    <a:pt x="606491" y="76642"/>
                  </a:cubicBezTo>
                  <a:cubicBezTo>
                    <a:pt x="672760" y="127406"/>
                    <a:pt x="706623" y="201405"/>
                    <a:pt x="708077" y="298638"/>
                  </a:cubicBezTo>
                  <a:cubicBezTo>
                    <a:pt x="708077" y="352900"/>
                    <a:pt x="693515" y="400406"/>
                    <a:pt x="664391" y="441156"/>
                  </a:cubicBezTo>
                  <a:cubicBezTo>
                    <a:pt x="635268" y="481906"/>
                    <a:pt x="591585" y="514079"/>
                    <a:pt x="533345" y="537676"/>
                  </a:cubicBezTo>
                  <a:lnTo>
                    <a:pt x="533345" y="544956"/>
                  </a:lnTo>
                  <a:cubicBezTo>
                    <a:pt x="594965" y="563120"/>
                    <a:pt x="645025" y="594135"/>
                    <a:pt x="683526" y="637999"/>
                  </a:cubicBezTo>
                  <a:cubicBezTo>
                    <a:pt x="702777" y="659931"/>
                    <a:pt x="717363" y="685126"/>
                    <a:pt x="727284" y="713584"/>
                  </a:cubicBezTo>
                  <a:lnTo>
                    <a:pt x="737201" y="773433"/>
                  </a:lnTo>
                  <a:lnTo>
                    <a:pt x="480437" y="773433"/>
                  </a:lnTo>
                  <a:lnTo>
                    <a:pt x="477651" y="747819"/>
                  </a:lnTo>
                  <a:cubicBezTo>
                    <a:pt x="474107" y="734478"/>
                    <a:pt x="468593" y="722272"/>
                    <a:pt x="461108" y="711200"/>
                  </a:cubicBezTo>
                  <a:cubicBezTo>
                    <a:pt x="446139" y="689055"/>
                    <a:pt x="418540" y="672096"/>
                    <a:pt x="378310" y="660322"/>
                  </a:cubicBezTo>
                  <a:cubicBezTo>
                    <a:pt x="338081" y="648547"/>
                    <a:pt x="280472" y="642606"/>
                    <a:pt x="205482" y="642498"/>
                  </a:cubicBezTo>
                  <a:lnTo>
                    <a:pt x="205482" y="460515"/>
                  </a:lnTo>
                  <a:cubicBezTo>
                    <a:pt x="296596" y="459937"/>
                    <a:pt x="360293" y="446873"/>
                    <a:pt x="396574" y="421321"/>
                  </a:cubicBezTo>
                  <a:cubicBezTo>
                    <a:pt x="432855" y="395770"/>
                    <a:pt x="450283" y="361195"/>
                    <a:pt x="448856" y="317596"/>
                  </a:cubicBezTo>
                  <a:cubicBezTo>
                    <a:pt x="448704" y="280257"/>
                    <a:pt x="438078" y="251758"/>
                    <a:pt x="416977" y="232100"/>
                  </a:cubicBezTo>
                  <a:cubicBezTo>
                    <a:pt x="395876" y="212443"/>
                    <a:pt x="365211" y="202538"/>
                    <a:pt x="324983" y="202386"/>
                  </a:cubicBezTo>
                  <a:cubicBezTo>
                    <a:pt x="289127" y="202599"/>
                    <a:pt x="255912" y="210559"/>
                    <a:pt x="225338" y="226267"/>
                  </a:cubicBezTo>
                  <a:cubicBezTo>
                    <a:pt x="194765" y="241975"/>
                    <a:pt x="163372" y="264154"/>
                    <a:pt x="131159" y="292805"/>
                  </a:cubicBezTo>
                  <a:lnTo>
                    <a:pt x="0" y="133953"/>
                  </a:lnTo>
                  <a:cubicBezTo>
                    <a:pt x="50004" y="91426"/>
                    <a:pt x="102650" y="58544"/>
                    <a:pt x="157937" y="35308"/>
                  </a:cubicBezTo>
                  <a:cubicBezTo>
                    <a:pt x="213224" y="12073"/>
                    <a:pt x="272793" y="303"/>
                    <a:pt x="33664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grpSp>
      <p:pic>
        <p:nvPicPr>
          <p:cNvPr id="99" name="图片 11" descr="图片包含 户外, 标牌  自动生成的说明"/>
          <p:cNvPicPr>
            <a:picLocks noChangeAspect="1"/>
          </p:cNvPicPr>
          <p:nvPr/>
        </p:nvPicPr>
        <p:blipFill rotWithShape="1">
          <a:blip r:embed="rId4" cstate="print">
            <a:duotone>
              <a:schemeClr val="bg2">
                <a:shade val="45000"/>
                <a:satMod val="135000"/>
              </a:schemeClr>
              <a:prstClr val="white"/>
            </a:duotone>
          </a:blip>
          <a:srcRect l="63268" r="-1"/>
          <a:stretch/>
        </p:blipFill>
        <p:spPr>
          <a:xfrm>
            <a:off x="0" y="0"/>
            <a:ext cx="2514644" cy="6833630"/>
          </a:xfrm>
          <a:prstGeom prst="rect">
            <a:avLst/>
          </a:prstGeom>
        </p:spPr>
      </p:pic>
      <p:pic>
        <p:nvPicPr>
          <p:cNvPr id="100" name="图片 12" descr="图片包含 户外, 标牌  自动生成的说明"/>
          <p:cNvPicPr>
            <a:picLocks noChangeAspect="1"/>
          </p:cNvPicPr>
          <p:nvPr/>
        </p:nvPicPr>
        <p:blipFill rotWithShape="1">
          <a:blip r:embed="rId4" cstate="print">
            <a:duotone>
              <a:schemeClr val="bg2">
                <a:shade val="45000"/>
                <a:satMod val="135000"/>
              </a:schemeClr>
              <a:prstClr val="white"/>
            </a:duotone>
          </a:blip>
          <a:srcRect r="61722"/>
          <a:stretch/>
        </p:blipFill>
        <p:spPr>
          <a:xfrm>
            <a:off x="9571538" y="12185"/>
            <a:ext cx="2620462" cy="68336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6"/>
                                        </p:tgtEl>
                                        <p:attrNameLst>
                                          <p:attrName>style.visibility</p:attrName>
                                        </p:attrNameLst>
                                      </p:cBhvr>
                                      <p:to>
                                        <p:strVal val="visible"/>
                                      </p:to>
                                    </p:set>
                                    <p:anim calcmode="lin" valueType="num">
                                      <p:cBhvr additive="base">
                                        <p:cTn id="7" dur="500" fill="hold"/>
                                        <p:tgtEl>
                                          <p:spTgt spid="96"/>
                                        </p:tgtEl>
                                        <p:attrNameLst>
                                          <p:attrName>ppt_x</p:attrName>
                                        </p:attrNameLst>
                                      </p:cBhvr>
                                      <p:tavLst>
                                        <p:tav tm="0">
                                          <p:val>
                                            <p:strVal val="#ppt_x"/>
                                          </p:val>
                                        </p:tav>
                                        <p:tav tm="100000">
                                          <p:val>
                                            <p:strVal val="#ppt_x"/>
                                          </p:val>
                                        </p:tav>
                                      </p:tavLst>
                                    </p:anim>
                                    <p:anim calcmode="lin" valueType="num">
                                      <p:cBhvr additive="base">
                                        <p:cTn id="8" dur="500" fill="hold"/>
                                        <p:tgtEl>
                                          <p:spTgt spid="9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2"/>
                                        </p:tgtEl>
                                        <p:attrNameLst>
                                          <p:attrName>style.visibility</p:attrName>
                                        </p:attrNameLst>
                                      </p:cBhvr>
                                      <p:to>
                                        <p:strVal val="visible"/>
                                      </p:to>
                                    </p:set>
                                    <p:anim calcmode="lin" valueType="num">
                                      <p:cBhvr additive="base">
                                        <p:cTn id="13" dur="500" fill="hold"/>
                                        <p:tgtEl>
                                          <p:spTgt spid="92"/>
                                        </p:tgtEl>
                                        <p:attrNameLst>
                                          <p:attrName>ppt_x</p:attrName>
                                        </p:attrNameLst>
                                      </p:cBhvr>
                                      <p:tavLst>
                                        <p:tav tm="0">
                                          <p:val>
                                            <p:strVal val="#ppt_x"/>
                                          </p:val>
                                        </p:tav>
                                        <p:tav tm="100000">
                                          <p:val>
                                            <p:strVal val="#ppt_x"/>
                                          </p:val>
                                        </p:tav>
                                      </p:tavLst>
                                    </p:anim>
                                    <p:anim calcmode="lin" valueType="num">
                                      <p:cBhvr additive="base">
                                        <p:cTn id="14" dur="500" fill="hold"/>
                                        <p:tgtEl>
                                          <p:spTgt spid="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 name="组合 44"/>
          <p:cNvGrpSpPr/>
          <p:nvPr/>
        </p:nvGrpSpPr>
        <p:grpSpPr>
          <a:xfrm>
            <a:off x="1129062" y="672460"/>
            <a:ext cx="4203131" cy="712836"/>
            <a:chOff x="716110" y="187653"/>
            <a:chExt cx="4203131" cy="712836"/>
          </a:xfrm>
        </p:grpSpPr>
        <p:sp>
          <p:nvSpPr>
            <p:cNvPr id="103" name="文本框 45"/>
            <p:cNvSpPr txBox="1"/>
            <p:nvPr/>
          </p:nvSpPr>
          <p:spPr>
            <a:xfrm>
              <a:off x="716110" y="187653"/>
              <a:ext cx="4203131" cy="438582"/>
            </a:xfrm>
            <a:prstGeom prst="rect">
              <a:avLst/>
            </a:prstGeom>
            <a:noFill/>
          </p:spPr>
          <p:txBody>
            <a:bodyPr wrap="square" lIns="68580" tIns="34290" rIns="68580" bIns="34290" rtlCol="0">
              <a:spAutoFit/>
            </a:bodyPr>
            <a:lstStyle/>
            <a:p>
              <a:pPr defTabSz="685800"/>
              <a:r>
                <a:rPr lang="en-US" altLang="zh-CN" sz="2400" b="1" dirty="0">
                  <a:latin typeface="微软雅黑"/>
                  <a:ea typeface="微软雅黑"/>
                  <a:cs typeface="+mn-ea"/>
                  <a:sym typeface="+mn-lt"/>
                </a:rPr>
                <a:t>Exploratory</a:t>
              </a:r>
              <a:r>
                <a:rPr lang="zh-CN" altLang="en-US" sz="2400" b="1" dirty="0">
                  <a:latin typeface="微软雅黑"/>
                  <a:ea typeface="微软雅黑"/>
                  <a:cs typeface="+mn-ea"/>
                  <a:sym typeface="+mn-lt"/>
                </a:rPr>
                <a:t> </a:t>
              </a:r>
              <a:r>
                <a:rPr lang="en-US" altLang="zh-CN" sz="2400" b="1" dirty="0">
                  <a:latin typeface="微软雅黑"/>
                  <a:ea typeface="微软雅黑"/>
                  <a:cs typeface="+mn-ea"/>
                  <a:sym typeface="+mn-lt"/>
                </a:rPr>
                <a:t>Data</a:t>
              </a:r>
              <a:r>
                <a:rPr lang="zh-CN" altLang="en-US" sz="2400" b="1" dirty="0">
                  <a:latin typeface="微软雅黑"/>
                  <a:ea typeface="微软雅黑"/>
                  <a:cs typeface="+mn-ea"/>
                  <a:sym typeface="+mn-lt"/>
                </a:rPr>
                <a:t> </a:t>
              </a:r>
              <a:r>
                <a:rPr lang="en-US" altLang="zh-CN" sz="2400" b="1" dirty="0">
                  <a:latin typeface="微软雅黑"/>
                  <a:ea typeface="微软雅黑"/>
                  <a:cs typeface="+mn-ea"/>
                  <a:sym typeface="+mn-lt"/>
                </a:rPr>
                <a:t>Analysis</a:t>
              </a:r>
              <a:endParaRPr lang="zh-CN" altLang="en-US" sz="2400" b="1" dirty="0">
                <a:latin typeface="微软雅黑"/>
                <a:ea typeface="微软雅黑"/>
                <a:cs typeface="+mn-ea"/>
                <a:sym typeface="+mn-lt"/>
              </a:endParaRPr>
            </a:p>
          </p:txBody>
        </p:sp>
        <p:cxnSp>
          <p:nvCxnSpPr>
            <p:cNvPr id="104" name="直接连接符 46"/>
            <p:cNvCxnSpPr/>
            <p:nvPr/>
          </p:nvCxnSpPr>
          <p:spPr>
            <a:xfrm>
              <a:off x="774478" y="900489"/>
              <a:ext cx="683932" cy="0"/>
            </a:xfrm>
            <a:prstGeom prst="line">
              <a:avLst/>
            </a:prstGeom>
            <a:noFill/>
            <a:ln w="9525" cap="flat" cmpd="sng" algn="ctr">
              <a:solidFill>
                <a:schemeClr val="tx1">
                  <a:lumMod val="85000"/>
                  <a:lumOff val="15000"/>
                </a:schemeClr>
              </a:solidFill>
              <a:prstDash val="solid"/>
              <a:miter lim="800000"/>
            </a:ln>
            <a:effectLst/>
          </p:spPr>
        </p:cxnSp>
        <p:sp>
          <p:nvSpPr>
            <p:cNvPr id="105" name="文本框 47"/>
            <p:cNvSpPr txBox="1"/>
            <p:nvPr/>
          </p:nvSpPr>
          <p:spPr>
            <a:xfrm>
              <a:off x="716110" y="553111"/>
              <a:ext cx="2797234" cy="289503"/>
            </a:xfrm>
            <a:prstGeom prst="rect">
              <a:avLst/>
            </a:prstGeom>
            <a:noFill/>
          </p:spPr>
          <p:txBody>
            <a:bodyPr wrap="square" rtlCol="0">
              <a:spAutoFit/>
            </a:bodyPr>
            <a:lstStyle/>
            <a:p>
              <a:pPr>
                <a:lnSpc>
                  <a:spcPct val="130000"/>
                </a:lnSpc>
              </a:pPr>
              <a:r>
                <a:rPr lang="en-US" altLang="zh-CN" sz="1100" dirty="0">
                  <a:latin typeface="Arial" panose="020B0604020202020204" pitchFamily="34" charset="0"/>
                  <a:ea typeface="微软雅黑 Light"/>
                  <a:cs typeface="Arial" panose="020B0604020202020204" pitchFamily="34" charset="0"/>
                  <a:sym typeface="+mn-lt"/>
                </a:rPr>
                <a:t>A limited dataset</a:t>
              </a:r>
              <a:endParaRPr/>
            </a:p>
          </p:txBody>
        </p:sp>
      </p:grpSp>
      <p:pic>
        <p:nvPicPr>
          <p:cNvPr id="106" name="图片 48"/>
          <p:cNvPicPr>
            <a:picLocks noChangeAspect="1"/>
          </p:cNvPicPr>
          <p:nvPr/>
        </p:nvPicPr>
        <p:blipFill>
          <a:blip r:embed="rId3"/>
          <a:stretch>
            <a:fillRect/>
          </a:stretch>
        </p:blipFill>
        <p:spPr>
          <a:xfrm>
            <a:off x="614363" y="1718441"/>
            <a:ext cx="6370637" cy="4467099"/>
          </a:xfrm>
          <a:prstGeom prst="rect">
            <a:avLst/>
          </a:prstGeom>
        </p:spPr>
      </p:pic>
      <p:pic>
        <p:nvPicPr>
          <p:cNvPr id="107" name="图片 50"/>
          <p:cNvPicPr>
            <a:picLocks noChangeAspect="1"/>
          </p:cNvPicPr>
          <p:nvPr/>
        </p:nvPicPr>
        <p:blipFill>
          <a:blip r:embed="rId4"/>
          <a:stretch>
            <a:fillRect/>
          </a:stretch>
        </p:blipFill>
        <p:spPr>
          <a:xfrm>
            <a:off x="7696980" y="2401785"/>
            <a:ext cx="3757640" cy="3100410"/>
          </a:xfrm>
          <a:prstGeom prst="rect">
            <a:avLst/>
          </a:prstGeom>
        </p:spPr>
      </p:pic>
      <p:sp>
        <p:nvSpPr>
          <p:cNvPr id="108" name="文本框 51"/>
          <p:cNvSpPr txBox="1"/>
          <p:nvPr/>
        </p:nvSpPr>
        <p:spPr>
          <a:xfrm>
            <a:off x="7150100" y="5676900"/>
            <a:ext cx="3930650" cy="954107"/>
          </a:xfrm>
          <a:prstGeom prst="rect">
            <a:avLst/>
          </a:prstGeom>
          <a:noFill/>
        </p:spPr>
        <p:txBody>
          <a:bodyPr wrap="square" rtlCol="0">
            <a:spAutoFit/>
          </a:bodyPr>
          <a:lstStyle/>
          <a:p>
            <a:r>
              <a:rPr lang="en-US" altLang="zh-CN" sz="2800" dirty="0">
                <a:solidFill>
                  <a:srgbClr val="FF0000"/>
                </a:solidFill>
                <a:latin typeface="Times New Roman" panose="02020603050405020304" pitchFamily="18" charset="0"/>
                <a:cs typeface="Times New Roman" panose="02020603050405020304" pitchFamily="18" charset="0"/>
              </a:rPr>
              <a:t>Preventing us from overfitting the test set!</a:t>
            </a:r>
            <a:endParaRPr lang="zh-CN" altLang="en-US" sz="2800" dirty="0">
              <a:solidFill>
                <a:srgbClr val="FF0000"/>
              </a:solidFill>
              <a:latin typeface="Times New Roman" panose="02020603050405020304" pitchFamily="18" charset="0"/>
              <a:cs typeface="Times New Roman" panose="02020603050405020304" pitchFamily="18" charset="0"/>
            </a:endParaRPr>
          </a:p>
        </p:txBody>
      </p:sp>
      <p:sp>
        <p:nvSpPr>
          <p:cNvPr id="109" name="文本框 52"/>
          <p:cNvSpPr txBox="1"/>
          <p:nvPr/>
        </p:nvSpPr>
        <p:spPr>
          <a:xfrm>
            <a:off x="7150100" y="5892343"/>
            <a:ext cx="3606800" cy="523220"/>
          </a:xfrm>
          <a:prstGeom prst="rect">
            <a:avLst/>
          </a:prstGeom>
          <a:noFill/>
        </p:spPr>
        <p:txBody>
          <a:bodyPr wrap="square" rtlCol="0">
            <a:spAutoFit/>
          </a:bodyPr>
          <a:lstStyle/>
          <a:p>
            <a:r>
              <a:rPr lang="en-US" altLang="zh-CN" sz="2800" dirty="0">
                <a:solidFill>
                  <a:srgbClr val="FF0000"/>
                </a:solidFill>
                <a:latin typeface="Times New Roman" panose="02020603050405020304" pitchFamily="18" charset="0"/>
                <a:cs typeface="Times New Roman" panose="02020603050405020304" pitchFamily="18" charset="0"/>
              </a:rPr>
              <a:t>Hard to verify the result!</a:t>
            </a:r>
            <a:endParaRPr lang="zh-CN" altLang="en-US" sz="28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anim calcmode="lin" valueType="num">
                                      <p:cBhvr additive="base">
                                        <p:cTn id="7" dur="500" fill="hold"/>
                                        <p:tgtEl>
                                          <p:spTgt spid="102"/>
                                        </p:tgtEl>
                                        <p:attrNameLst>
                                          <p:attrName>ppt_x</p:attrName>
                                        </p:attrNameLst>
                                      </p:cBhvr>
                                      <p:tavLst>
                                        <p:tav tm="0">
                                          <p:val>
                                            <p:strVal val="#ppt_x"/>
                                          </p:val>
                                        </p:tav>
                                        <p:tav tm="100000">
                                          <p:val>
                                            <p:strVal val="#ppt_x"/>
                                          </p:val>
                                        </p:tav>
                                      </p:tavLst>
                                    </p:anim>
                                    <p:anim calcmode="lin" valueType="num">
                                      <p:cBhvr additive="base">
                                        <p:cTn id="8" dur="500" fill="hold"/>
                                        <p:tgtEl>
                                          <p:spTgt spid="10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108"/>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9"/>
                                        </p:tgtEl>
                                        <p:attrNameLst>
                                          <p:attrName>style.visibility</p:attrName>
                                        </p:attrNameLst>
                                      </p:cBhvr>
                                      <p:to>
                                        <p:strVal val="visible"/>
                                      </p:to>
                                    </p:se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组合 44"/>
          <p:cNvGrpSpPr/>
          <p:nvPr/>
        </p:nvGrpSpPr>
        <p:grpSpPr>
          <a:xfrm>
            <a:off x="1129062" y="672460"/>
            <a:ext cx="4203131" cy="712836"/>
            <a:chOff x="716110" y="187653"/>
            <a:chExt cx="4203131" cy="712836"/>
          </a:xfrm>
        </p:grpSpPr>
        <p:sp>
          <p:nvSpPr>
            <p:cNvPr id="112" name="文本框 45"/>
            <p:cNvSpPr txBox="1"/>
            <p:nvPr/>
          </p:nvSpPr>
          <p:spPr>
            <a:xfrm>
              <a:off x="716110" y="187653"/>
              <a:ext cx="4203131" cy="438582"/>
            </a:xfrm>
            <a:prstGeom prst="rect">
              <a:avLst/>
            </a:prstGeom>
            <a:noFill/>
          </p:spPr>
          <p:txBody>
            <a:bodyPr wrap="square" lIns="68580" tIns="34290" rIns="68580" bIns="34290" rtlCol="0">
              <a:spAutoFit/>
            </a:bodyPr>
            <a:lstStyle/>
            <a:p>
              <a:pPr defTabSz="685800"/>
              <a:r>
                <a:rPr lang="en-US" altLang="zh-CN" sz="2400" b="1" dirty="0">
                  <a:latin typeface="微软雅黑"/>
                  <a:ea typeface="微软雅黑"/>
                  <a:cs typeface="+mn-ea"/>
                  <a:sym typeface="+mn-lt"/>
                </a:rPr>
                <a:t>Exploratory</a:t>
              </a:r>
              <a:r>
                <a:rPr lang="zh-CN" altLang="en-US" sz="2400" b="1" dirty="0">
                  <a:latin typeface="微软雅黑"/>
                  <a:ea typeface="微软雅黑"/>
                  <a:cs typeface="+mn-ea"/>
                  <a:sym typeface="+mn-lt"/>
                </a:rPr>
                <a:t> </a:t>
              </a:r>
              <a:r>
                <a:rPr lang="en-US" altLang="zh-CN" sz="2400" b="1" dirty="0">
                  <a:latin typeface="微软雅黑"/>
                  <a:ea typeface="微软雅黑"/>
                  <a:cs typeface="+mn-ea"/>
                  <a:sym typeface="+mn-lt"/>
                </a:rPr>
                <a:t>Data</a:t>
              </a:r>
              <a:r>
                <a:rPr lang="zh-CN" altLang="en-US" sz="2400" b="1" dirty="0">
                  <a:latin typeface="微软雅黑"/>
                  <a:ea typeface="微软雅黑"/>
                  <a:cs typeface="+mn-ea"/>
                  <a:sym typeface="+mn-lt"/>
                </a:rPr>
                <a:t> </a:t>
              </a:r>
              <a:r>
                <a:rPr lang="en-US" altLang="zh-CN" sz="2400" b="1" dirty="0">
                  <a:latin typeface="微软雅黑"/>
                  <a:ea typeface="微软雅黑"/>
                  <a:cs typeface="+mn-ea"/>
                  <a:sym typeface="+mn-lt"/>
                </a:rPr>
                <a:t>Analysis</a:t>
              </a:r>
              <a:endParaRPr lang="zh-CN" altLang="en-US" sz="2400" b="1" dirty="0">
                <a:latin typeface="微软雅黑"/>
                <a:ea typeface="微软雅黑"/>
                <a:cs typeface="+mn-ea"/>
                <a:sym typeface="+mn-lt"/>
              </a:endParaRPr>
            </a:p>
          </p:txBody>
        </p:sp>
        <p:cxnSp>
          <p:nvCxnSpPr>
            <p:cNvPr id="113" name="直接连接符 46"/>
            <p:cNvCxnSpPr/>
            <p:nvPr/>
          </p:nvCxnSpPr>
          <p:spPr>
            <a:xfrm>
              <a:off x="774478" y="900489"/>
              <a:ext cx="683932" cy="0"/>
            </a:xfrm>
            <a:prstGeom prst="line">
              <a:avLst/>
            </a:prstGeom>
            <a:noFill/>
            <a:ln w="9525" cap="flat" cmpd="sng" algn="ctr">
              <a:solidFill>
                <a:schemeClr val="tx1">
                  <a:lumMod val="85000"/>
                  <a:lumOff val="15000"/>
                </a:schemeClr>
              </a:solidFill>
              <a:prstDash val="solid"/>
              <a:miter lim="800000"/>
            </a:ln>
            <a:effectLst/>
          </p:spPr>
        </p:cxnSp>
        <p:sp>
          <p:nvSpPr>
            <p:cNvPr id="114" name="文本框 47"/>
            <p:cNvSpPr txBox="1"/>
            <p:nvPr/>
          </p:nvSpPr>
          <p:spPr>
            <a:xfrm>
              <a:off x="716110" y="553111"/>
              <a:ext cx="2797234" cy="289503"/>
            </a:xfrm>
            <a:prstGeom prst="rect">
              <a:avLst/>
            </a:prstGeom>
            <a:noFill/>
          </p:spPr>
          <p:txBody>
            <a:bodyPr wrap="square" rtlCol="0">
              <a:spAutoFit/>
            </a:bodyPr>
            <a:lstStyle/>
            <a:p>
              <a:pPr>
                <a:lnSpc>
                  <a:spcPct val="130000"/>
                </a:lnSpc>
              </a:pPr>
              <a:r>
                <a:rPr lang="en-US" altLang="zh-CN" sz="1100" dirty="0">
                  <a:latin typeface="Arial" panose="020B0604020202020204" pitchFamily="34" charset="0"/>
                  <a:ea typeface="微软雅黑 Light"/>
                  <a:cs typeface="Arial" panose="020B0604020202020204" pitchFamily="34" charset="0"/>
                  <a:sym typeface="+mn-lt"/>
                </a:rPr>
                <a:t>A limited dataset</a:t>
              </a:r>
              <a:endParaRPr/>
            </a:p>
          </p:txBody>
        </p:sp>
      </p:grpSp>
      <p:pic>
        <p:nvPicPr>
          <p:cNvPr id="115" name="图片 5"/>
          <p:cNvPicPr>
            <a:picLocks noChangeAspect="1"/>
          </p:cNvPicPr>
          <p:nvPr/>
        </p:nvPicPr>
        <p:blipFill>
          <a:blip r:embed="rId3"/>
          <a:stretch>
            <a:fillRect/>
          </a:stretch>
        </p:blipFill>
        <p:spPr>
          <a:xfrm>
            <a:off x="1187430" y="1858962"/>
            <a:ext cx="5562600" cy="4371975"/>
          </a:xfrm>
          <a:prstGeom prst="rect">
            <a:avLst/>
          </a:prstGeom>
        </p:spPr>
      </p:pic>
      <p:cxnSp>
        <p:nvCxnSpPr>
          <p:cNvPr id="116" name="直接连接符 9"/>
          <p:cNvCxnSpPr/>
          <p:nvPr/>
        </p:nvCxnSpPr>
        <p:spPr>
          <a:xfrm flipV="1">
            <a:off x="4324350" y="2197100"/>
            <a:ext cx="0" cy="353695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17" name="箭头: 左 10"/>
          <p:cNvSpPr/>
          <p:nvPr/>
        </p:nvSpPr>
        <p:spPr>
          <a:xfrm>
            <a:off x="3462338" y="3697287"/>
            <a:ext cx="661985" cy="347662"/>
          </a:xfrm>
          <a:prstGeom prst="lef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文本框 11"/>
          <p:cNvSpPr txBox="1"/>
          <p:nvPr/>
        </p:nvSpPr>
        <p:spPr>
          <a:xfrm>
            <a:off x="7211480" y="2912457"/>
            <a:ext cx="4700767" cy="1569660"/>
          </a:xfrm>
          <a:prstGeom prst="rect">
            <a:avLst/>
          </a:prstGeom>
          <a:noFill/>
        </p:spPr>
        <p:txBody>
          <a:bodyPr wrap="square" rtlCol="0">
            <a:spAutoFit/>
          </a:bodyPr>
          <a:lstStyle/>
          <a:p>
            <a:pPr marL="457200" indent="-457200">
              <a:buFont typeface="Arial" panose="020B0604020202020204" pitchFamily="34" charset="0"/>
              <a:buChar char="•"/>
            </a:pPr>
            <a:r>
              <a:rPr lang="en-US" altLang="zh-CN" sz="3200" dirty="0">
                <a:solidFill>
                  <a:srgbClr val="FF0000"/>
                </a:solidFill>
                <a:latin typeface="Times New Roman" panose="02020603050405020304" pitchFamily="18" charset="0"/>
                <a:cs typeface="Times New Roman" panose="02020603050405020304" pitchFamily="18" charset="0"/>
              </a:rPr>
              <a:t>Max Length = 1024</a:t>
            </a:r>
            <a:endParaRPr/>
          </a:p>
          <a:p>
            <a:pPr marL="457200" indent="-457200">
              <a:buFont typeface="Arial" panose="020B0604020202020204" pitchFamily="34" charset="0"/>
              <a:buChar char="•"/>
            </a:pPr>
            <a:endParaRPr lang="en-US" altLang="zh-CN" sz="3200" dirty="0">
              <a:solidFill>
                <a:srgbClr val="FF0000"/>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zh-CN" sz="3200" dirty="0">
                <a:solidFill>
                  <a:srgbClr val="FF0000"/>
                </a:solidFill>
                <a:latin typeface="Times New Roman" panose="02020603050405020304" pitchFamily="18" charset="0"/>
                <a:cs typeface="Times New Roman" panose="02020603050405020304" pitchFamily="18" charset="0"/>
              </a:rPr>
              <a:t>Padding!</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1"/>
                                        </p:tgtEl>
                                        <p:attrNameLst>
                                          <p:attrName>style.visibility</p:attrName>
                                        </p:attrNameLst>
                                      </p:cBhvr>
                                      <p:to>
                                        <p:strVal val="visible"/>
                                      </p:to>
                                    </p:set>
                                    <p:anim calcmode="lin" valueType="num">
                                      <p:cBhvr additive="base">
                                        <p:cTn id="7" dur="500" fill="hold"/>
                                        <p:tgtEl>
                                          <p:spTgt spid="111"/>
                                        </p:tgtEl>
                                        <p:attrNameLst>
                                          <p:attrName>ppt_x</p:attrName>
                                        </p:attrNameLst>
                                      </p:cBhvr>
                                      <p:tavLst>
                                        <p:tav tm="0">
                                          <p:val>
                                            <p:strVal val="#ppt_x"/>
                                          </p:val>
                                        </p:tav>
                                        <p:tav tm="100000">
                                          <p:val>
                                            <p:strVal val="#ppt_x"/>
                                          </p:val>
                                        </p:tav>
                                      </p:tavLst>
                                    </p:anim>
                                    <p:anim calcmode="lin" valueType="num">
                                      <p:cBhvr additive="base">
                                        <p:cTn id="8" dur="500" fill="hold"/>
                                        <p:tgtEl>
                                          <p:spTgt spid="1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0" name="组合 17"/>
          <p:cNvGrpSpPr/>
          <p:nvPr/>
        </p:nvGrpSpPr>
        <p:grpSpPr>
          <a:xfrm>
            <a:off x="3001347" y="2295330"/>
            <a:ext cx="6189306" cy="2677395"/>
            <a:chOff x="716110" y="187653"/>
            <a:chExt cx="4203131" cy="974570"/>
          </a:xfrm>
        </p:grpSpPr>
        <p:sp>
          <p:nvSpPr>
            <p:cNvPr id="121" name="文本框 18"/>
            <p:cNvSpPr txBox="1"/>
            <p:nvPr/>
          </p:nvSpPr>
          <p:spPr>
            <a:xfrm>
              <a:off x="716110" y="187653"/>
              <a:ext cx="4203131" cy="974570"/>
            </a:xfrm>
            <a:prstGeom prst="rect">
              <a:avLst/>
            </a:prstGeom>
            <a:noFill/>
          </p:spPr>
          <p:txBody>
            <a:bodyPr wrap="square" lIns="68580" tIns="34290" rIns="68580" bIns="34290" rtlCol="0">
              <a:spAutoFit/>
            </a:bodyPr>
            <a:lstStyle/>
            <a:p>
              <a:pPr algn="ctr" defTabSz="685800"/>
              <a:r>
                <a:rPr lang="en-US" altLang="zh-CN" sz="3600" b="1" dirty="0">
                  <a:latin typeface="微软雅黑"/>
                  <a:ea typeface="微软雅黑"/>
                  <a:cs typeface="+mn-ea"/>
                  <a:sym typeface="+mn-lt"/>
                </a:rPr>
                <a:t>Our Basic Approach</a:t>
              </a:r>
              <a:endParaRPr lang="zh-CN" altLang="en-US" sz="3600" b="1" dirty="0">
                <a:latin typeface="微软雅黑"/>
                <a:ea typeface="微软雅黑"/>
                <a:cs typeface="+mn-ea"/>
                <a:sym typeface="+mn-lt"/>
              </a:endParaRPr>
            </a:p>
          </p:txBody>
        </p:sp>
        <p:cxnSp>
          <p:nvCxnSpPr>
            <p:cNvPr id="122" name="直接连接符 19"/>
            <p:cNvCxnSpPr/>
            <p:nvPr/>
          </p:nvCxnSpPr>
          <p:spPr>
            <a:xfrm>
              <a:off x="1434151" y="638121"/>
              <a:ext cx="2873926" cy="0"/>
            </a:xfrm>
            <a:prstGeom prst="line">
              <a:avLst/>
            </a:prstGeom>
            <a:noFill/>
            <a:ln w="9525" cap="flat" cmpd="sng" algn="ctr">
              <a:solidFill>
                <a:schemeClr val="tx1">
                  <a:lumMod val="85000"/>
                  <a:lumOff val="15000"/>
                </a:schemeClr>
              </a:solidFill>
              <a:prstDash val="solid"/>
              <a:miter lim="800000"/>
            </a:ln>
            <a:effectLst/>
          </p:spPr>
        </p:cxnSp>
        <p:sp>
          <p:nvSpPr>
            <p:cNvPr id="123" name="文本框 20"/>
            <p:cNvSpPr txBox="1"/>
            <p:nvPr/>
          </p:nvSpPr>
          <p:spPr>
            <a:xfrm>
              <a:off x="1472497" y="424511"/>
              <a:ext cx="2797234" cy="137984"/>
            </a:xfrm>
            <a:prstGeom prst="rect">
              <a:avLst/>
            </a:prstGeom>
            <a:noFill/>
          </p:spPr>
          <p:txBody>
            <a:bodyPr wrap="square" rtlCol="0">
              <a:spAutoFit/>
            </a:bodyPr>
            <a:lstStyle/>
            <a:p>
              <a:pPr algn="ctr">
                <a:lnSpc>
                  <a:spcPct val="130000"/>
                </a:lnSpc>
              </a:pPr>
              <a:r>
                <a:rPr lang="en-US" altLang="zh-CN" sz="1600" dirty="0">
                  <a:latin typeface="Arial" panose="020B0604020202020204" pitchFamily="34" charset="0"/>
                  <a:ea typeface="微软雅黑 Light"/>
                  <a:cs typeface="Arial" panose="020B0604020202020204" pitchFamily="34" charset="0"/>
                  <a:sym typeface="+mn-lt"/>
                </a:rPr>
                <a:t>Feature Engineering + Boosting!</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anim calcmode="lin" valueType="num">
                                      <p:cBhvr additive="base">
                                        <p:cTn id="7" dur="500" fill="hold"/>
                                        <p:tgtEl>
                                          <p:spTgt spid="120"/>
                                        </p:tgtEl>
                                        <p:attrNameLst>
                                          <p:attrName>ppt_x</p:attrName>
                                        </p:attrNameLst>
                                      </p:cBhvr>
                                      <p:tavLst>
                                        <p:tav tm="0">
                                          <p:val>
                                            <p:strVal val="#ppt_x"/>
                                          </p:val>
                                        </p:tav>
                                        <p:tav tm="100000">
                                          <p:val>
                                            <p:strVal val="#ppt_x"/>
                                          </p:val>
                                        </p:tav>
                                      </p:tavLst>
                                    </p:anim>
                                    <p:anim calcmode="lin" valueType="num">
                                      <p:cBhvr additive="base">
                                        <p:cTn id="8" dur="500" fill="hold"/>
                                        <p:tgtEl>
                                          <p:spTgt spid="1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5" name="组合 17"/>
          <p:cNvGrpSpPr/>
          <p:nvPr/>
        </p:nvGrpSpPr>
        <p:grpSpPr>
          <a:xfrm>
            <a:off x="1129062" y="672460"/>
            <a:ext cx="6535388" cy="712836"/>
            <a:chOff x="716110" y="187653"/>
            <a:chExt cx="6535388" cy="712836"/>
          </a:xfrm>
        </p:grpSpPr>
        <p:sp>
          <p:nvSpPr>
            <p:cNvPr id="126" name="文本框 18"/>
            <p:cNvSpPr txBox="1"/>
            <p:nvPr/>
          </p:nvSpPr>
          <p:spPr>
            <a:xfrm>
              <a:off x="716110" y="187653"/>
              <a:ext cx="6535388" cy="438582"/>
            </a:xfrm>
            <a:prstGeom prst="rect">
              <a:avLst/>
            </a:prstGeom>
            <a:noFill/>
          </p:spPr>
          <p:txBody>
            <a:bodyPr wrap="square" lIns="68580" tIns="34290" rIns="68580" bIns="34290" rtlCol="0">
              <a:spAutoFit/>
            </a:bodyPr>
            <a:lstStyle/>
            <a:p>
              <a:pPr defTabSz="685800"/>
              <a:r>
                <a:rPr lang="en-US" altLang="zh-CN" sz="2400" b="1" dirty="0">
                  <a:latin typeface="微软雅黑"/>
                  <a:ea typeface="微软雅黑"/>
                  <a:cs typeface="+mn-ea"/>
                  <a:sym typeface="+mn-lt"/>
                </a:rPr>
                <a:t>Feature Engineering + Boosting</a:t>
              </a:r>
              <a:endParaRPr lang="zh-CN" altLang="en-US" sz="2400" b="1" dirty="0">
                <a:latin typeface="微软雅黑"/>
                <a:ea typeface="微软雅黑"/>
                <a:cs typeface="+mn-ea"/>
                <a:sym typeface="+mn-lt"/>
              </a:endParaRPr>
            </a:p>
          </p:txBody>
        </p:sp>
        <p:cxnSp>
          <p:nvCxnSpPr>
            <p:cNvPr id="127" name="直接连接符 19"/>
            <p:cNvCxnSpPr/>
            <p:nvPr/>
          </p:nvCxnSpPr>
          <p:spPr>
            <a:xfrm>
              <a:off x="774478" y="900489"/>
              <a:ext cx="683932" cy="0"/>
            </a:xfrm>
            <a:prstGeom prst="line">
              <a:avLst/>
            </a:prstGeom>
            <a:noFill/>
            <a:ln w="9525" cap="flat" cmpd="sng" algn="ctr">
              <a:solidFill>
                <a:schemeClr val="tx1">
                  <a:lumMod val="85000"/>
                  <a:lumOff val="15000"/>
                </a:schemeClr>
              </a:solidFill>
              <a:prstDash val="solid"/>
              <a:miter lim="800000"/>
            </a:ln>
            <a:effectLst/>
          </p:spPr>
        </p:cxnSp>
        <p:sp>
          <p:nvSpPr>
            <p:cNvPr id="128" name="文本框 20"/>
            <p:cNvSpPr txBox="1"/>
            <p:nvPr/>
          </p:nvSpPr>
          <p:spPr>
            <a:xfrm>
              <a:off x="716110" y="553111"/>
              <a:ext cx="2797234" cy="289503"/>
            </a:xfrm>
            <a:prstGeom prst="rect">
              <a:avLst/>
            </a:prstGeom>
            <a:noFill/>
          </p:spPr>
          <p:txBody>
            <a:bodyPr wrap="square" rtlCol="0">
              <a:spAutoFit/>
            </a:bodyPr>
            <a:lstStyle/>
            <a:p>
              <a:pPr>
                <a:lnSpc>
                  <a:spcPct val="130000"/>
                </a:lnSpc>
              </a:pPr>
              <a:r>
                <a:rPr lang="en-US" altLang="zh-CN" sz="1100" dirty="0">
                  <a:latin typeface="Arial" panose="020B0604020202020204" pitchFamily="34" charset="0"/>
                  <a:ea typeface="微软雅黑 Light"/>
                  <a:cs typeface="Arial" panose="020B0604020202020204" pitchFamily="34" charset="0"/>
                  <a:sym typeface="+mn-lt"/>
                </a:rPr>
                <a:t>How the data represent each essay</a:t>
              </a:r>
              <a:endParaRPr/>
            </a:p>
          </p:txBody>
        </p:sp>
      </p:grpSp>
      <p:pic>
        <p:nvPicPr>
          <p:cNvPr id="129" name="图片 3"/>
          <p:cNvPicPr>
            <a:picLocks noChangeAspect="1"/>
          </p:cNvPicPr>
          <p:nvPr/>
        </p:nvPicPr>
        <p:blipFill>
          <a:blip r:embed="rId3"/>
          <a:stretch>
            <a:fillRect/>
          </a:stretch>
        </p:blipFill>
        <p:spPr>
          <a:xfrm>
            <a:off x="1187430" y="4520768"/>
            <a:ext cx="2062982" cy="1545060"/>
          </a:xfrm>
          <a:prstGeom prst="rect">
            <a:avLst/>
          </a:prstGeom>
        </p:spPr>
      </p:pic>
      <p:sp>
        <p:nvSpPr>
          <p:cNvPr id="130" name="矩形 4"/>
          <p:cNvSpPr/>
          <p:nvPr/>
        </p:nvSpPr>
        <p:spPr>
          <a:xfrm>
            <a:off x="1304187" y="3101925"/>
            <a:ext cx="1829468" cy="92683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zh-CN" dirty="0"/>
              <a:t>Manually engineered features</a:t>
            </a:r>
            <a:endParaRPr lang="zh-CN" altLang="en-US" dirty="0"/>
          </a:p>
        </p:txBody>
      </p:sp>
      <p:sp>
        <p:nvSpPr>
          <p:cNvPr id="131" name="矩形 5"/>
          <p:cNvSpPr/>
          <p:nvPr/>
        </p:nvSpPr>
        <p:spPr>
          <a:xfrm>
            <a:off x="1304187" y="1683082"/>
            <a:ext cx="1829468" cy="92683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zh-CN" dirty="0"/>
              <a:t>SVM</a:t>
            </a:r>
            <a:endParaRPr lang="zh-CN" altLang="en-US" dirty="0"/>
          </a:p>
        </p:txBody>
      </p:sp>
      <p:sp>
        <p:nvSpPr>
          <p:cNvPr id="132" name="箭头: 上 6"/>
          <p:cNvSpPr/>
          <p:nvPr/>
        </p:nvSpPr>
        <p:spPr>
          <a:xfrm>
            <a:off x="2119394" y="4109924"/>
            <a:ext cx="199054" cy="329682"/>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箭头: 上 7"/>
          <p:cNvSpPr/>
          <p:nvPr/>
        </p:nvSpPr>
        <p:spPr>
          <a:xfrm>
            <a:off x="2119394" y="2678764"/>
            <a:ext cx="199054" cy="329682"/>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4" name="图片 8"/>
          <p:cNvPicPr>
            <a:picLocks noChangeAspect="1"/>
          </p:cNvPicPr>
          <p:nvPr/>
        </p:nvPicPr>
        <p:blipFill>
          <a:blip r:embed="rId3"/>
          <a:stretch>
            <a:fillRect/>
          </a:stretch>
        </p:blipFill>
        <p:spPr>
          <a:xfrm>
            <a:off x="3926296" y="4520768"/>
            <a:ext cx="2062982" cy="1545060"/>
          </a:xfrm>
          <a:prstGeom prst="rect">
            <a:avLst/>
          </a:prstGeom>
        </p:spPr>
      </p:pic>
      <p:sp>
        <p:nvSpPr>
          <p:cNvPr id="135" name="矩形 9"/>
          <p:cNvSpPr/>
          <p:nvPr/>
        </p:nvSpPr>
        <p:spPr>
          <a:xfrm>
            <a:off x="4086823" y="3101925"/>
            <a:ext cx="1741927" cy="92683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zh-CN" dirty="0"/>
              <a:t>Features learned by a neural network</a:t>
            </a:r>
            <a:endParaRPr lang="zh-CN" altLang="en-US" dirty="0"/>
          </a:p>
        </p:txBody>
      </p:sp>
      <p:sp>
        <p:nvSpPr>
          <p:cNvPr id="136" name="矩形 10"/>
          <p:cNvSpPr/>
          <p:nvPr/>
        </p:nvSpPr>
        <p:spPr>
          <a:xfrm>
            <a:off x="4043053" y="1683082"/>
            <a:ext cx="1829468" cy="92683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zh-CN" dirty="0" err="1"/>
              <a:t>Softmax</a:t>
            </a:r>
            <a:r>
              <a:rPr lang="en-US" altLang="zh-CN" dirty="0"/>
              <a:t> regression</a:t>
            </a:r>
            <a:endParaRPr lang="zh-CN" altLang="en-US" dirty="0"/>
          </a:p>
        </p:txBody>
      </p:sp>
      <p:sp>
        <p:nvSpPr>
          <p:cNvPr id="137" name="箭头: 上 11"/>
          <p:cNvSpPr/>
          <p:nvPr/>
        </p:nvSpPr>
        <p:spPr>
          <a:xfrm>
            <a:off x="4858260" y="4109924"/>
            <a:ext cx="199054" cy="329682"/>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箭头: 上 12"/>
          <p:cNvSpPr/>
          <p:nvPr/>
        </p:nvSpPr>
        <p:spPr>
          <a:xfrm>
            <a:off x="4858260" y="2678764"/>
            <a:ext cx="199054" cy="329682"/>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加号 14"/>
          <p:cNvSpPr/>
          <p:nvPr/>
        </p:nvSpPr>
        <p:spPr>
          <a:xfrm>
            <a:off x="3416300" y="3314700"/>
            <a:ext cx="387350" cy="387350"/>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0" name="图片 15"/>
          <p:cNvPicPr>
            <a:picLocks noChangeAspect="1"/>
          </p:cNvPicPr>
          <p:nvPr/>
        </p:nvPicPr>
        <p:blipFill>
          <a:blip r:embed="rId3"/>
          <a:stretch>
            <a:fillRect/>
          </a:stretch>
        </p:blipFill>
        <p:spPr>
          <a:xfrm>
            <a:off x="7734280" y="4520768"/>
            <a:ext cx="2062982" cy="1545060"/>
          </a:xfrm>
          <a:prstGeom prst="rect">
            <a:avLst/>
          </a:prstGeom>
        </p:spPr>
      </p:pic>
      <p:sp>
        <p:nvSpPr>
          <p:cNvPr id="141" name="矩形 16"/>
          <p:cNvSpPr/>
          <p:nvPr/>
        </p:nvSpPr>
        <p:spPr>
          <a:xfrm>
            <a:off x="7919264" y="3101925"/>
            <a:ext cx="1693013" cy="92683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zh-CN" dirty="0"/>
              <a:t>Various different features</a:t>
            </a:r>
            <a:endParaRPr lang="zh-CN" altLang="en-US" dirty="0"/>
          </a:p>
        </p:txBody>
      </p:sp>
      <p:sp>
        <p:nvSpPr>
          <p:cNvPr id="142" name="矩形 21"/>
          <p:cNvSpPr/>
          <p:nvPr/>
        </p:nvSpPr>
        <p:spPr>
          <a:xfrm>
            <a:off x="7851037" y="1683082"/>
            <a:ext cx="1829468" cy="92683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zh-CN" dirty="0" err="1"/>
              <a:t>lightGBM</a:t>
            </a:r>
            <a:endParaRPr lang="zh-CN" altLang="en-US" dirty="0"/>
          </a:p>
        </p:txBody>
      </p:sp>
      <p:sp>
        <p:nvSpPr>
          <p:cNvPr id="143" name="箭头: 上 22"/>
          <p:cNvSpPr/>
          <p:nvPr/>
        </p:nvSpPr>
        <p:spPr>
          <a:xfrm>
            <a:off x="8666244" y="4109924"/>
            <a:ext cx="199054" cy="329682"/>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箭头: 上 23"/>
          <p:cNvSpPr/>
          <p:nvPr/>
        </p:nvSpPr>
        <p:spPr>
          <a:xfrm>
            <a:off x="8666244" y="2678764"/>
            <a:ext cx="199054" cy="329682"/>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等号 24"/>
          <p:cNvSpPr/>
          <p:nvPr/>
        </p:nvSpPr>
        <p:spPr>
          <a:xfrm>
            <a:off x="6578600" y="3429000"/>
            <a:ext cx="673100" cy="330200"/>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6" name="箭头: 右 25"/>
          <p:cNvSpPr/>
          <p:nvPr/>
        </p:nvSpPr>
        <p:spPr>
          <a:xfrm rot="19339720">
            <a:off x="9348935" y="1496324"/>
            <a:ext cx="663141" cy="280039"/>
          </a:xfrm>
          <a:prstGeom prst="rightArrow">
            <a:avLst/>
          </a:prstGeom>
          <a:solidFill>
            <a:srgbClr val="FF0000"/>
          </a:soli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47" name="文本框 26"/>
          <p:cNvSpPr txBox="1"/>
          <p:nvPr/>
        </p:nvSpPr>
        <p:spPr>
          <a:xfrm>
            <a:off x="9740900" y="1037918"/>
            <a:ext cx="1003300" cy="369332"/>
          </a:xfrm>
          <a:prstGeom prst="rect">
            <a:avLst/>
          </a:prstGeom>
          <a:noFill/>
        </p:spPr>
        <p:txBody>
          <a:bodyPr wrap="square" rtlCol="0">
            <a:spAutoFit/>
          </a:bodyPr>
          <a:lstStyle/>
          <a:p>
            <a:r>
              <a:rPr lang="en-US" altLang="zh-CN" dirty="0">
                <a:solidFill>
                  <a:srgbClr val="FF0000"/>
                </a:solidFill>
              </a:rPr>
              <a:t>Boosting</a:t>
            </a:r>
            <a:endParaRPr lang="zh-CN" alt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5"/>
                                        </p:tgtEl>
                                        <p:attrNameLst>
                                          <p:attrName>style.visibility</p:attrName>
                                        </p:attrNameLst>
                                      </p:cBhvr>
                                      <p:to>
                                        <p:strVal val="visible"/>
                                      </p:to>
                                    </p:set>
                                    <p:anim calcmode="lin" valueType="num">
                                      <p:cBhvr additive="base">
                                        <p:cTn id="7" dur="500" fill="hold"/>
                                        <p:tgtEl>
                                          <p:spTgt spid="125"/>
                                        </p:tgtEl>
                                        <p:attrNameLst>
                                          <p:attrName>ppt_x</p:attrName>
                                        </p:attrNameLst>
                                      </p:cBhvr>
                                      <p:tavLst>
                                        <p:tav tm="0">
                                          <p:val>
                                            <p:strVal val="#ppt_x"/>
                                          </p:val>
                                        </p:tav>
                                        <p:tav tm="100000">
                                          <p:val>
                                            <p:strVal val="#ppt_x"/>
                                          </p:val>
                                        </p:tav>
                                      </p:tavLst>
                                    </p:anim>
                                    <p:anim calcmode="lin" valueType="num">
                                      <p:cBhvr additive="base">
                                        <p:cTn id="8" dur="500" fill="hold"/>
                                        <p:tgtEl>
                                          <p:spTgt spid="12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4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4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4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4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4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4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47"/>
                                        </p:tgtEl>
                                        <p:attrNameLst>
                                          <p:attrName>style.visibility</p:attrName>
                                        </p:attrNameLst>
                                      </p:cBhvr>
                                      <p:to>
                                        <p:strVal val="visible"/>
                                      </p:to>
                                    </p:se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9" name="组合 17"/>
          <p:cNvGrpSpPr/>
          <p:nvPr/>
        </p:nvGrpSpPr>
        <p:grpSpPr>
          <a:xfrm>
            <a:off x="1129062" y="672460"/>
            <a:ext cx="4203131" cy="712836"/>
            <a:chOff x="716110" y="187653"/>
            <a:chExt cx="4203131" cy="712836"/>
          </a:xfrm>
        </p:grpSpPr>
        <p:sp>
          <p:nvSpPr>
            <p:cNvPr id="150" name="文本框 18"/>
            <p:cNvSpPr txBox="1"/>
            <p:nvPr/>
          </p:nvSpPr>
          <p:spPr>
            <a:xfrm>
              <a:off x="716110" y="187653"/>
              <a:ext cx="4203131" cy="438582"/>
            </a:xfrm>
            <a:prstGeom prst="rect">
              <a:avLst/>
            </a:prstGeom>
            <a:noFill/>
          </p:spPr>
          <p:txBody>
            <a:bodyPr wrap="square" lIns="68580" tIns="34290" rIns="68580" bIns="34290" rtlCol="0">
              <a:spAutoFit/>
            </a:bodyPr>
            <a:lstStyle/>
            <a:p>
              <a:pPr defTabSz="685800"/>
              <a:r>
                <a:rPr lang="en-US" altLang="zh-CN" sz="2400" b="1" dirty="0">
                  <a:latin typeface="微软雅黑"/>
                  <a:ea typeface="微软雅黑"/>
                  <a:cs typeface="+mn-ea"/>
                  <a:sym typeface="+mn-lt"/>
                </a:rPr>
                <a:t>Why </a:t>
              </a:r>
              <a:r>
                <a:rPr lang="en-US" altLang="zh-CN" sz="2400" b="1" dirty="0" err="1">
                  <a:latin typeface="微软雅黑"/>
                  <a:ea typeface="微软雅黑"/>
                  <a:cs typeface="+mn-ea"/>
                  <a:sym typeface="+mn-lt"/>
                </a:rPr>
                <a:t>lightGBM</a:t>
              </a:r>
              <a:r>
                <a:rPr lang="en-US" altLang="zh-CN" sz="2400" b="1" dirty="0">
                  <a:latin typeface="微软雅黑"/>
                  <a:ea typeface="微软雅黑"/>
                  <a:cs typeface="+mn-ea"/>
                  <a:sym typeface="+mn-lt"/>
                </a:rPr>
                <a:t>?</a:t>
              </a:r>
              <a:endParaRPr lang="zh-CN" altLang="en-US" sz="2400" b="1" dirty="0">
                <a:latin typeface="微软雅黑"/>
                <a:ea typeface="微软雅黑"/>
                <a:cs typeface="+mn-ea"/>
                <a:sym typeface="+mn-lt"/>
              </a:endParaRPr>
            </a:p>
          </p:txBody>
        </p:sp>
        <p:cxnSp>
          <p:nvCxnSpPr>
            <p:cNvPr id="151" name="直接连接符 19"/>
            <p:cNvCxnSpPr/>
            <p:nvPr/>
          </p:nvCxnSpPr>
          <p:spPr>
            <a:xfrm>
              <a:off x="774478" y="900489"/>
              <a:ext cx="683932" cy="0"/>
            </a:xfrm>
            <a:prstGeom prst="line">
              <a:avLst/>
            </a:prstGeom>
            <a:noFill/>
            <a:ln w="9525" cap="flat" cmpd="sng" algn="ctr">
              <a:solidFill>
                <a:schemeClr val="tx1">
                  <a:lumMod val="85000"/>
                  <a:lumOff val="15000"/>
                </a:schemeClr>
              </a:solidFill>
              <a:prstDash val="solid"/>
              <a:miter lim="800000"/>
            </a:ln>
            <a:effectLst/>
          </p:spPr>
        </p:cxnSp>
        <p:sp>
          <p:nvSpPr>
            <p:cNvPr id="152" name="文本框 20"/>
            <p:cNvSpPr txBox="1"/>
            <p:nvPr/>
          </p:nvSpPr>
          <p:spPr>
            <a:xfrm>
              <a:off x="716110" y="553111"/>
              <a:ext cx="2797234" cy="289503"/>
            </a:xfrm>
            <a:prstGeom prst="rect">
              <a:avLst/>
            </a:prstGeom>
            <a:noFill/>
          </p:spPr>
          <p:txBody>
            <a:bodyPr wrap="square" rtlCol="0">
              <a:spAutoFit/>
            </a:bodyPr>
            <a:lstStyle/>
            <a:p>
              <a:pPr>
                <a:lnSpc>
                  <a:spcPct val="130000"/>
                </a:lnSpc>
              </a:pPr>
              <a:r>
                <a:rPr lang="en-US" altLang="zh-CN" sz="1100" dirty="0">
                  <a:latin typeface="Arial" panose="020B0604020202020204" pitchFamily="34" charset="0"/>
                  <a:ea typeface="微软雅黑 Light"/>
                  <a:cs typeface="Arial" panose="020B0604020202020204" pitchFamily="34" charset="0"/>
                  <a:sym typeface="+mn-lt"/>
                </a:rPr>
                <a:t>Why not dense layer </a:t>
              </a:r>
              <a:r>
                <a:rPr lang="en-US" altLang="zh-CN" sz="1100" dirty="0" err="1">
                  <a:latin typeface="Arial" panose="020B0604020202020204" pitchFamily="34" charset="0"/>
                  <a:ea typeface="微软雅黑 Light"/>
                  <a:cs typeface="Arial" panose="020B0604020202020204" pitchFamily="34" charset="0"/>
                  <a:sym typeface="+mn-lt"/>
                </a:rPr>
                <a:t>softmax</a:t>
              </a:r>
              <a:r>
                <a:rPr lang="en-US" altLang="zh-CN" sz="1100" dirty="0">
                  <a:latin typeface="Arial" panose="020B0604020202020204" pitchFamily="34" charset="0"/>
                  <a:ea typeface="微软雅黑 Light"/>
                  <a:cs typeface="Arial" panose="020B0604020202020204" pitchFamily="34" charset="0"/>
                  <a:sym typeface="+mn-lt"/>
                </a:rPr>
                <a:t>?</a:t>
              </a:r>
              <a:endParaRPr/>
            </a:p>
          </p:txBody>
        </p:sp>
      </p:grpSp>
      <p:sp>
        <p:nvSpPr>
          <p:cNvPr id="153" name="文本框 1"/>
          <p:cNvSpPr txBox="1"/>
          <p:nvPr/>
        </p:nvSpPr>
        <p:spPr>
          <a:xfrm>
            <a:off x="1402731" y="1841500"/>
            <a:ext cx="4787900" cy="1015663"/>
          </a:xfrm>
          <a:prstGeom prst="rect">
            <a:avLst/>
          </a:prstGeom>
          <a:noFill/>
        </p:spPr>
        <p:txBody>
          <a:bodyPr wrap="square" rtlCol="0">
            <a:spAutoFit/>
          </a:bodyPr>
          <a:lstStyle/>
          <a:p>
            <a:pPr algn="ctr"/>
            <a:r>
              <a:rPr lang="en-US" altLang="zh-CN" sz="2400" dirty="0" err="1">
                <a:latin typeface="Times New Roman" panose="02020603050405020304" pitchFamily="18" charset="0"/>
                <a:cs typeface="Times New Roman" panose="02020603050405020304" pitchFamily="18" charset="0"/>
              </a:rPr>
              <a:t>LightGBM</a:t>
            </a:r>
            <a:r>
              <a:rPr lang="en-US" altLang="zh-CN" sz="2400" dirty="0">
                <a:latin typeface="Times New Roman" panose="02020603050405020304" pitchFamily="18" charset="0"/>
                <a:cs typeface="Times New Roman" panose="02020603050405020304" pitchFamily="18" charset="0"/>
              </a:rPr>
              <a:t> versus </a:t>
            </a:r>
            <a:r>
              <a:rPr lang="en-US" altLang="zh-CN" sz="2400" dirty="0" err="1">
                <a:latin typeface="Times New Roman" panose="02020603050405020304" pitchFamily="18" charset="0"/>
                <a:cs typeface="Times New Roman" panose="02020603050405020304" pitchFamily="18" charset="0"/>
              </a:rPr>
              <a:t>Softmax</a:t>
            </a:r>
            <a:endParaRPr lang="en-US" altLang="zh-CN" sz="2400"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p:txBody>
      </p:sp>
      <p:sp>
        <p:nvSpPr>
          <p:cNvPr id="154" name="文本框 3"/>
          <p:cNvSpPr txBox="1"/>
          <p:nvPr/>
        </p:nvSpPr>
        <p:spPr>
          <a:xfrm>
            <a:off x="1129062" y="2486114"/>
            <a:ext cx="5500338" cy="2862322"/>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altLang="zh-CN" dirty="0" err="1">
                <a:solidFill>
                  <a:srgbClr val="FF0000"/>
                </a:solidFill>
                <a:latin typeface="Times New Roman" panose="02020603050405020304" pitchFamily="18" charset="0"/>
                <a:cs typeface="Times New Roman" panose="02020603050405020304" pitchFamily="18" charset="0"/>
              </a:rPr>
              <a:t>Softmax</a:t>
            </a:r>
            <a:r>
              <a:rPr lang="en-US" altLang="zh-CN" dirty="0">
                <a:solidFill>
                  <a:srgbClr val="FF0000"/>
                </a:solidFill>
                <a:latin typeface="Times New Roman" panose="02020603050405020304" pitchFamily="18" charset="0"/>
                <a:cs typeface="Times New Roman" panose="02020603050405020304" pitchFamily="18" charset="0"/>
              </a:rPr>
              <a:t> may overfit the character of scores range from 2-4.</a:t>
            </a:r>
            <a:endParaRPr lang="en-US" altLang="zh-CN" sz="1800" dirty="0">
              <a:solidFill>
                <a:srgbClr val="FF0000"/>
              </a:solidFill>
              <a:latin typeface="Times New Roman" panose="02020603050405020304" pitchFamily="18" charset="0"/>
              <a:cs typeface="Times New Roman" panose="02020603050405020304" pitchFamily="18" charset="0"/>
            </a:endParaRPr>
          </a:p>
          <a:p>
            <a:pPr marL="457200" indent="-457200">
              <a:lnSpc>
                <a:spcPct val="150000"/>
              </a:lnSpc>
              <a:buFont typeface="Arial" panose="020B0604020202020204" pitchFamily="34" charset="0"/>
              <a:buChar char="•"/>
            </a:pPr>
            <a:r>
              <a:rPr lang="en-US" altLang="zh-CN" dirty="0" err="1">
                <a:solidFill>
                  <a:srgbClr val="FF0000"/>
                </a:solidFill>
                <a:latin typeface="Times New Roman" panose="02020603050405020304" pitchFamily="18" charset="0"/>
                <a:cs typeface="Times New Roman" panose="02020603050405020304" pitchFamily="18" charset="0"/>
              </a:rPr>
              <a:t>LightGBM</a:t>
            </a:r>
            <a:r>
              <a:rPr lang="en-US" altLang="zh-CN" dirty="0">
                <a:solidFill>
                  <a:srgbClr val="FF0000"/>
                </a:solidFill>
                <a:latin typeface="Times New Roman" panose="02020603050405020304" pitchFamily="18" charset="0"/>
                <a:cs typeface="Times New Roman" panose="02020603050405020304" pitchFamily="18" charset="0"/>
              </a:rPr>
              <a:t> can tell which feature is more important (feature selection).</a:t>
            </a:r>
            <a:endParaRPr/>
          </a:p>
          <a:p>
            <a:pPr marL="457200" indent="-457200">
              <a:lnSpc>
                <a:spcPct val="150000"/>
              </a:lnSpc>
              <a:buFont typeface="Arial" panose="020B0604020202020204" pitchFamily="34" charset="0"/>
              <a:buChar char="•"/>
            </a:pPr>
            <a:r>
              <a:rPr lang="en-US" altLang="zh-CN" dirty="0">
                <a:solidFill>
                  <a:srgbClr val="FF0000"/>
                </a:solidFill>
                <a:latin typeface="Times New Roman" panose="02020603050405020304" pitchFamily="18" charset="0"/>
                <a:cs typeface="Times New Roman" panose="02020603050405020304" pitchFamily="18" charset="0"/>
              </a:rPr>
              <a:t>Hard to explain the weight of dense layer </a:t>
            </a:r>
            <a:r>
              <a:rPr lang="en-US" altLang="zh-CN" dirty="0" err="1">
                <a:solidFill>
                  <a:srgbClr val="FF0000"/>
                </a:solidFill>
                <a:latin typeface="Times New Roman" panose="02020603050405020304" pitchFamily="18" charset="0"/>
                <a:cs typeface="Times New Roman" panose="02020603050405020304" pitchFamily="18" charset="0"/>
              </a:rPr>
              <a:t>softmax</a:t>
            </a:r>
            <a:r>
              <a:rPr lang="en-US" altLang="zh-CN" dirty="0">
                <a:solidFill>
                  <a:srgbClr val="FF0000"/>
                </a:solidFill>
                <a:latin typeface="Times New Roman" panose="02020603050405020304" pitchFamily="18" charset="0"/>
                <a:cs typeface="Times New Roman" panose="02020603050405020304" pitchFamily="18" charset="0"/>
              </a:rPr>
              <a:t>.</a:t>
            </a:r>
            <a:endParaRPr/>
          </a:p>
          <a:p>
            <a:pPr marL="457200" indent="-457200">
              <a:lnSpc>
                <a:spcPct val="150000"/>
              </a:lnSpc>
              <a:buFont typeface="Arial" panose="020B0604020202020204" pitchFamily="34" charset="0"/>
              <a:buChar char="•"/>
            </a:pPr>
            <a:r>
              <a:rPr lang="en-US" altLang="zh-CN" dirty="0">
                <a:solidFill>
                  <a:srgbClr val="FF0000"/>
                </a:solidFill>
                <a:latin typeface="Times New Roman" panose="02020603050405020304" pitchFamily="18" charset="0"/>
                <a:cs typeface="Times New Roman" panose="02020603050405020304" pitchFamily="18" charset="0"/>
              </a:rPr>
              <a:t>No need of backpropagation, easy to train.</a:t>
            </a:r>
            <a:endParaRPr/>
          </a:p>
          <a:p>
            <a:pPr marL="457200" indent="-457200">
              <a:buFont typeface="Arial" panose="020B0604020202020204" pitchFamily="34" charset="0"/>
              <a:buChar char="•"/>
            </a:pPr>
            <a:endParaRPr lang="en-US" altLang="zh-CN" sz="1800" dirty="0">
              <a:solidFill>
                <a:srgbClr val="FF0000"/>
              </a:solidFill>
              <a:latin typeface="Times New Roman" panose="02020603050405020304" pitchFamily="18" charset="0"/>
              <a:cs typeface="Times New Roman" panose="02020603050405020304" pitchFamily="18" charset="0"/>
            </a:endParaRPr>
          </a:p>
        </p:txBody>
      </p:sp>
      <p:pic>
        <p:nvPicPr>
          <p:cNvPr id="155" name="图片 7"/>
          <p:cNvPicPr>
            <a:picLocks noChangeAspect="1"/>
          </p:cNvPicPr>
          <p:nvPr/>
        </p:nvPicPr>
        <p:blipFill>
          <a:blip r:embed="rId3"/>
          <a:stretch>
            <a:fillRect/>
          </a:stretch>
        </p:blipFill>
        <p:spPr>
          <a:xfrm>
            <a:off x="6903069" y="819150"/>
            <a:ext cx="4101501" cy="1924890"/>
          </a:xfrm>
          <a:prstGeom prst="rect">
            <a:avLst/>
          </a:prstGeom>
        </p:spPr>
      </p:pic>
      <p:pic>
        <p:nvPicPr>
          <p:cNvPr id="156" name="图片 9"/>
          <p:cNvPicPr>
            <a:picLocks noChangeAspect="1"/>
          </p:cNvPicPr>
          <p:nvPr/>
        </p:nvPicPr>
        <p:blipFill>
          <a:blip r:embed="rId4"/>
          <a:stretch>
            <a:fillRect/>
          </a:stretch>
        </p:blipFill>
        <p:spPr>
          <a:xfrm>
            <a:off x="6903069" y="3326860"/>
            <a:ext cx="4026287" cy="27119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9"/>
                                        </p:tgtEl>
                                        <p:attrNameLst>
                                          <p:attrName>style.visibility</p:attrName>
                                        </p:attrNameLst>
                                      </p:cBhvr>
                                      <p:to>
                                        <p:strVal val="visible"/>
                                      </p:to>
                                    </p:set>
                                    <p:anim calcmode="lin" valueType="num">
                                      <p:cBhvr additive="base">
                                        <p:cTn id="7" dur="500" fill="hold"/>
                                        <p:tgtEl>
                                          <p:spTgt spid="149"/>
                                        </p:tgtEl>
                                        <p:attrNameLst>
                                          <p:attrName>ppt_x</p:attrName>
                                        </p:attrNameLst>
                                      </p:cBhvr>
                                      <p:tavLst>
                                        <p:tav tm="0">
                                          <p:val>
                                            <p:strVal val="#ppt_x"/>
                                          </p:val>
                                        </p:tav>
                                        <p:tav tm="100000">
                                          <p:val>
                                            <p:strVal val="#ppt_x"/>
                                          </p:val>
                                        </p:tav>
                                      </p:tavLst>
                                    </p:anim>
                                    <p:anim calcmode="lin" valueType="num">
                                      <p:cBhvr additive="base">
                                        <p:cTn id="8" dur="500" fill="hold"/>
                                        <p:tgtEl>
                                          <p:spTgt spid="14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6"/>
                                        </p:tgtEl>
                                        <p:attrNameLst>
                                          <p:attrName>style.visibility</p:attrName>
                                        </p:attrNameLst>
                                      </p:cBhvr>
                                      <p:to>
                                        <p:strVal val="visible"/>
                                      </p:to>
                                    </p:se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8" name="组合 17"/>
          <p:cNvGrpSpPr/>
          <p:nvPr/>
        </p:nvGrpSpPr>
        <p:grpSpPr>
          <a:xfrm>
            <a:off x="1129062" y="672460"/>
            <a:ext cx="4203131" cy="712836"/>
            <a:chOff x="716110" y="187653"/>
            <a:chExt cx="4203131" cy="712836"/>
          </a:xfrm>
        </p:grpSpPr>
        <p:sp>
          <p:nvSpPr>
            <p:cNvPr id="159" name="文本框 18"/>
            <p:cNvSpPr txBox="1"/>
            <p:nvPr/>
          </p:nvSpPr>
          <p:spPr>
            <a:xfrm>
              <a:off x="716110" y="187653"/>
              <a:ext cx="4203131" cy="438582"/>
            </a:xfrm>
            <a:prstGeom prst="rect">
              <a:avLst/>
            </a:prstGeom>
            <a:noFill/>
          </p:spPr>
          <p:txBody>
            <a:bodyPr wrap="square" lIns="68580" tIns="34290" rIns="68580" bIns="34290" rtlCol="0">
              <a:spAutoFit/>
            </a:bodyPr>
            <a:lstStyle/>
            <a:p>
              <a:pPr defTabSz="685800"/>
              <a:r>
                <a:rPr lang="en-US" altLang="zh-CN" sz="2400" b="1" dirty="0">
                  <a:latin typeface="微软雅黑"/>
                  <a:ea typeface="微软雅黑"/>
                  <a:cs typeface="+mn-ea"/>
                  <a:sym typeface="+mn-lt"/>
                </a:rPr>
                <a:t>Pretraining</a:t>
              </a:r>
              <a:r>
                <a:rPr lang="zh-CN" altLang="en-US" sz="2400" b="1" dirty="0">
                  <a:latin typeface="微软雅黑"/>
                  <a:ea typeface="微软雅黑"/>
                  <a:cs typeface="+mn-ea"/>
                  <a:sym typeface="+mn-lt"/>
                </a:rPr>
                <a:t> </a:t>
              </a:r>
              <a:r>
                <a:rPr lang="en-US" altLang="zh-CN" sz="2400" b="1" dirty="0">
                  <a:latin typeface="微软雅黑"/>
                  <a:ea typeface="微软雅黑"/>
                  <a:cs typeface="+mn-ea"/>
                  <a:sym typeface="+mn-lt"/>
                </a:rPr>
                <a:t>LLM </a:t>
              </a:r>
              <a:r>
                <a:rPr lang="en-US" altLang="zh-CN" sz="2400" b="1" dirty="0" err="1">
                  <a:latin typeface="微软雅黑"/>
                  <a:ea typeface="微软雅黑"/>
                  <a:cs typeface="+mn-ea"/>
                  <a:sym typeface="+mn-lt"/>
                </a:rPr>
                <a:t>DeBERTa</a:t>
              </a:r>
              <a:endParaRPr lang="zh-CN" altLang="en-US" sz="2400" b="1" dirty="0">
                <a:latin typeface="微软雅黑"/>
                <a:ea typeface="微软雅黑"/>
                <a:cs typeface="+mn-ea"/>
                <a:sym typeface="+mn-lt"/>
              </a:endParaRPr>
            </a:p>
          </p:txBody>
        </p:sp>
        <p:cxnSp>
          <p:nvCxnSpPr>
            <p:cNvPr id="160" name="直接连接符 19"/>
            <p:cNvCxnSpPr/>
            <p:nvPr/>
          </p:nvCxnSpPr>
          <p:spPr>
            <a:xfrm>
              <a:off x="774478" y="900489"/>
              <a:ext cx="683932" cy="0"/>
            </a:xfrm>
            <a:prstGeom prst="line">
              <a:avLst/>
            </a:prstGeom>
            <a:noFill/>
            <a:ln w="9525" cap="flat" cmpd="sng" algn="ctr">
              <a:solidFill>
                <a:schemeClr val="tx1">
                  <a:lumMod val="85000"/>
                  <a:lumOff val="15000"/>
                </a:schemeClr>
              </a:solidFill>
              <a:prstDash val="solid"/>
              <a:miter lim="800000"/>
            </a:ln>
            <a:effectLst/>
          </p:spPr>
        </p:cxnSp>
        <p:sp>
          <p:nvSpPr>
            <p:cNvPr id="161" name="文本框 20"/>
            <p:cNvSpPr txBox="1"/>
            <p:nvPr/>
          </p:nvSpPr>
          <p:spPr>
            <a:xfrm>
              <a:off x="716110" y="553111"/>
              <a:ext cx="2797234" cy="289503"/>
            </a:xfrm>
            <a:prstGeom prst="rect">
              <a:avLst/>
            </a:prstGeom>
            <a:noFill/>
          </p:spPr>
          <p:txBody>
            <a:bodyPr wrap="square" rtlCol="0">
              <a:spAutoFit/>
            </a:bodyPr>
            <a:lstStyle/>
            <a:p>
              <a:pPr>
                <a:lnSpc>
                  <a:spcPct val="130000"/>
                </a:lnSpc>
              </a:pPr>
              <a:r>
                <a:rPr lang="en-US" altLang="zh-CN" sz="1100" dirty="0">
                  <a:latin typeface="Arial" panose="020B0604020202020204" pitchFamily="34" charset="0"/>
                  <a:ea typeface="微软雅黑 Light"/>
                  <a:cs typeface="Arial" panose="020B0604020202020204" pitchFamily="34" charset="0"/>
                  <a:sym typeface="+mn-lt"/>
                </a:rPr>
                <a:t>Meta Feature</a:t>
              </a:r>
              <a:endParaRPr/>
            </a:p>
          </p:txBody>
        </p:sp>
      </p:grpSp>
      <p:pic>
        <p:nvPicPr>
          <p:cNvPr id="162" name="图片 2"/>
          <p:cNvPicPr>
            <a:picLocks noChangeAspect="1"/>
          </p:cNvPicPr>
          <p:nvPr/>
        </p:nvPicPr>
        <p:blipFill>
          <a:blip r:embed="rId3"/>
          <a:stretch>
            <a:fillRect/>
          </a:stretch>
        </p:blipFill>
        <p:spPr>
          <a:xfrm>
            <a:off x="1530350" y="1590800"/>
            <a:ext cx="9131300" cy="4819410"/>
          </a:xfrm>
          <a:prstGeom prst="rect">
            <a:avLst/>
          </a:prstGeom>
        </p:spPr>
      </p:pic>
      <p:cxnSp>
        <p:nvCxnSpPr>
          <p:cNvPr id="163" name="直接连接符 5"/>
          <p:cNvCxnSpPr/>
          <p:nvPr/>
        </p:nvCxnSpPr>
        <p:spPr>
          <a:xfrm>
            <a:off x="1587500" y="4838700"/>
            <a:ext cx="9017000" cy="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64" name="直接连接符 6"/>
          <p:cNvCxnSpPr/>
          <p:nvPr/>
        </p:nvCxnSpPr>
        <p:spPr>
          <a:xfrm>
            <a:off x="1587500" y="5226050"/>
            <a:ext cx="9017000" cy="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65" name="直接连接符 8"/>
          <p:cNvCxnSpPr/>
          <p:nvPr/>
        </p:nvCxnSpPr>
        <p:spPr>
          <a:xfrm>
            <a:off x="1587500" y="4838700"/>
            <a:ext cx="0" cy="38735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66" name="直接连接符 9"/>
          <p:cNvCxnSpPr/>
          <p:nvPr/>
        </p:nvCxnSpPr>
        <p:spPr>
          <a:xfrm>
            <a:off x="10604500" y="4854575"/>
            <a:ext cx="0" cy="387350"/>
          </a:xfrm>
          <a:prstGeom prst="line">
            <a:avLst/>
          </a:prstGeom>
          <a:ln w="28575"/>
        </p:spPr>
        <p:style>
          <a:lnRef idx="1">
            <a:schemeClr val="accent2"/>
          </a:lnRef>
          <a:fillRef idx="0">
            <a:schemeClr val="accent2"/>
          </a:fillRef>
          <a:effectRef idx="0">
            <a:schemeClr val="accent2"/>
          </a:effectRef>
          <a:fontRef idx="minor">
            <a:schemeClr val="tx1"/>
          </a:fontRef>
        </p:style>
      </p:cxnSp>
      <p:pic>
        <p:nvPicPr>
          <p:cNvPr id="167" name="图片 10"/>
          <p:cNvPicPr>
            <a:picLocks noChangeAspect="1"/>
          </p:cNvPicPr>
          <p:nvPr/>
        </p:nvPicPr>
        <p:blipFill>
          <a:blip r:embed="rId4"/>
          <a:stretch>
            <a:fillRect/>
          </a:stretch>
        </p:blipFill>
        <p:spPr>
          <a:xfrm>
            <a:off x="1854200" y="2898301"/>
            <a:ext cx="8426450" cy="222499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8"/>
                                        </p:tgtEl>
                                        <p:attrNameLst>
                                          <p:attrName>style.visibility</p:attrName>
                                        </p:attrNameLst>
                                      </p:cBhvr>
                                      <p:to>
                                        <p:strVal val="visible"/>
                                      </p:to>
                                    </p:set>
                                    <p:anim calcmode="lin" valueType="num">
                                      <p:cBhvr additive="base">
                                        <p:cTn id="7" dur="500" fill="hold"/>
                                        <p:tgtEl>
                                          <p:spTgt spid="158"/>
                                        </p:tgtEl>
                                        <p:attrNameLst>
                                          <p:attrName>ppt_x</p:attrName>
                                        </p:attrNameLst>
                                      </p:cBhvr>
                                      <p:tavLst>
                                        <p:tav tm="0">
                                          <p:val>
                                            <p:strVal val="#ppt_x"/>
                                          </p:val>
                                        </p:tav>
                                        <p:tav tm="100000">
                                          <p:val>
                                            <p:strVal val="#ppt_x"/>
                                          </p:val>
                                        </p:tav>
                                      </p:tavLst>
                                    </p:anim>
                                    <p:anim calcmode="lin" valueType="num">
                                      <p:cBhvr additive="base">
                                        <p:cTn id="8" dur="500" fill="hold"/>
                                        <p:tgtEl>
                                          <p:spTgt spid="15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162"/>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163"/>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64"/>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65"/>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166"/>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67"/>
                                        </p:tgtEl>
                                        <p:attrNameLst>
                                          <p:attrName>style.visibility</p:attrName>
                                        </p:attrNameLst>
                                      </p:cBhvr>
                                      <p:to>
                                        <p:strVal val="visible"/>
                                      </p:to>
                                    </p:se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2" name="组合 17"/>
          <p:cNvGrpSpPr/>
          <p:nvPr/>
        </p:nvGrpSpPr>
        <p:grpSpPr>
          <a:xfrm>
            <a:off x="1129062" y="672460"/>
            <a:ext cx="4203131" cy="712836"/>
            <a:chOff x="716110" y="187653"/>
            <a:chExt cx="4203131" cy="712836"/>
          </a:xfrm>
        </p:grpSpPr>
        <p:sp>
          <p:nvSpPr>
            <p:cNvPr id="203" name="文本框 18"/>
            <p:cNvSpPr txBox="1"/>
            <p:nvPr/>
          </p:nvSpPr>
          <p:spPr>
            <a:xfrm>
              <a:off x="716110" y="187653"/>
              <a:ext cx="4203131" cy="438582"/>
            </a:xfrm>
            <a:prstGeom prst="rect">
              <a:avLst/>
            </a:prstGeom>
            <a:noFill/>
          </p:spPr>
          <p:txBody>
            <a:bodyPr wrap="square" lIns="68580" tIns="34290" rIns="68580" bIns="34290" rtlCol="0">
              <a:spAutoFit/>
            </a:bodyPr>
            <a:lstStyle/>
            <a:p>
              <a:pPr defTabSz="685800"/>
              <a:r>
                <a:rPr lang="en-US" altLang="zh-CN" sz="2400" b="1" dirty="0">
                  <a:latin typeface="微软雅黑"/>
                  <a:ea typeface="微软雅黑"/>
                  <a:cs typeface="+mn-ea"/>
                  <a:sym typeface="+mn-lt"/>
                </a:rPr>
                <a:t>Pretraining</a:t>
              </a:r>
              <a:r>
                <a:rPr lang="zh-CN" altLang="en-US" sz="2400" b="1" dirty="0">
                  <a:latin typeface="微软雅黑"/>
                  <a:ea typeface="微软雅黑"/>
                  <a:cs typeface="+mn-ea"/>
                  <a:sym typeface="+mn-lt"/>
                </a:rPr>
                <a:t> </a:t>
              </a:r>
              <a:r>
                <a:rPr lang="en-US" altLang="zh-CN" sz="2400" b="1" dirty="0">
                  <a:latin typeface="微软雅黑"/>
                  <a:ea typeface="微软雅黑"/>
                  <a:cs typeface="+mn-ea"/>
                  <a:sym typeface="+mn-lt"/>
                </a:rPr>
                <a:t>LLM </a:t>
              </a:r>
              <a:r>
                <a:rPr lang="en-US" altLang="zh-CN" sz="2400" b="1" dirty="0" err="1">
                  <a:latin typeface="微软雅黑"/>
                  <a:ea typeface="微软雅黑"/>
                  <a:cs typeface="+mn-ea"/>
                  <a:sym typeface="+mn-lt"/>
                </a:rPr>
                <a:t>DeBERTa</a:t>
              </a:r>
              <a:endParaRPr lang="zh-CN" altLang="en-US" sz="2400" b="1" dirty="0">
                <a:latin typeface="微软雅黑"/>
                <a:ea typeface="微软雅黑"/>
                <a:cs typeface="+mn-ea"/>
                <a:sym typeface="+mn-lt"/>
              </a:endParaRPr>
            </a:p>
          </p:txBody>
        </p:sp>
        <p:cxnSp>
          <p:nvCxnSpPr>
            <p:cNvPr id="204" name="直接连接符 19"/>
            <p:cNvCxnSpPr/>
            <p:nvPr/>
          </p:nvCxnSpPr>
          <p:spPr>
            <a:xfrm>
              <a:off x="774478" y="900489"/>
              <a:ext cx="683932" cy="0"/>
            </a:xfrm>
            <a:prstGeom prst="line">
              <a:avLst/>
            </a:prstGeom>
            <a:noFill/>
            <a:ln w="9525" cap="flat" cmpd="sng" algn="ctr">
              <a:solidFill>
                <a:schemeClr val="tx1">
                  <a:lumMod val="85000"/>
                  <a:lumOff val="15000"/>
                </a:schemeClr>
              </a:solidFill>
              <a:prstDash val="solid"/>
              <a:miter lim="800000"/>
            </a:ln>
            <a:effectLst/>
          </p:spPr>
        </p:cxnSp>
        <p:sp>
          <p:nvSpPr>
            <p:cNvPr id="205" name="文本框 20"/>
            <p:cNvSpPr txBox="1"/>
            <p:nvPr/>
          </p:nvSpPr>
          <p:spPr>
            <a:xfrm>
              <a:off x="716110" y="553111"/>
              <a:ext cx="2797234" cy="289503"/>
            </a:xfrm>
            <a:prstGeom prst="rect">
              <a:avLst/>
            </a:prstGeom>
            <a:noFill/>
          </p:spPr>
          <p:txBody>
            <a:bodyPr wrap="square" rtlCol="0">
              <a:spAutoFit/>
            </a:bodyPr>
            <a:lstStyle/>
            <a:p>
              <a:pPr>
                <a:lnSpc>
                  <a:spcPct val="130000"/>
                </a:lnSpc>
              </a:pPr>
              <a:r>
                <a:rPr lang="en-US" altLang="zh-CN" sz="1100" dirty="0">
                  <a:latin typeface="Arial" panose="020B0604020202020204" pitchFamily="34" charset="0"/>
                  <a:ea typeface="微软雅黑 Light"/>
                  <a:cs typeface="Arial" panose="020B0604020202020204" pitchFamily="34" charset="0"/>
                  <a:sym typeface="+mn-lt"/>
                </a:rPr>
                <a:t>Meta Feature</a:t>
              </a:r>
              <a:endParaRPr/>
            </a:p>
          </p:txBody>
        </p:sp>
      </p:grpSp>
      <p:pic>
        <p:nvPicPr>
          <p:cNvPr id="206" name="图片 7"/>
          <p:cNvPicPr>
            <a:picLocks noChangeAspect="1"/>
          </p:cNvPicPr>
          <p:nvPr/>
        </p:nvPicPr>
        <p:blipFill>
          <a:blip r:embed="rId3"/>
          <a:stretch>
            <a:fillRect/>
          </a:stretch>
        </p:blipFill>
        <p:spPr>
          <a:xfrm>
            <a:off x="875004" y="2298700"/>
            <a:ext cx="10441991" cy="4044947"/>
          </a:xfrm>
          <a:prstGeom prst="rect">
            <a:avLst/>
          </a:prstGeom>
        </p:spPr>
      </p:pic>
      <p:sp>
        <p:nvSpPr>
          <p:cNvPr id="207" name="文本框 10"/>
          <p:cNvSpPr txBox="1"/>
          <p:nvPr/>
        </p:nvSpPr>
        <p:spPr>
          <a:xfrm>
            <a:off x="1396999" y="1683958"/>
            <a:ext cx="9398000" cy="461665"/>
          </a:xfrm>
          <a:prstGeom prst="rect">
            <a:avLst/>
          </a:prstGeom>
          <a:noFill/>
        </p:spPr>
        <p:txBody>
          <a:bodyPr wrap="square" rtlCol="0">
            <a:spAutoFit/>
          </a:bodyPr>
          <a:lstStyle/>
          <a:p>
            <a:pPr algn="ctr"/>
            <a:r>
              <a:rPr lang="en-US" altLang="zh-CN" sz="2400" dirty="0"/>
              <a:t>Decoding enhanced BERT with disentangled attention</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2"/>
                                        </p:tgtEl>
                                        <p:attrNameLst>
                                          <p:attrName>style.visibility</p:attrName>
                                        </p:attrNameLst>
                                      </p:cBhvr>
                                      <p:to>
                                        <p:strVal val="visible"/>
                                      </p:to>
                                    </p:set>
                                    <p:anim calcmode="lin" valueType="num">
                                      <p:cBhvr additive="base">
                                        <p:cTn id="7" dur="500" fill="hold"/>
                                        <p:tgtEl>
                                          <p:spTgt spid="202"/>
                                        </p:tgtEl>
                                        <p:attrNameLst>
                                          <p:attrName>ppt_x</p:attrName>
                                        </p:attrNameLst>
                                      </p:cBhvr>
                                      <p:tavLst>
                                        <p:tav tm="0">
                                          <p:val>
                                            <p:strVal val="#ppt_x"/>
                                          </p:val>
                                        </p:tav>
                                        <p:tav tm="100000">
                                          <p:val>
                                            <p:strVal val="#ppt_x"/>
                                          </p:val>
                                        </p:tav>
                                      </p:tavLst>
                                    </p:anim>
                                    <p:anim calcmode="lin" valueType="num">
                                      <p:cBhvr additive="base">
                                        <p:cTn id="8" dur="500" fill="hold"/>
                                        <p:tgtEl>
                                          <p:spTgt spid="20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7"/>
                                        </p:tgtEl>
                                        <p:attrNameLst>
                                          <p:attrName>style.visibility</p:attrName>
                                        </p:attrNameLst>
                                      </p:cBhvr>
                                      <p:to>
                                        <p:strVal val="visible"/>
                                      </p:to>
                                    </p:se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9" name="组合 17"/>
          <p:cNvGrpSpPr/>
          <p:nvPr/>
        </p:nvGrpSpPr>
        <p:grpSpPr>
          <a:xfrm>
            <a:off x="1129062" y="672460"/>
            <a:ext cx="7989538" cy="807913"/>
            <a:chOff x="716110" y="187653"/>
            <a:chExt cx="5919438" cy="807913"/>
          </a:xfrm>
        </p:grpSpPr>
        <p:sp>
          <p:nvSpPr>
            <p:cNvPr id="210" name="文本框 18"/>
            <p:cNvSpPr txBox="1"/>
            <p:nvPr/>
          </p:nvSpPr>
          <p:spPr>
            <a:xfrm>
              <a:off x="716110" y="187653"/>
              <a:ext cx="5919438" cy="807913"/>
            </a:xfrm>
            <a:prstGeom prst="rect">
              <a:avLst/>
            </a:prstGeom>
            <a:noFill/>
          </p:spPr>
          <p:txBody>
            <a:bodyPr wrap="square" lIns="68580" tIns="34290" rIns="68580" bIns="34290" rtlCol="0">
              <a:spAutoFit/>
            </a:bodyPr>
            <a:lstStyle/>
            <a:p>
              <a:pPr defTabSz="685800"/>
              <a:r>
                <a:rPr lang="en-US" altLang="zh-CN" sz="2400" b="1" dirty="0">
                  <a:latin typeface="微软雅黑"/>
                  <a:ea typeface="微软雅黑"/>
                  <a:cs typeface="+mn-ea"/>
                  <a:sym typeface="+mn-lt"/>
                </a:rPr>
                <a:t>Linguistic and Psychological Feature Embeddings</a:t>
              </a:r>
              <a:endParaRPr lang="zh-CN" altLang="en-US" sz="2400" b="1" dirty="0">
                <a:latin typeface="微软雅黑"/>
                <a:ea typeface="微软雅黑"/>
                <a:cs typeface="+mn-ea"/>
                <a:sym typeface="+mn-lt"/>
              </a:endParaRPr>
            </a:p>
          </p:txBody>
        </p:sp>
        <p:cxnSp>
          <p:nvCxnSpPr>
            <p:cNvPr id="211" name="直接连接符 19"/>
            <p:cNvCxnSpPr/>
            <p:nvPr/>
          </p:nvCxnSpPr>
          <p:spPr>
            <a:xfrm>
              <a:off x="774478" y="900489"/>
              <a:ext cx="683932" cy="0"/>
            </a:xfrm>
            <a:prstGeom prst="line">
              <a:avLst/>
            </a:prstGeom>
            <a:noFill/>
            <a:ln w="9525" cap="flat" cmpd="sng" algn="ctr">
              <a:solidFill>
                <a:schemeClr val="tx1">
                  <a:lumMod val="85000"/>
                  <a:lumOff val="15000"/>
                </a:schemeClr>
              </a:solidFill>
              <a:prstDash val="solid"/>
              <a:miter lim="800000"/>
            </a:ln>
            <a:effectLst/>
          </p:spPr>
        </p:cxnSp>
        <p:sp>
          <p:nvSpPr>
            <p:cNvPr id="212" name="文本框 20"/>
            <p:cNvSpPr txBox="1"/>
            <p:nvPr/>
          </p:nvSpPr>
          <p:spPr>
            <a:xfrm>
              <a:off x="716110" y="553111"/>
              <a:ext cx="2797234" cy="289503"/>
            </a:xfrm>
            <a:prstGeom prst="rect">
              <a:avLst/>
            </a:prstGeom>
            <a:noFill/>
          </p:spPr>
          <p:txBody>
            <a:bodyPr wrap="square" rtlCol="0">
              <a:spAutoFit/>
            </a:bodyPr>
            <a:lstStyle/>
            <a:p>
              <a:pPr>
                <a:lnSpc>
                  <a:spcPct val="130000"/>
                </a:lnSpc>
              </a:pPr>
              <a:r>
                <a:rPr lang="en-US" altLang="zh-CN" sz="1100" dirty="0">
                  <a:latin typeface="Arial" panose="020B0604020202020204" pitchFamily="34" charset="0"/>
                  <a:ea typeface="微软雅黑 Light"/>
                  <a:cs typeface="Arial" panose="020B0604020202020204" pitchFamily="34" charset="0"/>
                  <a:sym typeface="+mn-lt"/>
                </a:rPr>
                <a:t>Other Features</a:t>
              </a:r>
              <a:endParaRPr/>
            </a:p>
          </p:txBody>
        </p:sp>
      </p:grpSp>
      <p:sp>
        <p:nvSpPr>
          <p:cNvPr id="213" name="文本框 2"/>
          <p:cNvSpPr txBox="1"/>
          <p:nvPr/>
        </p:nvSpPr>
        <p:spPr>
          <a:xfrm>
            <a:off x="1129062" y="1957165"/>
            <a:ext cx="3887438" cy="3862917"/>
          </a:xfrm>
          <a:prstGeom prst="rect">
            <a:avLst/>
          </a:prstGeom>
          <a:noFill/>
        </p:spPr>
        <p:txBody>
          <a:bodyPr wrap="square">
            <a:spAutoFit/>
          </a:bodyPr>
          <a:lstStyle/>
          <a:p>
            <a:pPr lvl="0">
              <a:lnSpc>
                <a:spcPct val="114000"/>
              </a:lnSpc>
            </a:pPr>
            <a:r>
              <a:rPr lang="en-US" altLang="zh-CN" sz="1800" dirty="0" err="1">
                <a:solidFill>
                  <a:srgbClr val="212529"/>
                </a:solidFill>
                <a:effectLst/>
                <a:highlight>
                  <a:srgbClr val="FFFFFF"/>
                </a:highlight>
                <a:latin typeface="Times New Roman" panose="02020603050405020304" pitchFamily="18" charset="0"/>
                <a:ea typeface="等线" panose="02010600030101010101" pitchFamily="2" charset="-122"/>
                <a:cs typeface="Times New Roman" panose="02020603050405020304" pitchFamily="18" charset="0"/>
              </a:rPr>
              <a:t>Tirthankar</a:t>
            </a:r>
            <a:r>
              <a:rPr lang="en-US" altLang="zh-CN" sz="1800" dirty="0">
                <a:solidFill>
                  <a:srgbClr val="212529"/>
                </a:solidFill>
                <a:effectLst/>
                <a:highlight>
                  <a:srgbClr val="FFFFFF"/>
                </a:highlight>
                <a:latin typeface="Times New Roman" panose="02020603050405020304" pitchFamily="18" charset="0"/>
                <a:ea typeface="等线" panose="02010600030101010101" pitchFamily="2" charset="-122"/>
                <a:cs typeface="Times New Roman" panose="02020603050405020304" pitchFamily="18" charset="0"/>
              </a:rPr>
              <a:t> Dasgupta, </a:t>
            </a:r>
            <a:r>
              <a:rPr lang="en-US" altLang="zh-CN" sz="1800" dirty="0" err="1">
                <a:solidFill>
                  <a:srgbClr val="212529"/>
                </a:solidFill>
                <a:effectLst/>
                <a:highlight>
                  <a:srgbClr val="FFFFFF"/>
                </a:highlight>
                <a:latin typeface="Times New Roman" panose="02020603050405020304" pitchFamily="18" charset="0"/>
                <a:ea typeface="等线" panose="02010600030101010101" pitchFamily="2" charset="-122"/>
                <a:cs typeface="Times New Roman" panose="02020603050405020304" pitchFamily="18" charset="0"/>
              </a:rPr>
              <a:t>Abir</a:t>
            </a:r>
            <a:r>
              <a:rPr lang="en-US" altLang="zh-CN" sz="1800" dirty="0">
                <a:solidFill>
                  <a:srgbClr val="212529"/>
                </a:solidFill>
                <a:effectLst/>
                <a:highlight>
                  <a:srgbClr val="FFFFFF"/>
                </a:highlight>
                <a:latin typeface="Times New Roman" panose="02020603050405020304" pitchFamily="18" charset="0"/>
                <a:ea typeface="等线" panose="02010600030101010101" pitchFamily="2" charset="-122"/>
                <a:cs typeface="Times New Roman" panose="02020603050405020304" pitchFamily="18" charset="0"/>
              </a:rPr>
              <a:t> </a:t>
            </a:r>
            <a:r>
              <a:rPr lang="en-US" altLang="zh-CN" sz="1800" dirty="0" err="1">
                <a:solidFill>
                  <a:srgbClr val="212529"/>
                </a:solidFill>
                <a:effectLst/>
                <a:highlight>
                  <a:srgbClr val="FFFFFF"/>
                </a:highlight>
                <a:latin typeface="Times New Roman" panose="02020603050405020304" pitchFamily="18" charset="0"/>
                <a:ea typeface="等线" panose="02010600030101010101" pitchFamily="2" charset="-122"/>
                <a:cs typeface="Times New Roman" panose="02020603050405020304" pitchFamily="18" charset="0"/>
              </a:rPr>
              <a:t>Naskar</a:t>
            </a:r>
            <a:r>
              <a:rPr lang="en-US" altLang="zh-CN" sz="1800" dirty="0">
                <a:solidFill>
                  <a:srgbClr val="212529"/>
                </a:solidFill>
                <a:effectLst/>
                <a:highlight>
                  <a:srgbClr val="FFFFFF"/>
                </a:highlight>
                <a:latin typeface="Times New Roman" panose="02020603050405020304" pitchFamily="18" charset="0"/>
                <a:ea typeface="等线" panose="02010600030101010101" pitchFamily="2" charset="-122"/>
                <a:cs typeface="Times New Roman" panose="02020603050405020304" pitchFamily="18" charset="0"/>
              </a:rPr>
              <a:t>, </a:t>
            </a:r>
            <a:r>
              <a:rPr lang="en-US" altLang="zh-CN" sz="1800" dirty="0" err="1">
                <a:solidFill>
                  <a:srgbClr val="212529"/>
                </a:solidFill>
                <a:effectLst/>
                <a:highlight>
                  <a:srgbClr val="FFFFFF"/>
                </a:highlight>
                <a:latin typeface="Times New Roman" panose="02020603050405020304" pitchFamily="18" charset="0"/>
                <a:ea typeface="等线" panose="02010600030101010101" pitchFamily="2" charset="-122"/>
                <a:cs typeface="Times New Roman" panose="02020603050405020304" pitchFamily="18" charset="0"/>
              </a:rPr>
              <a:t>Lipika</a:t>
            </a:r>
            <a:r>
              <a:rPr lang="en-US" altLang="zh-CN" sz="1800" dirty="0">
                <a:solidFill>
                  <a:srgbClr val="212529"/>
                </a:solidFill>
                <a:effectLst/>
                <a:highlight>
                  <a:srgbClr val="FFFFFF"/>
                </a:highlight>
                <a:latin typeface="Times New Roman" panose="02020603050405020304" pitchFamily="18" charset="0"/>
                <a:ea typeface="等线" panose="02010600030101010101" pitchFamily="2" charset="-122"/>
                <a:cs typeface="Times New Roman" panose="02020603050405020304" pitchFamily="18" charset="0"/>
              </a:rPr>
              <a:t> Dey, and </a:t>
            </a:r>
            <a:r>
              <a:rPr lang="en-US" altLang="zh-CN" sz="1800" dirty="0" err="1">
                <a:solidFill>
                  <a:srgbClr val="212529"/>
                </a:solidFill>
                <a:effectLst/>
                <a:highlight>
                  <a:srgbClr val="FFFFFF"/>
                </a:highlight>
                <a:latin typeface="Times New Roman" panose="02020603050405020304" pitchFamily="18" charset="0"/>
                <a:ea typeface="等线" panose="02010600030101010101" pitchFamily="2" charset="-122"/>
                <a:cs typeface="Times New Roman" panose="02020603050405020304" pitchFamily="18" charset="0"/>
              </a:rPr>
              <a:t>Rupsa</a:t>
            </a:r>
            <a:r>
              <a:rPr lang="en-US" altLang="zh-CN" sz="1800" dirty="0">
                <a:solidFill>
                  <a:srgbClr val="212529"/>
                </a:solidFill>
                <a:effectLst/>
                <a:highlight>
                  <a:srgbClr val="FFFFFF"/>
                </a:highlight>
                <a:latin typeface="Times New Roman" panose="02020603050405020304" pitchFamily="18" charset="0"/>
                <a:ea typeface="等线" panose="02010600030101010101" pitchFamily="2" charset="-122"/>
                <a:cs typeface="Times New Roman" panose="02020603050405020304" pitchFamily="18" charset="0"/>
              </a:rPr>
              <a:t> Saha. 2018. </a:t>
            </a:r>
            <a:r>
              <a:rPr lang="en-US" altLang="zh-CN" sz="1800" dirty="0">
                <a:solidFill>
                  <a:srgbClr val="000000"/>
                </a:solidFill>
                <a:effectLst/>
                <a:highlight>
                  <a:srgbClr val="FFFFFF"/>
                </a:highlight>
                <a:latin typeface="Times New Roman" panose="02020603050405020304" pitchFamily="18" charset="0"/>
                <a:ea typeface="等线" panose="02010600030101010101" pitchFamily="2" charset="-122"/>
                <a:cs typeface="Times New Roman" panose="02020603050405020304" pitchFamily="18" charset="0"/>
              </a:rPr>
              <a:t>Augmenting Textual Qualitative Features in Deep Convolution Recurrent Neural Network for Automatic Essay Scoring</a:t>
            </a:r>
            <a:r>
              <a:rPr lang="en-US" altLang="zh-CN" sz="1800" dirty="0">
                <a:solidFill>
                  <a:srgbClr val="212529"/>
                </a:solidFill>
                <a:effectLst/>
                <a:highlight>
                  <a:srgbClr val="FFFFFF"/>
                </a:highlight>
                <a:latin typeface="Times New Roman" panose="02020603050405020304" pitchFamily="18" charset="0"/>
                <a:ea typeface="等线" panose="02010600030101010101" pitchFamily="2" charset="-122"/>
                <a:cs typeface="Times New Roman" panose="02020603050405020304" pitchFamily="18" charset="0"/>
              </a:rPr>
              <a:t>. In </a:t>
            </a:r>
            <a:r>
              <a:rPr lang="en-US" altLang="zh-CN" sz="1800" i="1" dirty="0">
                <a:solidFill>
                  <a:srgbClr val="212529"/>
                </a:solidFill>
                <a:effectLst/>
                <a:highlight>
                  <a:srgbClr val="FFFFFF"/>
                </a:highlight>
                <a:latin typeface="Times New Roman" panose="02020603050405020304" pitchFamily="18" charset="0"/>
                <a:ea typeface="等线" panose="02010600030101010101" pitchFamily="2" charset="-122"/>
                <a:cs typeface="Times New Roman" panose="02020603050405020304" pitchFamily="18" charset="0"/>
              </a:rPr>
              <a:t>Proceedings of the 5th Workshop on Natural Language Processing Techniques for Educational Applications</a:t>
            </a:r>
            <a:r>
              <a:rPr lang="en-US" altLang="zh-CN" sz="1800" dirty="0">
                <a:solidFill>
                  <a:srgbClr val="212529"/>
                </a:solidFill>
                <a:effectLst/>
                <a:highlight>
                  <a:srgbClr val="FFFFFF"/>
                </a:highlight>
                <a:latin typeface="Times New Roman" panose="02020603050405020304" pitchFamily="18" charset="0"/>
                <a:ea typeface="等线" panose="02010600030101010101" pitchFamily="2" charset="-122"/>
                <a:cs typeface="Times New Roman" panose="02020603050405020304" pitchFamily="18" charset="0"/>
              </a:rPr>
              <a:t>, pages 93–102, Melbourne, Australia. Association for Computational Linguistics.</a:t>
            </a:r>
            <a:endParaRPr lang="zh-CN" altLang="zh-CN" sz="32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214" name="图片 4"/>
          <p:cNvPicPr>
            <a:picLocks noChangeAspect="1"/>
          </p:cNvPicPr>
          <p:nvPr/>
        </p:nvPicPr>
        <p:blipFill>
          <a:blip r:embed="rId3"/>
          <a:stretch>
            <a:fillRect/>
          </a:stretch>
        </p:blipFill>
        <p:spPr>
          <a:xfrm>
            <a:off x="5713303" y="1757494"/>
            <a:ext cx="5349635" cy="426225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9"/>
                                        </p:tgtEl>
                                        <p:attrNameLst>
                                          <p:attrName>style.visibility</p:attrName>
                                        </p:attrNameLst>
                                      </p:cBhvr>
                                      <p:to>
                                        <p:strVal val="visible"/>
                                      </p:to>
                                    </p:set>
                                    <p:anim calcmode="lin" valueType="num">
                                      <p:cBhvr additive="base">
                                        <p:cTn id="7" dur="500" fill="hold"/>
                                        <p:tgtEl>
                                          <p:spTgt spid="209"/>
                                        </p:tgtEl>
                                        <p:attrNameLst>
                                          <p:attrName>ppt_x</p:attrName>
                                        </p:attrNameLst>
                                      </p:cBhvr>
                                      <p:tavLst>
                                        <p:tav tm="0">
                                          <p:val>
                                            <p:strVal val="#ppt_x"/>
                                          </p:val>
                                        </p:tav>
                                        <p:tav tm="100000">
                                          <p:val>
                                            <p:strVal val="#ppt_x"/>
                                          </p:val>
                                        </p:tav>
                                      </p:tavLst>
                                    </p:anim>
                                    <p:anim calcmode="lin" valueType="num">
                                      <p:cBhvr additive="base">
                                        <p:cTn id="8" dur="500" fill="hold"/>
                                        <p:tgtEl>
                                          <p:spTgt spid="20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4"/>
                                        </p:tgtEl>
                                        <p:attrNameLst>
                                          <p:attrName>style.visibility</p:attrName>
                                        </p:attrNameLst>
                                      </p:cBhvr>
                                      <p:to>
                                        <p:strVal val="visible"/>
                                      </p:to>
                                    </p:se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6" name="图片 3"/>
          <p:cNvPicPr>
            <a:picLocks noChangeAspect="1"/>
          </p:cNvPicPr>
          <p:nvPr/>
        </p:nvPicPr>
        <p:blipFill>
          <a:blip r:embed="rId3"/>
          <a:stretch>
            <a:fillRect/>
          </a:stretch>
        </p:blipFill>
        <p:spPr>
          <a:xfrm>
            <a:off x="0" y="0"/>
            <a:ext cx="12192000" cy="6858000"/>
          </a:xfrm>
          <a:prstGeom prst="rect">
            <a:avLst/>
          </a:prstGeom>
        </p:spPr>
      </p:pic>
      <p:grpSp>
        <p:nvGrpSpPr>
          <p:cNvPr id="217" name="组合 6"/>
          <p:cNvGrpSpPr/>
          <p:nvPr/>
        </p:nvGrpSpPr>
        <p:grpSpPr>
          <a:xfrm>
            <a:off x="4628148" y="3429248"/>
            <a:ext cx="2935705" cy="1541774"/>
            <a:chOff x="4615322" y="2848154"/>
            <a:chExt cx="2935705" cy="1541774"/>
          </a:xfrm>
        </p:grpSpPr>
        <p:sp>
          <p:nvSpPr>
            <p:cNvPr id="218" name="文本框 7"/>
            <p:cNvSpPr txBox="1"/>
            <p:nvPr/>
          </p:nvSpPr>
          <p:spPr>
            <a:xfrm>
              <a:off x="4711430" y="3128044"/>
              <a:ext cx="2569613" cy="1261884"/>
            </a:xfrm>
            <a:prstGeom prst="rect">
              <a:avLst/>
            </a:prstGeom>
            <a:noFill/>
          </p:spPr>
          <p:txBody>
            <a:bodyPr wrap="none" rtlCol="0">
              <a:spAutoFit/>
            </a:bodyPr>
            <a:lstStyle/>
            <a:p>
              <a:pPr algn="ctr"/>
              <a:r>
                <a:rPr lang="en-US" altLang="zh-CN" sz="4000" dirty="0"/>
                <a:t>Future Plan</a:t>
              </a:r>
              <a:endParaRPr/>
            </a:p>
            <a:p>
              <a:pPr algn="ctr"/>
              <a:endParaRPr lang="zh-CN" altLang="en-US" sz="3600" dirty="0">
                <a:latin typeface="思源黑体 CN Heavy" panose="020B0A00000000000000" pitchFamily="34" charset="-122"/>
                <a:ea typeface="思源黑体 CN Heavy" panose="020B0A00000000000000" pitchFamily="34" charset="-122"/>
              </a:endParaRPr>
            </a:p>
          </p:txBody>
        </p:sp>
        <p:cxnSp>
          <p:nvCxnSpPr>
            <p:cNvPr id="219" name="直接连接符 9"/>
            <p:cNvCxnSpPr/>
            <p:nvPr/>
          </p:nvCxnSpPr>
          <p:spPr>
            <a:xfrm>
              <a:off x="4615322" y="2848154"/>
              <a:ext cx="2935705"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20" name="直接连接符 10"/>
            <p:cNvCxnSpPr/>
            <p:nvPr/>
          </p:nvCxnSpPr>
          <p:spPr>
            <a:xfrm>
              <a:off x="4615322" y="4078820"/>
              <a:ext cx="2935705"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221" name="组合 14"/>
          <p:cNvGrpSpPr>
            <a:grpSpLocks noChangeAspect="1"/>
          </p:cNvGrpSpPr>
          <p:nvPr/>
        </p:nvGrpSpPr>
        <p:grpSpPr>
          <a:xfrm>
            <a:off x="4818595" y="2085375"/>
            <a:ext cx="2554810" cy="1199156"/>
            <a:chOff x="9226008" y="-1169675"/>
            <a:chExt cx="1647803" cy="773433"/>
          </a:xfrm>
          <a:solidFill>
            <a:schemeClr val="tx1">
              <a:lumMod val="85000"/>
              <a:lumOff val="15000"/>
            </a:schemeClr>
          </a:solidFill>
        </p:grpSpPr>
        <p:sp>
          <p:nvSpPr>
            <p:cNvPr id="222" name="任意多边形 15"/>
            <p:cNvSpPr/>
            <p:nvPr/>
          </p:nvSpPr>
          <p:spPr>
            <a:xfrm>
              <a:off x="9226008" y="-1169675"/>
              <a:ext cx="767829" cy="773433"/>
            </a:xfrm>
            <a:custGeom>
              <a:avLst/>
              <a:gdLst/>
              <a:ahLst/>
              <a:cxnLst/>
              <a:rect l="l" t="t" r="r" b="b"/>
              <a:pathLst>
                <a:path w="767829" h="773433">
                  <a:moveTo>
                    <a:pt x="383186" y="0"/>
                  </a:moveTo>
                  <a:cubicBezTo>
                    <a:pt x="499323" y="52"/>
                    <a:pt x="592033" y="46540"/>
                    <a:pt x="661316" y="139464"/>
                  </a:cubicBezTo>
                  <a:cubicBezTo>
                    <a:pt x="730599" y="232388"/>
                    <a:pt x="766103" y="371436"/>
                    <a:pt x="767829" y="556608"/>
                  </a:cubicBezTo>
                  <a:cubicBezTo>
                    <a:pt x="767397" y="603342"/>
                    <a:pt x="764855" y="647227"/>
                    <a:pt x="760201" y="688263"/>
                  </a:cubicBezTo>
                  <a:lnTo>
                    <a:pt x="745113" y="773433"/>
                  </a:lnTo>
                  <a:lnTo>
                    <a:pt x="506019" y="773433"/>
                  </a:lnTo>
                  <a:lnTo>
                    <a:pt x="512259" y="739730"/>
                  </a:lnTo>
                  <a:cubicBezTo>
                    <a:pt x="519317" y="691261"/>
                    <a:pt x="522957" y="630221"/>
                    <a:pt x="523180" y="556608"/>
                  </a:cubicBezTo>
                  <a:cubicBezTo>
                    <a:pt x="522883" y="459043"/>
                    <a:pt x="516510" y="384341"/>
                    <a:pt x="504061" y="332502"/>
                  </a:cubicBezTo>
                  <a:cubicBezTo>
                    <a:pt x="491611" y="280663"/>
                    <a:pt x="474868" y="245264"/>
                    <a:pt x="453831" y="226305"/>
                  </a:cubicBezTo>
                  <a:cubicBezTo>
                    <a:pt x="432794" y="207345"/>
                    <a:pt x="409245" y="198400"/>
                    <a:pt x="383186" y="199471"/>
                  </a:cubicBezTo>
                  <a:cubicBezTo>
                    <a:pt x="357143" y="198400"/>
                    <a:pt x="333721" y="207345"/>
                    <a:pt x="312918" y="226305"/>
                  </a:cubicBezTo>
                  <a:cubicBezTo>
                    <a:pt x="292115" y="245264"/>
                    <a:pt x="275606" y="280663"/>
                    <a:pt x="263391" y="332502"/>
                  </a:cubicBezTo>
                  <a:cubicBezTo>
                    <a:pt x="251175" y="384341"/>
                    <a:pt x="244928" y="459043"/>
                    <a:pt x="244649" y="556608"/>
                  </a:cubicBezTo>
                  <a:cubicBezTo>
                    <a:pt x="244858" y="630221"/>
                    <a:pt x="248425" y="691261"/>
                    <a:pt x="255348" y="739730"/>
                  </a:cubicBezTo>
                  <a:lnTo>
                    <a:pt x="261470" y="773433"/>
                  </a:lnTo>
                  <a:lnTo>
                    <a:pt x="22526" y="773433"/>
                  </a:lnTo>
                  <a:lnTo>
                    <a:pt x="7548" y="688263"/>
                  </a:lnTo>
                  <a:cubicBezTo>
                    <a:pt x="2932" y="647227"/>
                    <a:pt x="416" y="603342"/>
                    <a:pt x="0" y="556608"/>
                  </a:cubicBezTo>
                  <a:cubicBezTo>
                    <a:pt x="1665" y="370162"/>
                    <a:pt x="36926" y="230750"/>
                    <a:pt x="105784" y="138372"/>
                  </a:cubicBezTo>
                  <a:cubicBezTo>
                    <a:pt x="174642" y="45994"/>
                    <a:pt x="267109" y="-130"/>
                    <a:pt x="383186"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prstClr val="white"/>
                </a:solidFill>
              </a:endParaRPr>
            </a:p>
          </p:txBody>
        </p:sp>
        <p:sp>
          <p:nvSpPr>
            <p:cNvPr id="223" name="任意多边形 16"/>
            <p:cNvSpPr/>
            <p:nvPr/>
          </p:nvSpPr>
          <p:spPr>
            <a:xfrm>
              <a:off x="10056434" y="-1149273"/>
              <a:ext cx="817377" cy="753031"/>
            </a:xfrm>
            <a:custGeom>
              <a:avLst/>
              <a:gdLst/>
              <a:ahLst/>
              <a:cxnLst/>
              <a:rect l="l" t="t" r="r" b="b"/>
              <a:pathLst>
                <a:path w="817377" h="753031">
                  <a:moveTo>
                    <a:pt x="377447" y="0"/>
                  </a:moveTo>
                  <a:lnTo>
                    <a:pt x="696419" y="0"/>
                  </a:lnTo>
                  <a:lnTo>
                    <a:pt x="696419" y="616449"/>
                  </a:lnTo>
                  <a:lnTo>
                    <a:pt x="817377" y="616449"/>
                  </a:lnTo>
                  <a:lnTo>
                    <a:pt x="817377" y="753031"/>
                  </a:lnTo>
                  <a:lnTo>
                    <a:pt x="0" y="753031"/>
                  </a:lnTo>
                  <a:lnTo>
                    <a:pt x="0" y="633922"/>
                  </a:lnTo>
                  <a:lnTo>
                    <a:pt x="377447" y="0"/>
                  </a:lnTo>
                  <a:close/>
                  <a:moveTo>
                    <a:pt x="459054" y="216960"/>
                  </a:moveTo>
                  <a:cubicBezTo>
                    <a:pt x="445211" y="247638"/>
                    <a:pt x="431003" y="278499"/>
                    <a:pt x="416430" y="309542"/>
                  </a:cubicBezTo>
                  <a:cubicBezTo>
                    <a:pt x="401858" y="340585"/>
                    <a:pt x="386920" y="371445"/>
                    <a:pt x="371618" y="402124"/>
                  </a:cubicBezTo>
                  <a:lnTo>
                    <a:pt x="247745" y="616449"/>
                  </a:lnTo>
                  <a:lnTo>
                    <a:pt x="454686" y="616449"/>
                  </a:lnTo>
                  <a:lnTo>
                    <a:pt x="454686" y="457528"/>
                  </a:lnTo>
                  <a:cubicBezTo>
                    <a:pt x="454928" y="421807"/>
                    <a:pt x="456263" y="381712"/>
                    <a:pt x="458690" y="337244"/>
                  </a:cubicBezTo>
                  <a:cubicBezTo>
                    <a:pt x="461117" y="292775"/>
                    <a:pt x="463180" y="252680"/>
                    <a:pt x="464879" y="216960"/>
                  </a:cubicBezTo>
                  <a:lnTo>
                    <a:pt x="459054" y="21696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prstClr val="white"/>
                </a:solidFill>
              </a:endParaRPr>
            </a:p>
          </p:txBody>
        </p:sp>
      </p:grpSp>
      <p:pic>
        <p:nvPicPr>
          <p:cNvPr id="224" name="图片 11" descr="图片包含 户外, 标牌  自动生成的说明"/>
          <p:cNvPicPr>
            <a:picLocks noChangeAspect="1"/>
          </p:cNvPicPr>
          <p:nvPr/>
        </p:nvPicPr>
        <p:blipFill rotWithShape="1">
          <a:blip r:embed="rId4" cstate="print">
            <a:duotone>
              <a:schemeClr val="bg2">
                <a:shade val="45000"/>
                <a:satMod val="135000"/>
              </a:schemeClr>
              <a:prstClr val="white"/>
            </a:duotone>
          </a:blip>
          <a:srcRect l="63268" r="-1"/>
          <a:stretch/>
        </p:blipFill>
        <p:spPr>
          <a:xfrm>
            <a:off x="0" y="0"/>
            <a:ext cx="2514644" cy="6833630"/>
          </a:xfrm>
          <a:prstGeom prst="rect">
            <a:avLst/>
          </a:prstGeom>
        </p:spPr>
      </p:pic>
      <p:pic>
        <p:nvPicPr>
          <p:cNvPr id="225" name="图片 12" descr="图片包含 户外, 标牌  自动生成的说明"/>
          <p:cNvPicPr>
            <a:picLocks noChangeAspect="1"/>
          </p:cNvPicPr>
          <p:nvPr/>
        </p:nvPicPr>
        <p:blipFill rotWithShape="1">
          <a:blip r:embed="rId4" cstate="print">
            <a:duotone>
              <a:schemeClr val="bg2">
                <a:shade val="45000"/>
                <a:satMod val="135000"/>
              </a:schemeClr>
              <a:prstClr val="white"/>
            </a:duotone>
          </a:blip>
          <a:srcRect r="61722"/>
          <a:stretch/>
        </p:blipFill>
        <p:spPr>
          <a:xfrm>
            <a:off x="9571538" y="12185"/>
            <a:ext cx="2620462" cy="68336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1"/>
                                        </p:tgtEl>
                                        <p:attrNameLst>
                                          <p:attrName>style.visibility</p:attrName>
                                        </p:attrNameLst>
                                      </p:cBhvr>
                                      <p:to>
                                        <p:strVal val="visible"/>
                                      </p:to>
                                    </p:set>
                                    <p:anim calcmode="lin" valueType="num">
                                      <p:cBhvr additive="base">
                                        <p:cTn id="7" dur="500" fill="hold"/>
                                        <p:tgtEl>
                                          <p:spTgt spid="221"/>
                                        </p:tgtEl>
                                        <p:attrNameLst>
                                          <p:attrName>ppt_x</p:attrName>
                                        </p:attrNameLst>
                                      </p:cBhvr>
                                      <p:tavLst>
                                        <p:tav tm="0">
                                          <p:val>
                                            <p:strVal val="#ppt_x"/>
                                          </p:val>
                                        </p:tav>
                                        <p:tav tm="100000">
                                          <p:val>
                                            <p:strVal val="#ppt_x"/>
                                          </p:val>
                                        </p:tav>
                                      </p:tavLst>
                                    </p:anim>
                                    <p:anim calcmode="lin" valueType="num">
                                      <p:cBhvr additive="base">
                                        <p:cTn id="8" dur="500" fill="hold"/>
                                        <p:tgtEl>
                                          <p:spTgt spid="22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7"/>
                                        </p:tgtEl>
                                        <p:attrNameLst>
                                          <p:attrName>style.visibility</p:attrName>
                                        </p:attrNameLst>
                                      </p:cBhvr>
                                      <p:to>
                                        <p:strVal val="visible"/>
                                      </p:to>
                                    </p:set>
                                    <p:anim calcmode="lin" valueType="num">
                                      <p:cBhvr additive="base">
                                        <p:cTn id="13" dur="500" fill="hold"/>
                                        <p:tgtEl>
                                          <p:spTgt spid="217"/>
                                        </p:tgtEl>
                                        <p:attrNameLst>
                                          <p:attrName>ppt_x</p:attrName>
                                        </p:attrNameLst>
                                      </p:cBhvr>
                                      <p:tavLst>
                                        <p:tav tm="0">
                                          <p:val>
                                            <p:strVal val="#ppt_x"/>
                                          </p:val>
                                        </p:tav>
                                        <p:tav tm="100000">
                                          <p:val>
                                            <p:strVal val="#ppt_x"/>
                                          </p:val>
                                        </p:tav>
                                      </p:tavLst>
                                    </p:anim>
                                    <p:anim calcmode="lin" valueType="num">
                                      <p:cBhvr additive="base">
                                        <p:cTn id="14" dur="500" fill="hold"/>
                                        <p:tgtEl>
                                          <p:spTgt spid="2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7" name="组合 17"/>
          <p:cNvGrpSpPr/>
          <p:nvPr/>
        </p:nvGrpSpPr>
        <p:grpSpPr>
          <a:xfrm>
            <a:off x="1129062" y="672460"/>
            <a:ext cx="4203131" cy="712836"/>
            <a:chOff x="716110" y="187653"/>
            <a:chExt cx="4203131" cy="712836"/>
          </a:xfrm>
        </p:grpSpPr>
        <p:sp>
          <p:nvSpPr>
            <p:cNvPr id="228" name="文本框 18"/>
            <p:cNvSpPr txBox="1"/>
            <p:nvPr/>
          </p:nvSpPr>
          <p:spPr>
            <a:xfrm>
              <a:off x="716110" y="187653"/>
              <a:ext cx="4203131" cy="438582"/>
            </a:xfrm>
            <a:prstGeom prst="rect">
              <a:avLst/>
            </a:prstGeom>
            <a:noFill/>
          </p:spPr>
          <p:txBody>
            <a:bodyPr wrap="square" lIns="68580" tIns="34290" rIns="68580" bIns="34290" rtlCol="0">
              <a:spAutoFit/>
            </a:bodyPr>
            <a:lstStyle/>
            <a:p>
              <a:pPr defTabSz="685800"/>
              <a:r>
                <a:rPr lang="en-US" altLang="zh-CN" sz="2400" b="1" dirty="0">
                  <a:latin typeface="微软雅黑"/>
                  <a:ea typeface="微软雅黑"/>
                  <a:cs typeface="+mn-ea"/>
                  <a:sym typeface="+mn-lt"/>
                </a:rPr>
                <a:t>Future Plan</a:t>
              </a:r>
              <a:endParaRPr lang="zh-CN" altLang="en-US" sz="2400" b="1" dirty="0">
                <a:latin typeface="微软雅黑"/>
                <a:ea typeface="微软雅黑"/>
                <a:cs typeface="+mn-ea"/>
                <a:sym typeface="+mn-lt"/>
              </a:endParaRPr>
            </a:p>
          </p:txBody>
        </p:sp>
        <p:cxnSp>
          <p:nvCxnSpPr>
            <p:cNvPr id="229" name="直接连接符 19"/>
            <p:cNvCxnSpPr/>
            <p:nvPr/>
          </p:nvCxnSpPr>
          <p:spPr>
            <a:xfrm>
              <a:off x="774478" y="900489"/>
              <a:ext cx="683932" cy="0"/>
            </a:xfrm>
            <a:prstGeom prst="line">
              <a:avLst/>
            </a:prstGeom>
            <a:noFill/>
            <a:ln w="9525" cap="flat" cmpd="sng" algn="ctr">
              <a:solidFill>
                <a:schemeClr val="tx1">
                  <a:lumMod val="85000"/>
                  <a:lumOff val="15000"/>
                </a:schemeClr>
              </a:solidFill>
              <a:prstDash val="solid"/>
              <a:miter lim="800000"/>
            </a:ln>
            <a:effectLst/>
          </p:spPr>
        </p:cxnSp>
        <p:sp>
          <p:nvSpPr>
            <p:cNvPr id="230" name="文本框 20"/>
            <p:cNvSpPr txBox="1"/>
            <p:nvPr/>
          </p:nvSpPr>
          <p:spPr>
            <a:xfrm>
              <a:off x="716110" y="553111"/>
              <a:ext cx="2797234" cy="289503"/>
            </a:xfrm>
            <a:prstGeom prst="rect">
              <a:avLst/>
            </a:prstGeom>
            <a:noFill/>
          </p:spPr>
          <p:txBody>
            <a:bodyPr wrap="square" rtlCol="0">
              <a:spAutoFit/>
            </a:bodyPr>
            <a:lstStyle/>
            <a:p>
              <a:pPr>
                <a:lnSpc>
                  <a:spcPct val="130000"/>
                </a:lnSpc>
              </a:pPr>
              <a:r>
                <a:rPr lang="en-US" altLang="zh-CN" sz="1100" dirty="0">
                  <a:latin typeface="Arial" panose="020B0604020202020204" pitchFamily="34" charset="0"/>
                  <a:ea typeface="微软雅黑 Light"/>
                  <a:cs typeface="Arial" panose="020B0604020202020204" pitchFamily="34" charset="0"/>
                  <a:sym typeface="+mn-lt"/>
                </a:rPr>
                <a:t>Brainstorming…</a:t>
              </a:r>
              <a:endParaRPr/>
            </a:p>
          </p:txBody>
        </p:sp>
      </p:grpSp>
      <p:sp>
        <p:nvSpPr>
          <p:cNvPr id="231" name="内容占位符 2"/>
          <p:cNvSpPr txBox="1"/>
          <p:nvPr/>
        </p:nvSpPr>
        <p:spPr>
          <a:xfrm>
            <a:off x="847725" y="1476500"/>
            <a:ext cx="11064875" cy="550823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1800" dirty="0">
                <a:latin typeface="Times New Roman" panose="02020603050405020304" pitchFamily="18" charset="0"/>
                <a:cs typeface="Times New Roman" panose="02020603050405020304" pitchFamily="18" charset="0"/>
              </a:rPr>
              <a:t>Try other open-source LLMs.</a:t>
            </a:r>
            <a:endParaRPr/>
          </a:p>
          <a:p>
            <a:pPr>
              <a:lnSpc>
                <a:spcPct val="150000"/>
              </a:lnSpc>
            </a:pPr>
            <a:r>
              <a:rPr lang="en-US" altLang="zh-CN" sz="1800" dirty="0">
                <a:latin typeface="Times New Roman" panose="02020603050405020304" pitchFamily="18" charset="0"/>
                <a:cs typeface="Times New Roman" panose="02020603050405020304" pitchFamily="18" charset="0"/>
              </a:rPr>
              <a:t>Try  different classifiers.</a:t>
            </a:r>
            <a:endParaRPr/>
          </a:p>
          <a:p>
            <a:pPr>
              <a:lnSpc>
                <a:spcPct val="150000"/>
              </a:lnSpc>
            </a:pPr>
            <a:r>
              <a:rPr lang="en-US" altLang="zh-CN" sz="1800" dirty="0">
                <a:latin typeface="Times New Roman" panose="02020603050405020304" pitchFamily="18" charset="0"/>
                <a:cs typeface="Times New Roman" panose="02020603050405020304" pitchFamily="18" charset="0"/>
              </a:rPr>
              <a:t>Implementing data augmentation by fine-tuning pretrained LLM.</a:t>
            </a:r>
            <a:endParaRPr/>
          </a:p>
          <a:p>
            <a:pPr marL="0" indent="0">
              <a:lnSpc>
                <a:spcPct val="150000"/>
              </a:lnSpc>
              <a:buNone/>
            </a:pPr>
            <a:r>
              <a:rPr lang="en-US" altLang="zh-CN" sz="1800" dirty="0">
                <a:latin typeface="Times New Roman" panose="02020603050405020304" pitchFamily="18" charset="0"/>
                <a:cs typeface="Times New Roman" panose="02020603050405020304" pitchFamily="18" charset="0"/>
              </a:rPr>
              <a:t>    Some promising methods:</a:t>
            </a:r>
            <a:endParaRPr/>
          </a:p>
          <a:p>
            <a:pPr marL="0" indent="0">
              <a:lnSpc>
                <a:spcPct val="150000"/>
              </a:lnSpc>
              <a:buNone/>
            </a:pPr>
            <a:r>
              <a:rPr lang="en-US" altLang="zh-CN" sz="1800" dirty="0">
                <a:latin typeface="Times New Roman" panose="02020603050405020304" pitchFamily="18" charset="0"/>
                <a:cs typeface="Times New Roman" panose="02020603050405020304" pitchFamily="18" charset="0"/>
              </a:rPr>
              <a:t>	1. </a:t>
            </a:r>
            <a:r>
              <a:rPr lang="en-US" altLang="zh-CN" sz="1800" dirty="0" err="1">
                <a:latin typeface="Times New Roman" panose="02020603050405020304" pitchFamily="18" charset="0"/>
                <a:cs typeface="Times New Roman" panose="02020603050405020304" pitchFamily="18" charset="0"/>
              </a:rPr>
              <a:t>LoRA</a:t>
            </a:r>
            <a:endParaRPr lang="en-US" altLang="zh-CN" sz="1800" dirty="0">
              <a:latin typeface="Times New Roman" panose="02020603050405020304" pitchFamily="18" charset="0"/>
              <a:cs typeface="Times New Roman" panose="02020603050405020304" pitchFamily="18" charset="0"/>
            </a:endParaRPr>
          </a:p>
          <a:p>
            <a:pPr marL="0" indent="0">
              <a:lnSpc>
                <a:spcPct val="150000"/>
              </a:lnSpc>
              <a:buNone/>
            </a:pPr>
            <a:r>
              <a:rPr lang="en-US" altLang="zh-CN" sz="1800" dirty="0">
                <a:latin typeface="Times New Roman" panose="02020603050405020304" pitchFamily="18" charset="0"/>
                <a:cs typeface="Times New Roman" panose="02020603050405020304" pitchFamily="18" charset="0"/>
              </a:rPr>
              <a:t>	2. Fine-tuning LLM by only guiding </a:t>
            </a:r>
            <a:endParaRPr/>
          </a:p>
          <a:p>
            <a:pPr marL="0" indent="0">
              <a:lnSpc>
                <a:spcPct val="150000"/>
              </a:lnSpc>
              <a:buNone/>
            </a:pPr>
            <a:r>
              <a:rPr lang="en-US" altLang="zh-CN" sz="1800" dirty="0">
                <a:latin typeface="Times New Roman" panose="02020603050405020304" pitchFamily="18" charset="0"/>
                <a:cs typeface="Times New Roman" panose="02020603050405020304" pitchFamily="18" charset="0"/>
              </a:rPr>
              <a:t>	    logits in the direction of tuning.</a:t>
            </a:r>
            <a:endParaRPr/>
          </a:p>
          <a:p>
            <a:pPr marL="0" indent="0">
              <a:lnSpc>
                <a:spcPct val="150000"/>
              </a:lnSpc>
              <a:buNone/>
            </a:pPr>
            <a:r>
              <a:rPr lang="en-US" altLang="zh-CN" sz="1800" dirty="0">
                <a:latin typeface="Times New Roman" panose="02020603050405020304" pitchFamily="18" charset="0"/>
                <a:cs typeface="Times New Roman" panose="02020603050405020304" pitchFamily="18" charset="0"/>
              </a:rPr>
              <a:t>	    </a:t>
            </a:r>
            <a:r>
              <a:rPr lang="en-US" altLang="zh-CN" sz="1200" dirty="0">
                <a:hlinkClick r:id="rId3"/>
              </a:rPr>
              <a:t>[2401.08565] Tuning Language Models by Proxy (arxiv.org)</a:t>
            </a:r>
            <a:endParaRPr lang="en-US" altLang="zh-CN" sz="1800" dirty="0">
              <a:latin typeface="Times New Roman" panose="02020603050405020304" pitchFamily="18" charset="0"/>
              <a:cs typeface="Times New Roman" panose="02020603050405020304" pitchFamily="18" charset="0"/>
            </a:endParaRPr>
          </a:p>
          <a:p>
            <a:pPr>
              <a:lnSpc>
                <a:spcPct val="150000"/>
              </a:lnSpc>
            </a:pPr>
            <a:endParaRPr lang="en-US" altLang="zh-CN" sz="1800" dirty="0">
              <a:latin typeface="Times New Roman" panose="02020603050405020304" pitchFamily="18" charset="0"/>
              <a:cs typeface="Times New Roman" panose="02020603050405020304" pitchFamily="18" charset="0"/>
            </a:endParaRPr>
          </a:p>
          <a:p>
            <a:endParaRPr lang="en-US" altLang="zh-CN" sz="1800" dirty="0">
              <a:latin typeface="Times New Roman" panose="02020603050405020304" pitchFamily="18" charset="0"/>
              <a:cs typeface="Times New Roman" panose="02020603050405020304" pitchFamily="18" charset="0"/>
            </a:endParaRPr>
          </a:p>
          <a:p>
            <a:endParaRPr lang="zh-CN" altLang="zh-CN" sz="4000" dirty="0">
              <a:latin typeface="Arial" panose="020B0604020202020204" pitchFamily="34" charset="0"/>
            </a:endParaRPr>
          </a:p>
          <a:p>
            <a:endParaRPr lang="zh-CN" altLang="en-US" dirty="0"/>
          </a:p>
        </p:txBody>
      </p:sp>
      <p:pic>
        <p:nvPicPr>
          <p:cNvPr id="232" name="图片 4"/>
          <p:cNvPicPr>
            <a:picLocks noChangeAspect="1"/>
          </p:cNvPicPr>
          <p:nvPr/>
        </p:nvPicPr>
        <p:blipFill>
          <a:blip r:embed="rId4"/>
          <a:stretch>
            <a:fillRect/>
          </a:stretch>
        </p:blipFill>
        <p:spPr>
          <a:xfrm>
            <a:off x="6096000" y="3302996"/>
            <a:ext cx="5060950" cy="248220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7"/>
                                        </p:tgtEl>
                                        <p:attrNameLst>
                                          <p:attrName>style.visibility</p:attrName>
                                        </p:attrNameLst>
                                      </p:cBhvr>
                                      <p:to>
                                        <p:strVal val="visible"/>
                                      </p:to>
                                    </p:set>
                                    <p:anim calcmode="lin" valueType="num">
                                      <p:cBhvr additive="base">
                                        <p:cTn id="7" dur="500" fill="hold"/>
                                        <p:tgtEl>
                                          <p:spTgt spid="227"/>
                                        </p:tgtEl>
                                        <p:attrNameLst>
                                          <p:attrName>ppt_x</p:attrName>
                                        </p:attrNameLst>
                                      </p:cBhvr>
                                      <p:tavLst>
                                        <p:tav tm="0">
                                          <p:val>
                                            <p:strVal val="#ppt_x"/>
                                          </p:val>
                                        </p:tav>
                                        <p:tav tm="100000">
                                          <p:val>
                                            <p:strVal val="#ppt_x"/>
                                          </p:val>
                                        </p:tav>
                                      </p:tavLst>
                                    </p:anim>
                                    <p:anim calcmode="lin" valueType="num">
                                      <p:cBhvr additive="base">
                                        <p:cTn id="8" dur="500" fill="hold"/>
                                        <p:tgtEl>
                                          <p:spTgt spid="2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2"/>
                                        </p:tgtEl>
                                        <p:attrNameLst>
                                          <p:attrName>style.visibility</p:attrName>
                                        </p:attrNameLst>
                                      </p:cBhvr>
                                      <p:to>
                                        <p:strVal val="visible"/>
                                      </p:to>
                                    </p:se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4" name="图片 3"/>
          <p:cNvPicPr>
            <a:picLocks noChangeAspect="1"/>
          </p:cNvPicPr>
          <p:nvPr/>
        </p:nvPicPr>
        <p:blipFill>
          <a:blip r:embed="rId3"/>
          <a:stretch>
            <a:fillRect/>
          </a:stretch>
        </p:blipFill>
        <p:spPr>
          <a:xfrm>
            <a:off x="0" y="0"/>
            <a:ext cx="12192000" cy="6858000"/>
          </a:xfrm>
          <a:prstGeom prst="rect">
            <a:avLst/>
          </a:prstGeom>
        </p:spPr>
      </p:pic>
      <p:grpSp>
        <p:nvGrpSpPr>
          <p:cNvPr id="235" name="组合 4"/>
          <p:cNvGrpSpPr/>
          <p:nvPr/>
        </p:nvGrpSpPr>
        <p:grpSpPr>
          <a:xfrm>
            <a:off x="4277082" y="3429248"/>
            <a:ext cx="3637836" cy="1242424"/>
            <a:chOff x="4474435" y="2848154"/>
            <a:chExt cx="3217484" cy="1242424"/>
          </a:xfrm>
        </p:grpSpPr>
        <p:sp>
          <p:nvSpPr>
            <p:cNvPr id="236" name="文本框 5"/>
            <p:cNvSpPr txBox="1"/>
            <p:nvPr/>
          </p:nvSpPr>
          <p:spPr>
            <a:xfrm>
              <a:off x="4474435" y="2925223"/>
              <a:ext cx="3217484" cy="707886"/>
            </a:xfrm>
            <a:prstGeom prst="rect">
              <a:avLst/>
            </a:prstGeom>
            <a:noFill/>
          </p:spPr>
          <p:txBody>
            <a:bodyPr wrap="none" rtlCol="0">
              <a:spAutoFit/>
            </a:bodyPr>
            <a:lstStyle/>
            <a:p>
              <a:pPr algn="ctr"/>
              <a:r>
                <a:rPr lang="en-US" altLang="zh-CN" sz="4000" dirty="0">
                  <a:latin typeface="思源黑体 CN Heavy" panose="020B0A00000000000000" pitchFamily="34" charset="-122"/>
                  <a:ea typeface="思源黑体 CN Heavy" panose="020B0A00000000000000" pitchFamily="34" charset="-122"/>
                </a:rPr>
                <a:t>THANK YOU</a:t>
              </a:r>
              <a:endParaRPr lang="zh-CN" altLang="en-US" sz="4000" dirty="0">
                <a:latin typeface="思源黑体 CN Heavy" panose="020B0A00000000000000" pitchFamily="34" charset="-122"/>
                <a:ea typeface="思源黑体 CN Heavy" panose="020B0A00000000000000" pitchFamily="34" charset="-122"/>
              </a:endParaRPr>
            </a:p>
          </p:txBody>
        </p:sp>
        <p:sp>
          <p:nvSpPr>
            <p:cNvPr id="237" name="文本框 6"/>
            <p:cNvSpPr txBox="1"/>
            <p:nvPr/>
          </p:nvSpPr>
          <p:spPr>
            <a:xfrm>
              <a:off x="4602496" y="3505803"/>
              <a:ext cx="2961357" cy="584775"/>
            </a:xfrm>
            <a:prstGeom prst="rect">
              <a:avLst/>
            </a:prstGeom>
            <a:noFill/>
          </p:spPr>
          <p:txBody>
            <a:bodyPr wrap="square" rtlCol="0">
              <a:spAutoFit/>
            </a:bodyPr>
            <a:lstStyle/>
            <a:p>
              <a:pPr marL="0" indent="0" algn="ctr">
                <a:spcAft>
                  <a:spcPts val="1800"/>
                </a:spcAft>
                <a:buNone/>
              </a:pPr>
              <a:r>
                <a:rPr lang="en-US" altLang="zh-CN" sz="3200" dirty="0">
                  <a:latin typeface="思源黑体 CN Bold"/>
                  <a:ea typeface="思源黑体 CN Light" panose="020B0300000000000000"/>
                </a:rPr>
                <a:t>Any Questions?</a:t>
              </a:r>
              <a:endParaRPr lang="zh-CN" altLang="en-US" sz="3200" dirty="0">
                <a:latin typeface="思源黑体 CN Bold"/>
                <a:ea typeface="思源黑体 CN Light" panose="020B0300000000000000"/>
              </a:endParaRPr>
            </a:p>
          </p:txBody>
        </p:sp>
        <p:cxnSp>
          <p:nvCxnSpPr>
            <p:cNvPr id="238" name="直接连接符 7"/>
            <p:cNvCxnSpPr/>
            <p:nvPr/>
          </p:nvCxnSpPr>
          <p:spPr>
            <a:xfrm>
              <a:off x="4615322" y="2848154"/>
              <a:ext cx="2935705"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39" name="直接连接符 8"/>
            <p:cNvCxnSpPr/>
            <p:nvPr/>
          </p:nvCxnSpPr>
          <p:spPr>
            <a:xfrm>
              <a:off x="4615322" y="4078820"/>
              <a:ext cx="2935705"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240" name="组合 41"/>
          <p:cNvGrpSpPr/>
          <p:nvPr/>
        </p:nvGrpSpPr>
        <p:grpSpPr>
          <a:xfrm>
            <a:off x="4416858" y="2142309"/>
            <a:ext cx="3358284" cy="1139587"/>
            <a:chOff x="4677186" y="4980795"/>
            <a:chExt cx="2806521" cy="952354"/>
          </a:xfrm>
        </p:grpSpPr>
        <p:sp>
          <p:nvSpPr>
            <p:cNvPr id="241" name="任意多边形 26"/>
            <p:cNvSpPr/>
            <p:nvPr/>
          </p:nvSpPr>
          <p:spPr>
            <a:xfrm>
              <a:off x="5045798" y="4980795"/>
              <a:ext cx="999634" cy="952354"/>
            </a:xfrm>
            <a:custGeom>
              <a:avLst/>
              <a:gdLst/>
              <a:ahLst/>
              <a:cxnLst/>
              <a:rect l="l" t="t" r="r" b="b"/>
              <a:pathLst>
                <a:path w="999634" h="952354">
                  <a:moveTo>
                    <a:pt x="228709" y="0"/>
                  </a:moveTo>
                  <a:lnTo>
                    <a:pt x="434276" y="27689"/>
                  </a:lnTo>
                  <a:cubicBezTo>
                    <a:pt x="424722" y="51067"/>
                    <a:pt x="414714" y="74263"/>
                    <a:pt x="404250" y="97277"/>
                  </a:cubicBezTo>
                  <a:cubicBezTo>
                    <a:pt x="393787" y="120290"/>
                    <a:pt x="383414" y="142757"/>
                    <a:pt x="373132" y="164678"/>
                  </a:cubicBezTo>
                  <a:lnTo>
                    <a:pt x="512887" y="164678"/>
                  </a:lnTo>
                  <a:lnTo>
                    <a:pt x="512887" y="595955"/>
                  </a:lnTo>
                  <a:lnTo>
                    <a:pt x="651449" y="553693"/>
                  </a:lnTo>
                  <a:cubicBezTo>
                    <a:pt x="667645" y="590642"/>
                    <a:pt x="682656" y="629686"/>
                    <a:pt x="696482" y="670825"/>
                  </a:cubicBezTo>
                  <a:cubicBezTo>
                    <a:pt x="710307" y="711964"/>
                    <a:pt x="722036" y="752101"/>
                    <a:pt x="731668" y="791237"/>
                  </a:cubicBezTo>
                  <a:lnTo>
                    <a:pt x="731668" y="485198"/>
                  </a:lnTo>
                  <a:lnTo>
                    <a:pt x="539141" y="485198"/>
                  </a:lnTo>
                  <a:lnTo>
                    <a:pt x="539141" y="291374"/>
                  </a:lnTo>
                  <a:lnTo>
                    <a:pt x="731668" y="291374"/>
                  </a:lnTo>
                  <a:lnTo>
                    <a:pt x="731668" y="11568"/>
                  </a:lnTo>
                  <a:lnTo>
                    <a:pt x="922396" y="11568"/>
                  </a:lnTo>
                  <a:lnTo>
                    <a:pt x="922396" y="291374"/>
                  </a:lnTo>
                  <a:lnTo>
                    <a:pt x="999634" y="291374"/>
                  </a:lnTo>
                  <a:lnTo>
                    <a:pt x="999634" y="485198"/>
                  </a:lnTo>
                  <a:lnTo>
                    <a:pt x="922396" y="485198"/>
                  </a:lnTo>
                  <a:lnTo>
                    <a:pt x="922396" y="952354"/>
                  </a:lnTo>
                  <a:lnTo>
                    <a:pt x="731668" y="952354"/>
                  </a:lnTo>
                  <a:lnTo>
                    <a:pt x="731668" y="900474"/>
                  </a:lnTo>
                  <a:lnTo>
                    <a:pt x="591649" y="945631"/>
                  </a:lnTo>
                  <a:cubicBezTo>
                    <a:pt x="586908" y="903402"/>
                    <a:pt x="577428" y="853521"/>
                    <a:pt x="563207" y="795989"/>
                  </a:cubicBezTo>
                  <a:cubicBezTo>
                    <a:pt x="548986" y="738457"/>
                    <a:pt x="532213" y="681992"/>
                    <a:pt x="512887" y="626594"/>
                  </a:cubicBezTo>
                  <a:lnTo>
                    <a:pt x="512887" y="952354"/>
                  </a:lnTo>
                  <a:lnTo>
                    <a:pt x="177704" y="952354"/>
                  </a:lnTo>
                  <a:lnTo>
                    <a:pt x="190858" y="928134"/>
                  </a:lnTo>
                  <a:lnTo>
                    <a:pt x="0" y="928134"/>
                  </a:lnTo>
                  <a:lnTo>
                    <a:pt x="0" y="756352"/>
                  </a:lnTo>
                  <a:lnTo>
                    <a:pt x="59841" y="756352"/>
                  </a:lnTo>
                  <a:lnTo>
                    <a:pt x="59841" y="164678"/>
                  </a:lnTo>
                  <a:lnTo>
                    <a:pt x="193770" y="164678"/>
                  </a:lnTo>
                  <a:cubicBezTo>
                    <a:pt x="201776" y="135956"/>
                    <a:pt x="208691" y="107417"/>
                    <a:pt x="214514" y="79060"/>
                  </a:cubicBezTo>
                  <a:cubicBezTo>
                    <a:pt x="220338" y="50703"/>
                    <a:pt x="225069" y="24350"/>
                    <a:pt x="228709" y="0"/>
                  </a:cubicBezTo>
                  <a:close/>
                  <a:moveTo>
                    <a:pt x="228709" y="326259"/>
                  </a:moveTo>
                  <a:lnTo>
                    <a:pt x="228709" y="371618"/>
                  </a:lnTo>
                  <a:lnTo>
                    <a:pt x="341105" y="371618"/>
                  </a:lnTo>
                  <a:lnTo>
                    <a:pt x="341105" y="326259"/>
                  </a:lnTo>
                  <a:lnTo>
                    <a:pt x="228709" y="326259"/>
                  </a:lnTo>
                  <a:close/>
                  <a:moveTo>
                    <a:pt x="228709" y="514254"/>
                  </a:moveTo>
                  <a:lnTo>
                    <a:pt x="228709" y="561070"/>
                  </a:lnTo>
                  <a:lnTo>
                    <a:pt x="341105" y="561070"/>
                  </a:lnTo>
                  <a:lnTo>
                    <a:pt x="341105" y="514254"/>
                  </a:lnTo>
                  <a:lnTo>
                    <a:pt x="228709" y="514254"/>
                  </a:lnTo>
                  <a:close/>
                  <a:moveTo>
                    <a:pt x="228709" y="703706"/>
                  </a:moveTo>
                  <a:lnTo>
                    <a:pt x="228709" y="756352"/>
                  </a:lnTo>
                  <a:lnTo>
                    <a:pt x="341105" y="756352"/>
                  </a:lnTo>
                  <a:lnTo>
                    <a:pt x="341105" y="703706"/>
                  </a:lnTo>
                  <a:lnTo>
                    <a:pt x="228709" y="703706"/>
                  </a:ln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2" name="任意多边形 25"/>
            <p:cNvSpPr/>
            <p:nvPr/>
          </p:nvSpPr>
          <p:spPr>
            <a:xfrm>
              <a:off x="6484073" y="4980795"/>
              <a:ext cx="999634" cy="952354"/>
            </a:xfrm>
            <a:custGeom>
              <a:avLst/>
              <a:gdLst/>
              <a:ahLst/>
              <a:cxnLst/>
              <a:rect l="l" t="t" r="r" b="b"/>
              <a:pathLst>
                <a:path w="999634" h="952354">
                  <a:moveTo>
                    <a:pt x="228709" y="0"/>
                  </a:moveTo>
                  <a:lnTo>
                    <a:pt x="434276" y="27689"/>
                  </a:lnTo>
                  <a:cubicBezTo>
                    <a:pt x="424722" y="51067"/>
                    <a:pt x="414713" y="74263"/>
                    <a:pt x="404250" y="97277"/>
                  </a:cubicBezTo>
                  <a:cubicBezTo>
                    <a:pt x="393786" y="120290"/>
                    <a:pt x="383414" y="142757"/>
                    <a:pt x="373132" y="164678"/>
                  </a:cubicBezTo>
                  <a:lnTo>
                    <a:pt x="512887" y="164678"/>
                  </a:lnTo>
                  <a:lnTo>
                    <a:pt x="512887" y="595955"/>
                  </a:lnTo>
                  <a:lnTo>
                    <a:pt x="651449" y="553693"/>
                  </a:lnTo>
                  <a:cubicBezTo>
                    <a:pt x="667645" y="590642"/>
                    <a:pt x="682656" y="629686"/>
                    <a:pt x="696482" y="670825"/>
                  </a:cubicBezTo>
                  <a:cubicBezTo>
                    <a:pt x="710307" y="711964"/>
                    <a:pt x="722036" y="752101"/>
                    <a:pt x="731668" y="791237"/>
                  </a:cubicBezTo>
                  <a:lnTo>
                    <a:pt x="731668" y="485198"/>
                  </a:lnTo>
                  <a:lnTo>
                    <a:pt x="539141" y="485198"/>
                  </a:lnTo>
                  <a:lnTo>
                    <a:pt x="539141" y="291374"/>
                  </a:lnTo>
                  <a:lnTo>
                    <a:pt x="731668" y="291374"/>
                  </a:lnTo>
                  <a:lnTo>
                    <a:pt x="731668" y="11568"/>
                  </a:lnTo>
                  <a:lnTo>
                    <a:pt x="922395" y="11568"/>
                  </a:lnTo>
                  <a:lnTo>
                    <a:pt x="922395" y="291374"/>
                  </a:lnTo>
                  <a:lnTo>
                    <a:pt x="999634" y="291374"/>
                  </a:lnTo>
                  <a:lnTo>
                    <a:pt x="999634" y="485198"/>
                  </a:lnTo>
                  <a:lnTo>
                    <a:pt x="922395" y="485198"/>
                  </a:lnTo>
                  <a:lnTo>
                    <a:pt x="922395" y="952354"/>
                  </a:lnTo>
                  <a:lnTo>
                    <a:pt x="731668" y="952354"/>
                  </a:lnTo>
                  <a:lnTo>
                    <a:pt x="731668" y="900474"/>
                  </a:lnTo>
                  <a:lnTo>
                    <a:pt x="591649" y="945631"/>
                  </a:lnTo>
                  <a:cubicBezTo>
                    <a:pt x="586909" y="903402"/>
                    <a:pt x="577428" y="853521"/>
                    <a:pt x="563207" y="795989"/>
                  </a:cubicBezTo>
                  <a:cubicBezTo>
                    <a:pt x="548986" y="738457"/>
                    <a:pt x="532213" y="681992"/>
                    <a:pt x="512887" y="626594"/>
                  </a:cubicBezTo>
                  <a:lnTo>
                    <a:pt x="512887" y="952354"/>
                  </a:lnTo>
                  <a:lnTo>
                    <a:pt x="177704" y="952354"/>
                  </a:lnTo>
                  <a:lnTo>
                    <a:pt x="190858" y="928134"/>
                  </a:lnTo>
                  <a:lnTo>
                    <a:pt x="0" y="928134"/>
                  </a:lnTo>
                  <a:lnTo>
                    <a:pt x="0" y="756352"/>
                  </a:lnTo>
                  <a:lnTo>
                    <a:pt x="59841" y="756352"/>
                  </a:lnTo>
                  <a:lnTo>
                    <a:pt x="59841" y="164678"/>
                  </a:lnTo>
                  <a:lnTo>
                    <a:pt x="193770" y="164678"/>
                  </a:lnTo>
                  <a:cubicBezTo>
                    <a:pt x="201777" y="135956"/>
                    <a:pt x="208691" y="107417"/>
                    <a:pt x="214514" y="79060"/>
                  </a:cubicBezTo>
                  <a:cubicBezTo>
                    <a:pt x="220337" y="50703"/>
                    <a:pt x="225069" y="24350"/>
                    <a:pt x="228709" y="0"/>
                  </a:cubicBezTo>
                  <a:close/>
                  <a:moveTo>
                    <a:pt x="228709" y="326259"/>
                  </a:moveTo>
                  <a:lnTo>
                    <a:pt x="228709" y="371618"/>
                  </a:lnTo>
                  <a:lnTo>
                    <a:pt x="341105" y="371618"/>
                  </a:lnTo>
                  <a:lnTo>
                    <a:pt x="341105" y="326259"/>
                  </a:lnTo>
                  <a:lnTo>
                    <a:pt x="228709" y="326259"/>
                  </a:lnTo>
                  <a:close/>
                  <a:moveTo>
                    <a:pt x="228709" y="514254"/>
                  </a:moveTo>
                  <a:lnTo>
                    <a:pt x="228709" y="561070"/>
                  </a:lnTo>
                  <a:lnTo>
                    <a:pt x="341105" y="561070"/>
                  </a:lnTo>
                  <a:lnTo>
                    <a:pt x="341105" y="514254"/>
                  </a:lnTo>
                  <a:lnTo>
                    <a:pt x="228709" y="514254"/>
                  </a:lnTo>
                  <a:close/>
                  <a:moveTo>
                    <a:pt x="228709" y="703706"/>
                  </a:moveTo>
                  <a:lnTo>
                    <a:pt x="228709" y="756352"/>
                  </a:lnTo>
                  <a:lnTo>
                    <a:pt x="341105" y="756352"/>
                  </a:lnTo>
                  <a:lnTo>
                    <a:pt x="341105" y="703706"/>
                  </a:lnTo>
                  <a:lnTo>
                    <a:pt x="228709" y="703706"/>
                  </a:ln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3" name="任意多边形 24"/>
            <p:cNvSpPr/>
            <p:nvPr/>
          </p:nvSpPr>
          <p:spPr>
            <a:xfrm>
              <a:off x="4716535" y="4990905"/>
              <a:ext cx="351145" cy="375990"/>
            </a:xfrm>
            <a:custGeom>
              <a:avLst/>
              <a:gdLst/>
              <a:ahLst/>
              <a:cxnLst/>
              <a:rect l="l" t="t" r="r" b="b"/>
              <a:pathLst>
                <a:path w="351145" h="375990">
                  <a:moveTo>
                    <a:pt x="138396" y="0"/>
                  </a:moveTo>
                  <a:cubicBezTo>
                    <a:pt x="175734" y="39287"/>
                    <a:pt x="214638" y="82036"/>
                    <a:pt x="255106" y="128245"/>
                  </a:cubicBezTo>
                  <a:cubicBezTo>
                    <a:pt x="295574" y="174454"/>
                    <a:pt x="327587" y="215745"/>
                    <a:pt x="351145" y="252118"/>
                  </a:cubicBezTo>
                  <a:lnTo>
                    <a:pt x="202453" y="375990"/>
                  </a:lnTo>
                  <a:cubicBezTo>
                    <a:pt x="181283" y="338737"/>
                    <a:pt x="151554" y="295564"/>
                    <a:pt x="113264" y="246470"/>
                  </a:cubicBezTo>
                  <a:cubicBezTo>
                    <a:pt x="74975" y="197377"/>
                    <a:pt x="37220" y="151653"/>
                    <a:pt x="0" y="109300"/>
                  </a:cubicBezTo>
                  <a:lnTo>
                    <a:pt x="138396" y="0"/>
                  </a:ln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4" name="任意多边形 23"/>
            <p:cNvSpPr/>
            <p:nvPr/>
          </p:nvSpPr>
          <p:spPr>
            <a:xfrm>
              <a:off x="6154808" y="4990905"/>
              <a:ext cx="351146" cy="375990"/>
            </a:xfrm>
            <a:custGeom>
              <a:avLst/>
              <a:gdLst/>
              <a:ahLst/>
              <a:cxnLst/>
              <a:rect l="l" t="t" r="r" b="b"/>
              <a:pathLst>
                <a:path w="351146" h="375990">
                  <a:moveTo>
                    <a:pt x="138397" y="0"/>
                  </a:moveTo>
                  <a:cubicBezTo>
                    <a:pt x="175735" y="39287"/>
                    <a:pt x="214639" y="82036"/>
                    <a:pt x="255107" y="128245"/>
                  </a:cubicBezTo>
                  <a:cubicBezTo>
                    <a:pt x="295575" y="174454"/>
                    <a:pt x="327588" y="215745"/>
                    <a:pt x="351146" y="252118"/>
                  </a:cubicBezTo>
                  <a:lnTo>
                    <a:pt x="202454" y="375990"/>
                  </a:lnTo>
                  <a:cubicBezTo>
                    <a:pt x="181284" y="338737"/>
                    <a:pt x="151555" y="295564"/>
                    <a:pt x="113265" y="246470"/>
                  </a:cubicBezTo>
                  <a:cubicBezTo>
                    <a:pt x="74976" y="197377"/>
                    <a:pt x="37221" y="151653"/>
                    <a:pt x="0" y="109300"/>
                  </a:cubicBezTo>
                  <a:lnTo>
                    <a:pt x="138397" y="0"/>
                  </a:ln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5" name="任意多边形 22"/>
            <p:cNvSpPr/>
            <p:nvPr/>
          </p:nvSpPr>
          <p:spPr>
            <a:xfrm>
              <a:off x="4677186" y="5426645"/>
              <a:ext cx="310228" cy="506504"/>
            </a:xfrm>
            <a:custGeom>
              <a:avLst/>
              <a:gdLst/>
              <a:ahLst/>
              <a:cxnLst/>
              <a:rect l="l" t="t" r="r" b="b"/>
              <a:pathLst>
                <a:path w="310228" h="506504">
                  <a:moveTo>
                    <a:pt x="0" y="0"/>
                  </a:moveTo>
                  <a:lnTo>
                    <a:pt x="310228" y="0"/>
                  </a:lnTo>
                  <a:lnTo>
                    <a:pt x="310228" y="506504"/>
                  </a:lnTo>
                  <a:lnTo>
                    <a:pt x="128244" y="506504"/>
                  </a:lnTo>
                  <a:lnTo>
                    <a:pt x="128244" y="202569"/>
                  </a:lnTo>
                  <a:lnTo>
                    <a:pt x="0" y="202569"/>
                  </a:lnTo>
                  <a:lnTo>
                    <a:pt x="0" y="0"/>
                  </a:ln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6" name="任意多边形 21"/>
            <p:cNvSpPr/>
            <p:nvPr/>
          </p:nvSpPr>
          <p:spPr>
            <a:xfrm>
              <a:off x="6115461" y="5426645"/>
              <a:ext cx="310228" cy="506504"/>
            </a:xfrm>
            <a:custGeom>
              <a:avLst/>
              <a:gdLst/>
              <a:ahLst/>
              <a:cxnLst/>
              <a:rect l="l" t="t" r="r" b="b"/>
              <a:pathLst>
                <a:path w="310228" h="506504">
                  <a:moveTo>
                    <a:pt x="0" y="0"/>
                  </a:moveTo>
                  <a:lnTo>
                    <a:pt x="310228" y="0"/>
                  </a:lnTo>
                  <a:lnTo>
                    <a:pt x="310228" y="506504"/>
                  </a:lnTo>
                  <a:lnTo>
                    <a:pt x="128244" y="506504"/>
                  </a:lnTo>
                  <a:lnTo>
                    <a:pt x="128244" y="202569"/>
                  </a:lnTo>
                  <a:lnTo>
                    <a:pt x="0" y="202569"/>
                  </a:lnTo>
                  <a:lnTo>
                    <a:pt x="0" y="0"/>
                  </a:ln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47" name="图片 14" descr="图片包含 户外, 标牌  自动生成的说明"/>
          <p:cNvPicPr>
            <a:picLocks noChangeAspect="1"/>
          </p:cNvPicPr>
          <p:nvPr/>
        </p:nvPicPr>
        <p:blipFill rotWithShape="1">
          <a:blip r:embed="rId4" cstate="print">
            <a:duotone>
              <a:schemeClr val="bg2">
                <a:shade val="45000"/>
                <a:satMod val="135000"/>
              </a:schemeClr>
              <a:prstClr val="white"/>
            </a:duotone>
          </a:blip>
          <a:srcRect l="63268" r="-1"/>
          <a:stretch/>
        </p:blipFill>
        <p:spPr>
          <a:xfrm>
            <a:off x="0" y="0"/>
            <a:ext cx="2514644" cy="6833630"/>
          </a:xfrm>
          <a:prstGeom prst="rect">
            <a:avLst/>
          </a:prstGeom>
        </p:spPr>
      </p:pic>
      <p:pic>
        <p:nvPicPr>
          <p:cNvPr id="248" name="图片 15" descr="图片包含 户外, 标牌  自动生成的说明"/>
          <p:cNvPicPr>
            <a:picLocks noChangeAspect="1"/>
          </p:cNvPicPr>
          <p:nvPr/>
        </p:nvPicPr>
        <p:blipFill rotWithShape="1">
          <a:blip r:embed="rId4" cstate="print">
            <a:duotone>
              <a:schemeClr val="bg2">
                <a:shade val="45000"/>
                <a:satMod val="135000"/>
              </a:schemeClr>
              <a:prstClr val="white"/>
            </a:duotone>
          </a:blip>
          <a:srcRect r="61722"/>
          <a:stretch/>
        </p:blipFill>
        <p:spPr>
          <a:xfrm>
            <a:off x="9571538" y="12185"/>
            <a:ext cx="2620462" cy="68336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0"/>
                                        </p:tgtEl>
                                        <p:attrNameLst>
                                          <p:attrName>style.visibility</p:attrName>
                                        </p:attrNameLst>
                                      </p:cBhvr>
                                      <p:to>
                                        <p:strVal val="visible"/>
                                      </p:to>
                                    </p:set>
                                    <p:anim calcmode="lin" valueType="num">
                                      <p:cBhvr additive="base">
                                        <p:cTn id="7" dur="500" fill="hold"/>
                                        <p:tgtEl>
                                          <p:spTgt spid="240"/>
                                        </p:tgtEl>
                                        <p:attrNameLst>
                                          <p:attrName>ppt_x</p:attrName>
                                        </p:attrNameLst>
                                      </p:cBhvr>
                                      <p:tavLst>
                                        <p:tav tm="0">
                                          <p:val>
                                            <p:strVal val="#ppt_x"/>
                                          </p:val>
                                        </p:tav>
                                        <p:tav tm="100000">
                                          <p:val>
                                            <p:strVal val="#ppt_x"/>
                                          </p:val>
                                        </p:tav>
                                      </p:tavLst>
                                    </p:anim>
                                    <p:anim calcmode="lin" valueType="num">
                                      <p:cBhvr additive="base">
                                        <p:cTn id="8" dur="500" fill="hold"/>
                                        <p:tgtEl>
                                          <p:spTgt spid="24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35"/>
                                        </p:tgtEl>
                                        <p:attrNameLst>
                                          <p:attrName>style.visibility</p:attrName>
                                        </p:attrNameLst>
                                      </p:cBhvr>
                                      <p:to>
                                        <p:strVal val="visible"/>
                                      </p:to>
                                    </p:set>
                                    <p:anim calcmode="lin" valueType="num">
                                      <p:cBhvr additive="base">
                                        <p:cTn id="13" dur="500" fill="hold"/>
                                        <p:tgtEl>
                                          <p:spTgt spid="235"/>
                                        </p:tgtEl>
                                        <p:attrNameLst>
                                          <p:attrName>ppt_x</p:attrName>
                                        </p:attrNameLst>
                                      </p:cBhvr>
                                      <p:tavLst>
                                        <p:tav tm="0">
                                          <p:val>
                                            <p:strVal val="#ppt_x"/>
                                          </p:val>
                                        </p:tav>
                                        <p:tav tm="100000">
                                          <p:val>
                                            <p:strVal val="#ppt_x"/>
                                          </p:val>
                                        </p:tav>
                                      </p:tavLst>
                                    </p:anim>
                                    <p:anim calcmode="lin" valueType="num">
                                      <p:cBhvr additive="base">
                                        <p:cTn id="14" dur="500" fill="hold"/>
                                        <p:tgtEl>
                                          <p:spTgt spid="2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2185</Words>
  <Application>Microsoft Office PowerPoint</Application>
  <PresentationFormat>宽屏</PresentationFormat>
  <Paragraphs>219</Paragraphs>
  <Slides>33</Slides>
  <Notes>33</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33</vt:i4>
      </vt:variant>
    </vt:vector>
  </HeadingPairs>
  <TitlesOfParts>
    <vt:vector size="46" baseType="lpstr">
      <vt:lpstr>等线</vt:lpstr>
      <vt:lpstr>思源黑体 CN Bold</vt:lpstr>
      <vt:lpstr>思源黑体 CN Heavy</vt:lpstr>
      <vt:lpstr>思源黑体 CN Light</vt:lpstr>
      <vt:lpstr>微软雅黑</vt:lpstr>
      <vt:lpstr>Arial</vt:lpstr>
      <vt:lpstr>Calibri</vt:lpstr>
      <vt:lpstr>Calibri Light</vt:lpstr>
      <vt:lpstr>Times New Roman</vt:lpstr>
      <vt:lpstr>Wingdings</vt:lpstr>
      <vt:lpstr>Office 主题</vt:lpstr>
      <vt:lpstr>WPS</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bo li</cp:lastModifiedBy>
  <cp:revision>2</cp:revision>
  <dcterms:created xsi:type="dcterms:W3CDTF">2024-05-14T21:00:08Z</dcterms:created>
  <dcterms:modified xsi:type="dcterms:W3CDTF">2024-05-14T13:47:32Z</dcterms:modified>
</cp:coreProperties>
</file>